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Lst>
  <p:sldSz cy="5143500" cx="9144000"/>
  <p:notesSz cx="5143500" cy="9144000"/>
  <p:embeddedFontLst>
    <p:embeddedFont>
      <p:font typeface="Gill Sans"/>
      <p:regular r:id="rId20"/>
      <p:bold r:id="rId2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2" roundtripDataSignature="AMtx7mhexCB6fHtD1ly8xH8WtBTN2yDhj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font" Target="fonts/GillSans-regular.fntdata"/><Relationship Id="rId11" Type="http://schemas.openxmlformats.org/officeDocument/2006/relationships/slide" Target="slides/slide7.xml"/><Relationship Id="rId22" Type="http://customschemas.google.com/relationships/presentationmetadata" Target="metadata"/><Relationship Id="rId10" Type="http://schemas.openxmlformats.org/officeDocument/2006/relationships/slide" Target="slides/slide6.xml"/><Relationship Id="rId21" Type="http://schemas.openxmlformats.org/officeDocument/2006/relationships/font" Target="fonts/GillSans-bold.fntdata"/><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5" Type="http://schemas.openxmlformats.org/officeDocument/2006/relationships/slide" Target="slides/slide1.xml"/><Relationship Id="rId19" Type="http://schemas.openxmlformats.org/officeDocument/2006/relationships/slide" Target="slides/slide15.xml"/><Relationship Id="rId6" Type="http://schemas.openxmlformats.org/officeDocument/2006/relationships/slide" Target="slides/slide2.xml"/><Relationship Id="rId18" Type="http://schemas.openxmlformats.org/officeDocument/2006/relationships/slide" Target="slides/slide14.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857400" y="685800"/>
            <a:ext cx="342915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514350" y="4343400"/>
            <a:ext cx="41148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 name="Shape 7"/>
        <p:cNvGrpSpPr/>
        <p:nvPr/>
      </p:nvGrpSpPr>
      <p:grpSpPr>
        <a:xfrm>
          <a:off x="0" y="0"/>
          <a:ext cx="0" cy="0"/>
          <a:chOff x="0" y="0"/>
          <a:chExt cx="0" cy="0"/>
        </a:xfrm>
      </p:grpSpPr>
      <p:sp>
        <p:nvSpPr>
          <p:cNvPr id="8" name="Google Shape;8;p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 name="Google Shape;9;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t/>
            </a:r>
            <a:endParaRPr sz="1200">
              <a:solidFill>
                <a:schemeClr val="dk1"/>
              </a:solidFill>
              <a:latin typeface="Arial"/>
              <a:ea typeface="Arial"/>
              <a:cs typeface="Arial"/>
              <a:sym typeface="Arial"/>
            </a:endParaRPr>
          </a:p>
        </p:txBody>
      </p:sp>
      <p:sp>
        <p:nvSpPr>
          <p:cNvPr id="10" name="Google Shape;10;p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chemeClr val="dk1"/>
                </a:solidFill>
                <a:latin typeface="Arial"/>
                <a:ea typeface="Arial"/>
                <a:cs typeface="Arial"/>
                <a:sym typeface="Arial"/>
              </a:rPr>
              <a:t>‹#›</a:t>
            </a:fld>
            <a:endParaRPr b="0" i="0" sz="1800" u="none" cap="none" strike="noStrike">
              <a:solidFill>
                <a:schemeClr val="dk1"/>
              </a:solidFill>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 name="Shape 14"/>
        <p:cNvGrpSpPr/>
        <p:nvPr/>
      </p:nvGrpSpPr>
      <p:grpSpPr>
        <a:xfrm>
          <a:off x="0" y="0"/>
          <a:ext cx="0" cy="0"/>
          <a:chOff x="0" y="0"/>
          <a:chExt cx="0" cy="0"/>
        </a:xfrm>
      </p:grpSpPr>
      <p:sp>
        <p:nvSpPr>
          <p:cNvPr id="15" name="Google Shape;15;p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 name="Google Shape;16;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t/>
            </a:r>
            <a:endParaRPr sz="1200">
              <a:solidFill>
                <a:schemeClr val="dk1"/>
              </a:solidFill>
              <a:latin typeface="Arial"/>
              <a:ea typeface="Arial"/>
              <a:cs typeface="Arial"/>
              <a:sym typeface="Arial"/>
            </a:endParaRPr>
          </a:p>
        </p:txBody>
      </p:sp>
      <p:sp>
        <p:nvSpPr>
          <p:cNvPr id="17" name="Google Shape;17;p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chemeClr val="dk1"/>
                </a:solidFill>
                <a:latin typeface="Arial"/>
                <a:ea typeface="Arial"/>
                <a:cs typeface="Arial"/>
                <a:sym typeface="Arial"/>
              </a:rPr>
              <a:t>‹#›</a:t>
            </a:fld>
            <a:endParaRPr b="0" i="0" sz="1800" u="none" cap="none" strike="noStrike">
              <a:solidFill>
                <a:schemeClr val="dk1"/>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 name="Shape 37"/>
        <p:cNvGrpSpPr/>
        <p:nvPr/>
      </p:nvGrpSpPr>
      <p:grpSpPr>
        <a:xfrm>
          <a:off x="0" y="0"/>
          <a:ext cx="0" cy="0"/>
          <a:chOff x="0" y="0"/>
          <a:chExt cx="0" cy="0"/>
        </a:xfrm>
      </p:grpSpPr>
      <p:sp>
        <p:nvSpPr>
          <p:cNvPr id="38" name="Google Shape;38;p3:notes"/>
          <p:cNvSpPr/>
          <p:nvPr>
            <p:ph idx="2" type="sldImg"/>
          </p:nvPr>
        </p:nvSpPr>
        <p:spPr>
          <a:xfrm>
            <a:off x="-1166813" y="0"/>
            <a:ext cx="5334001" cy="30003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39" name="Google Shape;39;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t/>
            </a:r>
            <a:endParaRPr sz="1200">
              <a:solidFill>
                <a:schemeClr val="dk1"/>
              </a:solidFill>
              <a:latin typeface="Arial"/>
              <a:ea typeface="Arial"/>
              <a:cs typeface="Arial"/>
              <a:sym typeface="Arial"/>
            </a:endParaRPr>
          </a:p>
        </p:txBody>
      </p:sp>
      <p:sp>
        <p:nvSpPr>
          <p:cNvPr id="40" name="Google Shape;40;p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chemeClr val="dk1"/>
                </a:solidFill>
                <a:latin typeface="Arial"/>
                <a:ea typeface="Arial"/>
                <a:cs typeface="Arial"/>
                <a:sym typeface="Arial"/>
              </a:rPr>
              <a:t>‹#›</a:t>
            </a:fld>
            <a:endParaRPr b="0" i="0" sz="1800" u="none" cap="none" strike="noStrike">
              <a:solidFill>
                <a:schemeClr val="dk1"/>
              </a:solidFill>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p4:notes"/>
          <p:cNvSpPr/>
          <p:nvPr>
            <p:ph idx="2" type="sldImg"/>
          </p:nvPr>
        </p:nvSpPr>
        <p:spPr>
          <a:xfrm>
            <a:off x="-1166813" y="0"/>
            <a:ext cx="5334001" cy="30003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95" name="Google Shape;95;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t/>
            </a:r>
            <a:endParaRPr sz="1200">
              <a:solidFill>
                <a:schemeClr val="dk1"/>
              </a:solidFill>
              <a:latin typeface="Arial"/>
              <a:ea typeface="Arial"/>
              <a:cs typeface="Arial"/>
              <a:sym typeface="Arial"/>
            </a:endParaRPr>
          </a:p>
        </p:txBody>
      </p:sp>
      <p:sp>
        <p:nvSpPr>
          <p:cNvPr id="96" name="Google Shape;96;p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chemeClr val="dk1"/>
                </a:solidFill>
                <a:latin typeface="Arial"/>
                <a:ea typeface="Arial"/>
                <a:cs typeface="Arial"/>
                <a:sym typeface="Arial"/>
              </a:rPr>
              <a:t>‹#›</a:t>
            </a:fld>
            <a:endParaRPr b="0" i="0" sz="1800" u="none" cap="none" strike="noStrike">
              <a:solidFill>
                <a:schemeClr val="dk1"/>
              </a:solidFill>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5" name="Google Shape;145;p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t/>
            </a:r>
            <a:endParaRPr sz="1200">
              <a:solidFill>
                <a:schemeClr val="dk1"/>
              </a:solidFill>
              <a:latin typeface="Arial"/>
              <a:ea typeface="Arial"/>
              <a:cs typeface="Arial"/>
              <a:sym typeface="Arial"/>
            </a:endParaRPr>
          </a:p>
        </p:txBody>
      </p:sp>
      <p:sp>
        <p:nvSpPr>
          <p:cNvPr id="146" name="Google Shape;146;p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chemeClr val="dk1"/>
                </a:solidFill>
                <a:latin typeface="Arial"/>
                <a:ea typeface="Arial"/>
                <a:cs typeface="Arial"/>
                <a:sym typeface="Arial"/>
              </a:rPr>
              <a:t>‹#›</a:t>
            </a:fld>
            <a:endParaRPr b="0" i="0" sz="1800" u="none" cap="none" strike="noStrike">
              <a:solidFill>
                <a:schemeClr val="dk1"/>
              </a:solidFill>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p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8" name="Google Shape;208;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t/>
            </a:r>
            <a:endParaRPr sz="1200">
              <a:solidFill>
                <a:schemeClr val="dk1"/>
              </a:solidFill>
              <a:latin typeface="Arial"/>
              <a:ea typeface="Arial"/>
              <a:cs typeface="Arial"/>
              <a:sym typeface="Arial"/>
            </a:endParaRPr>
          </a:p>
        </p:txBody>
      </p:sp>
      <p:sp>
        <p:nvSpPr>
          <p:cNvPr id="209" name="Google Shape;209;p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chemeClr val="dk1"/>
                </a:solidFill>
                <a:latin typeface="Arial"/>
                <a:ea typeface="Arial"/>
                <a:cs typeface="Arial"/>
                <a:sym typeface="Arial"/>
              </a:rPr>
              <a:t>‹#›</a:t>
            </a:fld>
            <a:endParaRPr b="0" i="0" sz="1800" u="none" cap="none" strike="noStrike">
              <a:solidFill>
                <a:schemeClr val="dk1"/>
              </a:solidFill>
              <a:latin typeface="Arial"/>
              <a:ea typeface="Arial"/>
              <a:cs typeface="Arial"/>
              <a:sym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p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71" name="Google Shape;271;p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t/>
            </a:r>
            <a:endParaRPr sz="1200">
              <a:solidFill>
                <a:schemeClr val="dk1"/>
              </a:solidFill>
              <a:latin typeface="Arial"/>
              <a:ea typeface="Arial"/>
              <a:cs typeface="Arial"/>
              <a:sym typeface="Arial"/>
            </a:endParaRPr>
          </a:p>
        </p:txBody>
      </p:sp>
      <p:sp>
        <p:nvSpPr>
          <p:cNvPr id="272" name="Google Shape;272;p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chemeClr val="dk1"/>
                </a:solidFill>
                <a:latin typeface="Arial"/>
                <a:ea typeface="Arial"/>
                <a:cs typeface="Arial"/>
                <a:sym typeface="Arial"/>
              </a:rPr>
              <a:t>‹#›</a:t>
            </a:fld>
            <a:endParaRPr b="0" i="0" sz="1800" u="none" cap="none" strike="noStrike">
              <a:solidFill>
                <a:schemeClr val="dk1"/>
              </a:solidFill>
              <a:latin typeface="Arial"/>
              <a:ea typeface="Arial"/>
              <a:cs typeface="Arial"/>
              <a:sym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p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24" name="Google Shape;324;p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t/>
            </a:r>
            <a:endParaRPr sz="1200">
              <a:solidFill>
                <a:schemeClr val="dk1"/>
              </a:solidFill>
              <a:latin typeface="Arial"/>
              <a:ea typeface="Arial"/>
              <a:cs typeface="Arial"/>
              <a:sym typeface="Arial"/>
            </a:endParaRPr>
          </a:p>
        </p:txBody>
      </p:sp>
      <p:sp>
        <p:nvSpPr>
          <p:cNvPr id="325" name="Google Shape;325;p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chemeClr val="dk1"/>
                </a:solidFill>
                <a:latin typeface="Arial"/>
                <a:ea typeface="Arial"/>
                <a:cs typeface="Arial"/>
                <a:sym typeface="Arial"/>
              </a:rPr>
              <a:t>‹#›</a:t>
            </a:fld>
            <a:endParaRPr b="0" i="0" sz="1800" u="none" cap="none" strike="noStrike">
              <a:solidFill>
                <a:schemeClr val="dk1"/>
              </a:solidFill>
              <a:latin typeface="Arial"/>
              <a:ea typeface="Arial"/>
              <a:cs typeface="Arial"/>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5" name="Shape 415"/>
        <p:cNvGrpSpPr/>
        <p:nvPr/>
      </p:nvGrpSpPr>
      <p:grpSpPr>
        <a:xfrm>
          <a:off x="0" y="0"/>
          <a:ext cx="0" cy="0"/>
          <a:chOff x="0" y="0"/>
          <a:chExt cx="0" cy="0"/>
        </a:xfrm>
      </p:grpSpPr>
      <p:sp>
        <p:nvSpPr>
          <p:cNvPr id="416" name="Google Shape;416;p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17" name="Google Shape;417;p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t/>
            </a:r>
            <a:endParaRPr sz="1200">
              <a:solidFill>
                <a:schemeClr val="dk1"/>
              </a:solidFill>
              <a:latin typeface="Arial"/>
              <a:ea typeface="Arial"/>
              <a:cs typeface="Arial"/>
              <a:sym typeface="Arial"/>
            </a:endParaRPr>
          </a:p>
        </p:txBody>
      </p:sp>
      <p:sp>
        <p:nvSpPr>
          <p:cNvPr id="418" name="Google Shape;418;p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chemeClr val="dk1"/>
                </a:solidFill>
                <a:latin typeface="Arial"/>
                <a:ea typeface="Arial"/>
                <a:cs typeface="Arial"/>
                <a:sym typeface="Arial"/>
              </a:rPr>
              <a:t>‹#›</a:t>
            </a:fld>
            <a:endParaRPr b="0" i="0" sz="1800" u="none" cap="none" strike="noStrike">
              <a:solidFill>
                <a:schemeClr val="dk1"/>
              </a:solidFill>
              <a:latin typeface="Arial"/>
              <a:ea typeface="Arial"/>
              <a:cs typeface="Arial"/>
              <a:sym typeface="Aria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0" name="Shape 480"/>
        <p:cNvGrpSpPr/>
        <p:nvPr/>
      </p:nvGrpSpPr>
      <p:grpSpPr>
        <a:xfrm>
          <a:off x="0" y="0"/>
          <a:ext cx="0" cy="0"/>
          <a:chOff x="0" y="0"/>
          <a:chExt cx="0" cy="0"/>
        </a:xfrm>
      </p:grpSpPr>
      <p:sp>
        <p:nvSpPr>
          <p:cNvPr id="481" name="Google Shape;481;p1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82" name="Google Shape;482;p1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t/>
            </a:r>
            <a:endParaRPr sz="1200">
              <a:solidFill>
                <a:schemeClr val="dk1"/>
              </a:solidFill>
              <a:latin typeface="Arial"/>
              <a:ea typeface="Arial"/>
              <a:cs typeface="Arial"/>
              <a:sym typeface="Arial"/>
            </a:endParaRPr>
          </a:p>
        </p:txBody>
      </p:sp>
      <p:sp>
        <p:nvSpPr>
          <p:cNvPr id="483" name="Google Shape;483;p1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chemeClr val="dk1"/>
                </a:solidFill>
                <a:latin typeface="Arial"/>
                <a:ea typeface="Arial"/>
                <a:cs typeface="Arial"/>
                <a:sym typeface="Arial"/>
              </a:rPr>
              <a:t>‹#›</a:t>
            </a:fld>
            <a:endParaRPr b="0" i="0" sz="1800" u="none" cap="none" strike="noStrike">
              <a:solidFill>
                <a:schemeClr val="dk1"/>
              </a:solidFill>
              <a:latin typeface="Arial"/>
              <a:ea typeface="Arial"/>
              <a:cs typeface="Arial"/>
              <a:sym typeface="Aria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6" name="Shape 566"/>
        <p:cNvGrpSpPr/>
        <p:nvPr/>
      </p:nvGrpSpPr>
      <p:grpSpPr>
        <a:xfrm>
          <a:off x="0" y="0"/>
          <a:ext cx="0" cy="0"/>
          <a:chOff x="0" y="0"/>
          <a:chExt cx="0" cy="0"/>
        </a:xfrm>
      </p:grpSpPr>
      <p:sp>
        <p:nvSpPr>
          <p:cNvPr id="567" name="Google Shape;567;p1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68" name="Google Shape;568;p1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t/>
            </a:r>
            <a:endParaRPr sz="1200">
              <a:solidFill>
                <a:schemeClr val="dk1"/>
              </a:solidFill>
              <a:latin typeface="Arial"/>
              <a:ea typeface="Arial"/>
              <a:cs typeface="Arial"/>
              <a:sym typeface="Arial"/>
            </a:endParaRPr>
          </a:p>
        </p:txBody>
      </p:sp>
      <p:sp>
        <p:nvSpPr>
          <p:cNvPr id="569" name="Google Shape;569;p1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chemeClr val="dk1"/>
                </a:solidFill>
                <a:latin typeface="Arial"/>
                <a:ea typeface="Arial"/>
                <a:cs typeface="Arial"/>
                <a:sym typeface="Arial"/>
              </a:rPr>
              <a:t>‹#›</a:t>
            </a:fld>
            <a:endParaRPr b="0" i="0" sz="1800" u="none" cap="none" strike="noStrike">
              <a:solidFill>
                <a:schemeClr val="dk1"/>
              </a:solidFill>
              <a:latin typeface="Arial"/>
              <a:ea typeface="Arial"/>
              <a:cs typeface="Arial"/>
              <a:sym typeface="Aria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0" name="Shape 610"/>
        <p:cNvGrpSpPr/>
        <p:nvPr/>
      </p:nvGrpSpPr>
      <p:grpSpPr>
        <a:xfrm>
          <a:off x="0" y="0"/>
          <a:ext cx="0" cy="0"/>
          <a:chOff x="0" y="0"/>
          <a:chExt cx="0" cy="0"/>
        </a:xfrm>
      </p:grpSpPr>
      <p:sp>
        <p:nvSpPr>
          <p:cNvPr id="611" name="Google Shape;611;p1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12" name="Google Shape;612;p1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t/>
            </a:r>
            <a:endParaRPr sz="1200">
              <a:solidFill>
                <a:schemeClr val="dk1"/>
              </a:solidFill>
              <a:latin typeface="Arial"/>
              <a:ea typeface="Arial"/>
              <a:cs typeface="Arial"/>
              <a:sym typeface="Arial"/>
            </a:endParaRPr>
          </a:p>
        </p:txBody>
      </p:sp>
      <p:sp>
        <p:nvSpPr>
          <p:cNvPr id="613" name="Google Shape;613;p1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chemeClr val="dk1"/>
                </a:solidFill>
                <a:latin typeface="Arial"/>
                <a:ea typeface="Arial"/>
                <a:cs typeface="Arial"/>
                <a:sym typeface="Arial"/>
              </a:rPr>
              <a:t>‹#›</a:t>
            </a:fld>
            <a:endParaRPr b="0" i="0" sz="1800" u="none" cap="none" strike="noStrike">
              <a:solidFill>
                <a:schemeClr val="dk1"/>
              </a:solidFill>
              <a:latin typeface="Arial"/>
              <a:ea typeface="Arial"/>
              <a:cs typeface="Arial"/>
              <a:sym typeface="Aria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2" name="Shape 672"/>
        <p:cNvGrpSpPr/>
        <p:nvPr/>
      </p:nvGrpSpPr>
      <p:grpSpPr>
        <a:xfrm>
          <a:off x="0" y="0"/>
          <a:ext cx="0" cy="0"/>
          <a:chOff x="0" y="0"/>
          <a:chExt cx="0" cy="0"/>
        </a:xfrm>
      </p:grpSpPr>
      <p:sp>
        <p:nvSpPr>
          <p:cNvPr id="673" name="Google Shape;673;p1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74" name="Google Shape;674;p1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t/>
            </a:r>
            <a:endParaRPr sz="1200">
              <a:solidFill>
                <a:schemeClr val="dk1"/>
              </a:solidFill>
              <a:latin typeface="Arial"/>
              <a:ea typeface="Arial"/>
              <a:cs typeface="Arial"/>
              <a:sym typeface="Arial"/>
            </a:endParaRPr>
          </a:p>
        </p:txBody>
      </p:sp>
      <p:sp>
        <p:nvSpPr>
          <p:cNvPr id="675" name="Google Shape;675;p1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chemeClr val="dk1"/>
                </a:solidFill>
                <a:latin typeface="Arial"/>
                <a:ea typeface="Arial"/>
                <a:cs typeface="Arial"/>
                <a:sym typeface="Arial"/>
              </a:rPr>
              <a:t>‹#›</a:t>
            </a:fld>
            <a:endParaRPr b="0" i="0" sz="1800" u="none" cap="none" strike="noStrike">
              <a:solidFill>
                <a:schemeClr val="dk1"/>
              </a:solidFill>
              <a:latin typeface="Arial"/>
              <a:ea typeface="Arial"/>
              <a:cs typeface="Arial"/>
              <a:sym typeface="Aria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7" name="Shape 717"/>
        <p:cNvGrpSpPr/>
        <p:nvPr/>
      </p:nvGrpSpPr>
      <p:grpSpPr>
        <a:xfrm>
          <a:off x="0" y="0"/>
          <a:ext cx="0" cy="0"/>
          <a:chOff x="0" y="0"/>
          <a:chExt cx="0" cy="0"/>
        </a:xfrm>
      </p:grpSpPr>
      <p:sp>
        <p:nvSpPr>
          <p:cNvPr id="718" name="Google Shape;718;p1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19" name="Google Shape;719;p1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t/>
            </a:r>
            <a:endParaRPr sz="1200">
              <a:solidFill>
                <a:schemeClr val="dk1"/>
              </a:solidFill>
              <a:latin typeface="Arial"/>
              <a:ea typeface="Arial"/>
              <a:cs typeface="Arial"/>
              <a:sym typeface="Arial"/>
            </a:endParaRPr>
          </a:p>
        </p:txBody>
      </p:sp>
      <p:sp>
        <p:nvSpPr>
          <p:cNvPr id="720" name="Google Shape;720;p1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chemeClr val="dk1"/>
                </a:solidFill>
                <a:latin typeface="Arial"/>
                <a:ea typeface="Arial"/>
                <a:cs typeface="Arial"/>
                <a:sym typeface="Arial"/>
              </a:rPr>
              <a:t>‹#›</a:t>
            </a:fld>
            <a:endParaRPr b="0" i="0" sz="1800" u="none" cap="none" strike="noStrike">
              <a:solidFill>
                <a:schemeClr val="dk1"/>
              </a:solidFill>
              <a:latin typeface="Arial"/>
              <a:ea typeface="Arial"/>
              <a:cs typeface="Arial"/>
              <a:sym typeface="Aria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5" name="Shape 755"/>
        <p:cNvGrpSpPr/>
        <p:nvPr/>
      </p:nvGrpSpPr>
      <p:grpSpPr>
        <a:xfrm>
          <a:off x="0" y="0"/>
          <a:ext cx="0" cy="0"/>
          <a:chOff x="0" y="0"/>
          <a:chExt cx="0" cy="0"/>
        </a:xfrm>
      </p:grpSpPr>
      <p:sp>
        <p:nvSpPr>
          <p:cNvPr id="756" name="Google Shape;756;p1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57" name="Google Shape;757;p1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t/>
            </a:r>
            <a:endParaRPr sz="1200">
              <a:solidFill>
                <a:schemeClr val="dk1"/>
              </a:solidFill>
              <a:latin typeface="Arial"/>
              <a:ea typeface="Arial"/>
              <a:cs typeface="Arial"/>
              <a:sym typeface="Arial"/>
            </a:endParaRPr>
          </a:p>
        </p:txBody>
      </p:sp>
      <p:sp>
        <p:nvSpPr>
          <p:cNvPr id="758" name="Google Shape;758;p1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chemeClr val="dk1"/>
                </a:solidFill>
                <a:latin typeface="Arial"/>
                <a:ea typeface="Arial"/>
                <a:cs typeface="Arial"/>
                <a:sym typeface="Arial"/>
              </a:rPr>
              <a:t>‹#›</a:t>
            </a:fld>
            <a:endParaRPr b="0" i="0" sz="1800" u="none" cap="none" strike="noStrike">
              <a:solidFill>
                <a:schemeClr val="dk1"/>
              </a:solidFill>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6" name="Shape 6"/>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7.png"/><Relationship Id="rId4" Type="http://schemas.openxmlformats.org/officeDocument/2006/relationships/image" Target="../media/image9.png"/><Relationship Id="rId5" Type="http://schemas.openxmlformats.org/officeDocument/2006/relationships/image" Target="../media/image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6.png"/><Relationship Id="rId4" Type="http://schemas.openxmlformats.org/officeDocument/2006/relationships/image" Target="../media/image10.png"/><Relationship Id="rId5"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6.png"/><Relationship Id="rId4" Type="http://schemas.openxmlformats.org/officeDocument/2006/relationships/image" Target="../media/image1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4.png"/><Relationship Id="rId4" Type="http://schemas.openxmlformats.org/officeDocument/2006/relationships/image" Target="../media/image7.png"/><Relationship Id="rId9"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3.png"/><Relationship Id="rId7" Type="http://schemas.openxmlformats.org/officeDocument/2006/relationships/image" Target="../media/image1.png"/><Relationship Id="rId8" Type="http://schemas.openxmlformats.org/officeDocument/2006/relationships/image" Target="../media/image1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4.png"/><Relationship Id="rId4" Type="http://schemas.openxmlformats.org/officeDocument/2006/relationships/image" Target="../media/image7.png"/><Relationship Id="rId5" Type="http://schemas.openxmlformats.org/officeDocument/2006/relationships/image" Target="../media/image15.png"/><Relationship Id="rId6" Type="http://schemas.openxmlformats.org/officeDocument/2006/relationships/image" Target="../media/image1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3.png"/><Relationship Id="rId4" Type="http://schemas.openxmlformats.org/officeDocument/2006/relationships/image" Target="../media/image1.png"/><Relationship Id="rId5" Type="http://schemas.openxmlformats.org/officeDocument/2006/relationships/image" Target="../media/image1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22.png"/><Relationship Id="rId4" Type="http://schemas.openxmlformats.org/officeDocument/2006/relationships/image" Target="../media/image25.png"/><Relationship Id="rId5" Type="http://schemas.openxmlformats.org/officeDocument/2006/relationships/image" Target="../media/image2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2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1" name="Shape 11"/>
        <p:cNvGrpSpPr/>
        <p:nvPr/>
      </p:nvGrpSpPr>
      <p:grpSpPr>
        <a:xfrm>
          <a:off x="0" y="0"/>
          <a:ext cx="0" cy="0"/>
          <a:chOff x="0" y="0"/>
          <a:chExt cx="0" cy="0"/>
        </a:xfrm>
      </p:grpSpPr>
      <p:sp>
        <p:nvSpPr>
          <p:cNvPr id="12" name="Google Shape;12;p1"/>
          <p:cNvSpPr txBox="1"/>
          <p:nvPr/>
        </p:nvSpPr>
        <p:spPr>
          <a:xfrm>
            <a:off x="599100" y="1832050"/>
            <a:ext cx="7945800" cy="1054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200"/>
              <a:buFont typeface="Arial"/>
              <a:buNone/>
            </a:pPr>
            <a:r>
              <a:rPr b="1" lang="en-US" sz="2200">
                <a:solidFill>
                  <a:srgbClr val="CC0099"/>
                </a:solidFill>
                <a:latin typeface="Gill Sans"/>
                <a:ea typeface="Gill Sans"/>
                <a:cs typeface="Gill Sans"/>
                <a:sym typeface="Gill Sans"/>
              </a:rPr>
              <a:t>       </a:t>
            </a:r>
            <a:r>
              <a:rPr b="1" i="0" lang="en-US" sz="2200" u="none" cap="none" strike="noStrike">
                <a:solidFill>
                  <a:srgbClr val="CC0099"/>
                </a:solidFill>
                <a:latin typeface="Gill Sans"/>
                <a:ea typeface="Gill Sans"/>
                <a:cs typeface="Gill Sans"/>
                <a:sym typeface="Gill Sans"/>
              </a:rPr>
              <a:t>Simulation Proposal for New International Arrivals </a:t>
            </a:r>
            <a:endParaRPr b="1" i="0" sz="2200" u="none" cap="none" strike="noStrike">
              <a:solidFill>
                <a:srgbClr val="CC0099"/>
              </a:solidFill>
              <a:latin typeface="Gill Sans"/>
              <a:ea typeface="Gill Sans"/>
              <a:cs typeface="Gill Sans"/>
              <a:sym typeface="Gill Sans"/>
            </a:endParaRPr>
          </a:p>
          <a:p>
            <a:pPr indent="0" lvl="0" marL="0" marR="0" rtl="0" algn="l">
              <a:lnSpc>
                <a:spcPct val="100000"/>
              </a:lnSpc>
              <a:spcBef>
                <a:spcPts val="0"/>
              </a:spcBef>
              <a:spcAft>
                <a:spcPts val="0"/>
              </a:spcAft>
              <a:buClr>
                <a:srgbClr val="000000"/>
              </a:buClr>
              <a:buSzPts val="1500"/>
              <a:buFont typeface="Arial"/>
              <a:buNone/>
            </a:pPr>
            <a:r>
              <a:t/>
            </a:r>
            <a:endParaRPr b="0" i="0" sz="1500" u="none" cap="none" strike="noStrike">
              <a:solidFill>
                <a:schemeClr val="dk1"/>
              </a:solidFill>
              <a:latin typeface="Gill Sans"/>
              <a:ea typeface="Gill Sans"/>
              <a:cs typeface="Gill Sans"/>
              <a:sym typeface="Gill Sans"/>
            </a:endParaRPr>
          </a:p>
        </p:txBody>
      </p:sp>
      <p:sp>
        <p:nvSpPr>
          <p:cNvPr id="13" name="Google Shape;13;p1"/>
          <p:cNvSpPr txBox="1"/>
          <p:nvPr/>
        </p:nvSpPr>
        <p:spPr>
          <a:xfrm>
            <a:off x="2358425" y="4147975"/>
            <a:ext cx="3760500" cy="509700"/>
          </a:xfrm>
          <a:prstGeom prst="rect">
            <a:avLst/>
          </a:prstGeom>
          <a:noFill/>
          <a:ln>
            <a:noFill/>
          </a:ln>
        </p:spPr>
        <p:txBody>
          <a:bodyPr anchorCtr="0" anchor="t" bIns="91425" lIns="91425" spcFirstLastPara="1" rIns="91425" wrap="square" tIns="91425">
            <a:noAutofit/>
          </a:bodyPr>
          <a:lstStyle/>
          <a:p>
            <a:pPr indent="0" lvl="0" marL="914400" marR="0" rtl="0" algn="l">
              <a:lnSpc>
                <a:spcPct val="100000"/>
              </a:lnSpc>
              <a:spcBef>
                <a:spcPts val="0"/>
              </a:spcBef>
              <a:spcAft>
                <a:spcPts val="0"/>
              </a:spcAft>
              <a:buClr>
                <a:srgbClr val="000000"/>
              </a:buClr>
              <a:buSzPts val="1400"/>
              <a:buFont typeface="Arial"/>
              <a:buNone/>
            </a:pPr>
            <a:r>
              <a:t/>
            </a:r>
            <a:endParaRPr b="1" i="0" sz="1400" u="none" cap="none" strike="noStrike">
              <a:solidFill>
                <a:srgbClr val="000000"/>
              </a:solidFill>
              <a:latin typeface="Gill Sans"/>
              <a:ea typeface="Gill Sans"/>
              <a:cs typeface="Gill Sans"/>
              <a:sym typeface="Gill Sans"/>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18" name="Shape 18"/>
        <p:cNvGrpSpPr/>
        <p:nvPr/>
      </p:nvGrpSpPr>
      <p:grpSpPr>
        <a:xfrm>
          <a:off x="0" y="0"/>
          <a:ext cx="0" cy="0"/>
          <a:chOff x="0" y="0"/>
          <a:chExt cx="0" cy="0"/>
        </a:xfrm>
      </p:grpSpPr>
      <p:sp>
        <p:nvSpPr>
          <p:cNvPr id="19" name="Google Shape;19;p2"/>
          <p:cNvSpPr/>
          <p:nvPr/>
        </p:nvSpPr>
        <p:spPr>
          <a:xfrm>
            <a:off x="539499" y="274325"/>
            <a:ext cx="737010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2744"/>
              </a:buClr>
              <a:buSzPts val="2200"/>
              <a:buFont typeface="Georgia"/>
              <a:buNone/>
            </a:pPr>
            <a:r>
              <a:rPr b="1" i="0" lang="en-US" sz="2200" u="none" cap="none" strike="noStrike">
                <a:solidFill>
                  <a:srgbClr val="CC0099"/>
                </a:solidFill>
                <a:latin typeface="Gill Sans"/>
                <a:ea typeface="Gill Sans"/>
                <a:cs typeface="Gill Sans"/>
                <a:sym typeface="Gill Sans"/>
              </a:rPr>
              <a:t>Understanding the Brief</a:t>
            </a:r>
            <a:endParaRPr b="1" i="0" sz="2200" u="none" cap="none" strike="noStrike">
              <a:solidFill>
                <a:srgbClr val="CC0099"/>
              </a:solidFill>
              <a:latin typeface="Gill Sans"/>
              <a:ea typeface="Gill Sans"/>
              <a:cs typeface="Gill Sans"/>
              <a:sym typeface="Gill Sans"/>
            </a:endParaRPr>
          </a:p>
        </p:txBody>
      </p:sp>
      <p:sp>
        <p:nvSpPr>
          <p:cNvPr id="20" name="Google Shape;20;p2"/>
          <p:cNvSpPr/>
          <p:nvPr/>
        </p:nvSpPr>
        <p:spPr>
          <a:xfrm>
            <a:off x="8321040" y="4709160"/>
            <a:ext cx="457200" cy="32004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64748B"/>
              </a:buClr>
              <a:buSzPts val="1000"/>
              <a:buFont typeface="Calibri"/>
              <a:buNone/>
            </a:pPr>
            <a:r>
              <a:t/>
            </a:r>
            <a:endParaRPr b="0" i="0" sz="1000" u="none" cap="none" strike="noStrike">
              <a:solidFill>
                <a:schemeClr val="dk1"/>
              </a:solidFill>
              <a:latin typeface="Calibri"/>
              <a:ea typeface="Calibri"/>
              <a:cs typeface="Calibri"/>
              <a:sym typeface="Calibri"/>
            </a:endParaRPr>
          </a:p>
        </p:txBody>
      </p:sp>
      <p:sp>
        <p:nvSpPr>
          <p:cNvPr id="21" name="Google Shape;21;p2"/>
          <p:cNvSpPr/>
          <p:nvPr/>
        </p:nvSpPr>
        <p:spPr>
          <a:xfrm>
            <a:off x="576100" y="1106925"/>
            <a:ext cx="8078400" cy="1114800"/>
          </a:xfrm>
          <a:prstGeom prst="rect">
            <a:avLst/>
          </a:prstGeom>
          <a:solidFill>
            <a:srgbClr val="FFFFFF"/>
          </a:solidFill>
          <a:ln>
            <a:noFill/>
          </a:ln>
          <a:effectLst>
            <a:outerShdw blurRad="76200" rotWithShape="0" algn="bl" dir="8100000" dist="25400">
              <a:srgbClr val="000000">
                <a:alpha val="12157"/>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2" name="Google Shape;22;p2"/>
          <p:cNvSpPr/>
          <p:nvPr/>
        </p:nvSpPr>
        <p:spPr>
          <a:xfrm>
            <a:off x="539500" y="1081811"/>
            <a:ext cx="36600" cy="1114800"/>
          </a:xfrm>
          <a:prstGeom prst="rect">
            <a:avLst/>
          </a:pr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3" name="Google Shape;23;p2"/>
          <p:cNvSpPr/>
          <p:nvPr/>
        </p:nvSpPr>
        <p:spPr>
          <a:xfrm>
            <a:off x="914400" y="1133710"/>
            <a:ext cx="77724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D7377"/>
              </a:buClr>
              <a:buSzPts val="1400"/>
              <a:buFont typeface="Calibri"/>
              <a:buNone/>
            </a:pPr>
            <a:r>
              <a:rPr b="1" i="0" lang="en-US" sz="1400" u="none" cap="none" strike="noStrike">
                <a:solidFill>
                  <a:srgbClr val="CC0099"/>
                </a:solidFill>
                <a:latin typeface="Calibri"/>
                <a:ea typeface="Calibri"/>
                <a:cs typeface="Calibri"/>
                <a:sym typeface="Calibri"/>
              </a:rPr>
              <a:t>Objective</a:t>
            </a:r>
            <a:endParaRPr b="0" i="0" sz="1400" u="none" cap="none" strike="noStrike">
              <a:solidFill>
                <a:srgbClr val="CC0099"/>
              </a:solidFill>
              <a:latin typeface="Calibri"/>
              <a:ea typeface="Calibri"/>
              <a:cs typeface="Calibri"/>
              <a:sym typeface="Calibri"/>
            </a:endParaRPr>
          </a:p>
        </p:txBody>
      </p:sp>
      <p:sp>
        <p:nvSpPr>
          <p:cNvPr id="24" name="Google Shape;24;p2"/>
          <p:cNvSpPr/>
          <p:nvPr/>
        </p:nvSpPr>
        <p:spPr>
          <a:xfrm>
            <a:off x="914400" y="1407900"/>
            <a:ext cx="7740300" cy="737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93B"/>
              </a:buClr>
              <a:buSzPts val="1200"/>
              <a:buFont typeface="Calibri"/>
              <a:buNone/>
            </a:pPr>
            <a:r>
              <a:rPr b="0" i="0" lang="en-US" sz="1300" u="none" cap="none" strike="noStrike">
                <a:solidFill>
                  <a:srgbClr val="1E293B"/>
                </a:solidFill>
                <a:latin typeface="Gill Sans"/>
                <a:ea typeface="Gill Sans"/>
                <a:cs typeface="Gill Sans"/>
                <a:sym typeface="Gill Sans"/>
              </a:rPr>
              <a:t>To build a simulation of the newly proposed international arrivals layout to help the projects team visualise passenger flow, identify the bottlenecks and to validate the design decisions before construction of the International arrivals begins.</a:t>
            </a:r>
            <a:endParaRPr b="0" i="0" sz="1300" u="none" cap="none" strike="noStrike">
              <a:solidFill>
                <a:schemeClr val="dk1"/>
              </a:solidFill>
              <a:latin typeface="Gill Sans"/>
              <a:ea typeface="Gill Sans"/>
              <a:cs typeface="Gill Sans"/>
              <a:sym typeface="Gill Sans"/>
            </a:endParaRPr>
          </a:p>
        </p:txBody>
      </p:sp>
      <p:sp>
        <p:nvSpPr>
          <p:cNvPr id="25" name="Google Shape;25;p2"/>
          <p:cNvSpPr/>
          <p:nvPr/>
        </p:nvSpPr>
        <p:spPr>
          <a:xfrm>
            <a:off x="489243" y="2647492"/>
            <a:ext cx="2560200" cy="1920300"/>
          </a:xfrm>
          <a:prstGeom prst="rect">
            <a:avLst/>
          </a:prstGeom>
          <a:solidFill>
            <a:srgbClr val="FFFFFF"/>
          </a:solidFill>
          <a:ln>
            <a:noFill/>
          </a:ln>
          <a:effectLst>
            <a:outerShdw blurRad="50800" rotWithShape="0" algn="bl" dir="8100000" dist="12700">
              <a:srgbClr val="000000">
                <a:alpha val="10196"/>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descr="preencoded.png" id="26" name="Google Shape;26;p2"/>
          <p:cNvPicPr preferRelativeResize="0"/>
          <p:nvPr/>
        </p:nvPicPr>
        <p:blipFill rotWithShape="1">
          <a:blip r:embed="rId3">
            <a:alphaModFix/>
          </a:blip>
          <a:srcRect b="0" l="0" r="0" t="0"/>
          <a:stretch/>
        </p:blipFill>
        <p:spPr>
          <a:xfrm>
            <a:off x="1563586" y="2920684"/>
            <a:ext cx="411480" cy="411480"/>
          </a:xfrm>
          <a:prstGeom prst="rect">
            <a:avLst/>
          </a:prstGeom>
          <a:noFill/>
          <a:ln>
            <a:noFill/>
          </a:ln>
        </p:spPr>
      </p:pic>
      <p:sp>
        <p:nvSpPr>
          <p:cNvPr id="27" name="Google Shape;27;p2"/>
          <p:cNvSpPr/>
          <p:nvPr/>
        </p:nvSpPr>
        <p:spPr>
          <a:xfrm>
            <a:off x="671923" y="3351574"/>
            <a:ext cx="2194500" cy="274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A2744"/>
              </a:buClr>
              <a:buSzPts val="1300"/>
              <a:buFont typeface="Calibri"/>
              <a:buNone/>
            </a:pPr>
            <a:r>
              <a:rPr b="1" i="0" lang="en-US" sz="1300" u="none" cap="none" strike="noStrike">
                <a:solidFill>
                  <a:srgbClr val="1A2744"/>
                </a:solidFill>
                <a:latin typeface="Gill Sans"/>
                <a:ea typeface="Gill Sans"/>
                <a:cs typeface="Gill Sans"/>
                <a:sym typeface="Gill Sans"/>
              </a:rPr>
              <a:t>Validate Design</a:t>
            </a:r>
            <a:endParaRPr b="0" i="0" sz="1300" u="none" cap="none" strike="noStrike">
              <a:solidFill>
                <a:schemeClr val="dk1"/>
              </a:solidFill>
              <a:latin typeface="Gill Sans"/>
              <a:ea typeface="Gill Sans"/>
              <a:cs typeface="Gill Sans"/>
              <a:sym typeface="Gill Sans"/>
            </a:endParaRPr>
          </a:p>
        </p:txBody>
      </p:sp>
      <p:sp>
        <p:nvSpPr>
          <p:cNvPr id="28" name="Google Shape;28;p2"/>
          <p:cNvSpPr/>
          <p:nvPr/>
        </p:nvSpPr>
        <p:spPr>
          <a:xfrm>
            <a:off x="672069" y="3625896"/>
            <a:ext cx="2194500" cy="8229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64748B"/>
              </a:buClr>
              <a:buSzPts val="1050"/>
              <a:buFont typeface="Calibri"/>
              <a:buNone/>
            </a:pPr>
            <a:r>
              <a:rPr b="0" i="0" lang="en-US" sz="1050" u="none" cap="none" strike="noStrike">
                <a:solidFill>
                  <a:srgbClr val="64748B"/>
                </a:solidFill>
                <a:latin typeface="Gill Sans"/>
                <a:ea typeface="Gill Sans"/>
                <a:cs typeface="Gill Sans"/>
                <a:sym typeface="Gill Sans"/>
              </a:rPr>
              <a:t>Test the newly proposed layout against current demand patterns and passenger behaviours</a:t>
            </a:r>
            <a:endParaRPr b="0" i="0" sz="1050" u="none" cap="none" strike="noStrike">
              <a:solidFill>
                <a:schemeClr val="dk1"/>
              </a:solidFill>
              <a:latin typeface="Gill Sans"/>
              <a:ea typeface="Gill Sans"/>
              <a:cs typeface="Gill Sans"/>
              <a:sym typeface="Gill Sans"/>
            </a:endParaRPr>
          </a:p>
        </p:txBody>
      </p:sp>
      <p:sp>
        <p:nvSpPr>
          <p:cNvPr id="29" name="Google Shape;29;p2"/>
          <p:cNvSpPr/>
          <p:nvPr/>
        </p:nvSpPr>
        <p:spPr>
          <a:xfrm>
            <a:off x="3337503" y="2647530"/>
            <a:ext cx="2560200" cy="1920300"/>
          </a:xfrm>
          <a:prstGeom prst="rect">
            <a:avLst/>
          </a:prstGeom>
          <a:solidFill>
            <a:srgbClr val="FFFFFF"/>
          </a:solidFill>
          <a:ln>
            <a:noFill/>
          </a:ln>
          <a:effectLst>
            <a:outerShdw blurRad="50800" rotWithShape="0" algn="bl" dir="8100000" dist="12700">
              <a:srgbClr val="000000">
                <a:alpha val="10196"/>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descr="preencoded.png" id="30" name="Google Shape;30;p2"/>
          <p:cNvPicPr preferRelativeResize="0"/>
          <p:nvPr/>
        </p:nvPicPr>
        <p:blipFill rotWithShape="1">
          <a:blip r:embed="rId4">
            <a:alphaModFix/>
          </a:blip>
          <a:srcRect b="0" l="0" r="0" t="0"/>
          <a:stretch/>
        </p:blipFill>
        <p:spPr>
          <a:xfrm>
            <a:off x="4366160" y="2920682"/>
            <a:ext cx="411480" cy="411480"/>
          </a:xfrm>
          <a:prstGeom prst="rect">
            <a:avLst/>
          </a:prstGeom>
          <a:noFill/>
          <a:ln>
            <a:noFill/>
          </a:ln>
        </p:spPr>
      </p:pic>
      <p:sp>
        <p:nvSpPr>
          <p:cNvPr id="31" name="Google Shape;31;p2"/>
          <p:cNvSpPr/>
          <p:nvPr/>
        </p:nvSpPr>
        <p:spPr>
          <a:xfrm>
            <a:off x="3474657" y="3351578"/>
            <a:ext cx="2194500" cy="274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A2744"/>
              </a:buClr>
              <a:buSzPts val="1300"/>
              <a:buFont typeface="Calibri"/>
              <a:buNone/>
            </a:pPr>
            <a:r>
              <a:rPr b="1" i="0" lang="en-US" sz="1300" u="none" cap="none" strike="noStrike">
                <a:solidFill>
                  <a:srgbClr val="1A2744"/>
                </a:solidFill>
                <a:latin typeface="Gill Sans"/>
                <a:ea typeface="Gill Sans"/>
                <a:cs typeface="Gill Sans"/>
                <a:sym typeface="Gill Sans"/>
              </a:rPr>
              <a:t>Identify Bottlenecks</a:t>
            </a:r>
            <a:endParaRPr b="0" i="0" sz="1300" u="none" cap="none" strike="noStrike">
              <a:solidFill>
                <a:schemeClr val="dk1"/>
              </a:solidFill>
              <a:latin typeface="Gill Sans"/>
              <a:ea typeface="Gill Sans"/>
              <a:cs typeface="Gill Sans"/>
              <a:sym typeface="Gill Sans"/>
            </a:endParaRPr>
          </a:p>
        </p:txBody>
      </p:sp>
      <p:sp>
        <p:nvSpPr>
          <p:cNvPr id="32" name="Google Shape;32;p2"/>
          <p:cNvSpPr/>
          <p:nvPr/>
        </p:nvSpPr>
        <p:spPr>
          <a:xfrm>
            <a:off x="3474715" y="3625866"/>
            <a:ext cx="2194500" cy="8229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64748B"/>
              </a:buClr>
              <a:buSzPts val="1050"/>
              <a:buFont typeface="Calibri"/>
              <a:buNone/>
            </a:pPr>
            <a:r>
              <a:rPr b="0" i="0" lang="en-US" sz="1050" u="none" cap="none" strike="noStrike">
                <a:solidFill>
                  <a:srgbClr val="64748B"/>
                </a:solidFill>
                <a:latin typeface="Gill Sans"/>
                <a:ea typeface="Gill Sans"/>
                <a:cs typeface="Gill Sans"/>
                <a:sym typeface="Gill Sans"/>
              </a:rPr>
              <a:t>Pinpoint where the queues, congestion and delays are likely to occur under peak/off peak conditions</a:t>
            </a:r>
            <a:endParaRPr b="0" i="0" sz="1050" u="none" cap="none" strike="noStrike">
              <a:solidFill>
                <a:schemeClr val="dk1"/>
              </a:solidFill>
              <a:latin typeface="Gill Sans"/>
              <a:ea typeface="Gill Sans"/>
              <a:cs typeface="Gill Sans"/>
              <a:sym typeface="Gill Sans"/>
            </a:endParaRPr>
          </a:p>
        </p:txBody>
      </p:sp>
      <p:sp>
        <p:nvSpPr>
          <p:cNvPr id="33" name="Google Shape;33;p2"/>
          <p:cNvSpPr/>
          <p:nvPr/>
        </p:nvSpPr>
        <p:spPr>
          <a:xfrm>
            <a:off x="6094497" y="2632955"/>
            <a:ext cx="2560200" cy="1920300"/>
          </a:xfrm>
          <a:prstGeom prst="rect">
            <a:avLst/>
          </a:prstGeom>
          <a:solidFill>
            <a:srgbClr val="FFFFFF"/>
          </a:solidFill>
          <a:ln>
            <a:noFill/>
          </a:ln>
          <a:effectLst>
            <a:outerShdw blurRad="50800" rotWithShape="0" algn="bl" dir="8100000" dist="12700">
              <a:srgbClr val="000000">
                <a:alpha val="10196"/>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descr="preencoded.png" id="34" name="Google Shape;34;p2"/>
          <p:cNvPicPr preferRelativeResize="0"/>
          <p:nvPr/>
        </p:nvPicPr>
        <p:blipFill rotWithShape="1">
          <a:blip r:embed="rId5">
            <a:alphaModFix/>
          </a:blip>
          <a:srcRect b="0" l="0" r="0" t="0"/>
          <a:stretch/>
        </p:blipFill>
        <p:spPr>
          <a:xfrm>
            <a:off x="7168717" y="2917344"/>
            <a:ext cx="411480" cy="411480"/>
          </a:xfrm>
          <a:prstGeom prst="rect">
            <a:avLst/>
          </a:prstGeom>
          <a:noFill/>
          <a:ln>
            <a:noFill/>
          </a:ln>
        </p:spPr>
      </p:pic>
      <p:sp>
        <p:nvSpPr>
          <p:cNvPr id="35" name="Google Shape;35;p2"/>
          <p:cNvSpPr/>
          <p:nvPr/>
        </p:nvSpPr>
        <p:spPr>
          <a:xfrm>
            <a:off x="6277363" y="3399923"/>
            <a:ext cx="2194500" cy="274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A2744"/>
              </a:buClr>
              <a:buSzPts val="1300"/>
              <a:buFont typeface="Calibri"/>
              <a:buNone/>
            </a:pPr>
            <a:r>
              <a:rPr b="1" i="0" lang="en-US" sz="1300" u="none" cap="none" strike="noStrike">
                <a:solidFill>
                  <a:srgbClr val="1A2744"/>
                </a:solidFill>
                <a:latin typeface="Gill Sans"/>
                <a:ea typeface="Gill Sans"/>
                <a:cs typeface="Gill Sans"/>
                <a:sym typeface="Gill Sans"/>
              </a:rPr>
              <a:t>Inform Decisions</a:t>
            </a:r>
            <a:endParaRPr b="0" i="0" sz="1300" u="none" cap="none" strike="noStrike">
              <a:solidFill>
                <a:schemeClr val="dk1"/>
              </a:solidFill>
              <a:latin typeface="Gill Sans"/>
              <a:ea typeface="Gill Sans"/>
              <a:cs typeface="Gill Sans"/>
              <a:sym typeface="Gill Sans"/>
            </a:endParaRPr>
          </a:p>
        </p:txBody>
      </p:sp>
      <p:sp>
        <p:nvSpPr>
          <p:cNvPr id="36" name="Google Shape;36;p2"/>
          <p:cNvSpPr/>
          <p:nvPr/>
        </p:nvSpPr>
        <p:spPr>
          <a:xfrm>
            <a:off x="6277378" y="3607548"/>
            <a:ext cx="2194500" cy="8229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64748B"/>
              </a:buClr>
              <a:buSzPts val="1050"/>
              <a:buFont typeface="Calibri"/>
              <a:buNone/>
            </a:pPr>
            <a:r>
              <a:rPr b="0" i="0" lang="en-US" sz="1050" u="none" cap="none" strike="noStrike">
                <a:solidFill>
                  <a:srgbClr val="64748B"/>
                </a:solidFill>
                <a:latin typeface="Gill Sans"/>
                <a:ea typeface="Gill Sans"/>
                <a:cs typeface="Gill Sans"/>
                <a:sym typeface="Gill Sans"/>
              </a:rPr>
              <a:t>Provide evidences to support or refine the design before capital investment</a:t>
            </a:r>
            <a:endParaRPr b="0" i="0" sz="1050" u="none" cap="none" strike="noStrike">
              <a:solidFill>
                <a:schemeClr val="dk1"/>
              </a:solidFill>
              <a:latin typeface="Gill Sans"/>
              <a:ea typeface="Gill Sans"/>
              <a:cs typeface="Gill Sans"/>
              <a:sym typeface="Gill Sans"/>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 name="Shape 41"/>
        <p:cNvGrpSpPr/>
        <p:nvPr/>
      </p:nvGrpSpPr>
      <p:grpSpPr>
        <a:xfrm>
          <a:off x="0" y="0"/>
          <a:ext cx="0" cy="0"/>
          <a:chOff x="0" y="0"/>
          <a:chExt cx="0" cy="0"/>
        </a:xfrm>
      </p:grpSpPr>
      <p:sp>
        <p:nvSpPr>
          <p:cNvPr id="42" name="Google Shape;42;p3"/>
          <p:cNvSpPr/>
          <p:nvPr/>
        </p:nvSpPr>
        <p:spPr>
          <a:xfrm>
            <a:off x="8074152" y="4869180"/>
            <a:ext cx="914400" cy="32004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5D6D7E"/>
              </a:buClr>
              <a:buSzPts val="900"/>
              <a:buFont typeface="Calibri"/>
              <a:buNone/>
            </a:pPr>
            <a:r>
              <a:t/>
            </a:r>
            <a:endParaRPr b="0" i="0" sz="900" u="none" cap="none" strike="noStrike">
              <a:solidFill>
                <a:schemeClr val="dk1"/>
              </a:solidFill>
              <a:latin typeface="Calibri"/>
              <a:ea typeface="Calibri"/>
              <a:cs typeface="Calibri"/>
              <a:sym typeface="Calibri"/>
            </a:endParaRPr>
          </a:p>
        </p:txBody>
      </p:sp>
      <p:sp>
        <p:nvSpPr>
          <p:cNvPr id="43" name="Google Shape;43;p3"/>
          <p:cNvSpPr/>
          <p:nvPr/>
        </p:nvSpPr>
        <p:spPr>
          <a:xfrm>
            <a:off x="548640" y="182880"/>
            <a:ext cx="6400800" cy="5029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B1D3A"/>
              </a:buClr>
              <a:buSzPts val="2800"/>
              <a:buFont typeface="Georgia"/>
              <a:buNone/>
            </a:pPr>
            <a:r>
              <a:rPr b="1" i="0" lang="en-US" sz="2800" u="none" cap="none" strike="noStrike">
                <a:solidFill>
                  <a:srgbClr val="CC0099"/>
                </a:solidFill>
                <a:latin typeface="Gill Sans"/>
                <a:ea typeface="Gill Sans"/>
                <a:cs typeface="Gill Sans"/>
                <a:sym typeface="Gill Sans"/>
              </a:rPr>
              <a:t>Assumptions to Gather</a:t>
            </a:r>
            <a:endParaRPr b="0" i="0" sz="2800" u="none" cap="none" strike="noStrike">
              <a:solidFill>
                <a:srgbClr val="CC0099"/>
              </a:solidFill>
              <a:latin typeface="Gill Sans"/>
              <a:ea typeface="Gill Sans"/>
              <a:cs typeface="Gill Sans"/>
              <a:sym typeface="Gill Sans"/>
            </a:endParaRPr>
          </a:p>
        </p:txBody>
      </p:sp>
      <p:sp>
        <p:nvSpPr>
          <p:cNvPr id="44" name="Google Shape;44;p3"/>
          <p:cNvSpPr/>
          <p:nvPr/>
        </p:nvSpPr>
        <p:spPr>
          <a:xfrm>
            <a:off x="548640" y="658368"/>
            <a:ext cx="82296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D6D7E"/>
              </a:buClr>
              <a:buSzPts val="1200"/>
              <a:buFont typeface="Calibri"/>
              <a:buNone/>
            </a:pPr>
            <a:r>
              <a:rPr b="0" i="1" lang="en-US" sz="1200" u="none" cap="none" strike="noStrike">
                <a:solidFill>
                  <a:srgbClr val="5D6D7E"/>
                </a:solidFill>
                <a:latin typeface="Gill Sans"/>
                <a:ea typeface="Gill Sans"/>
                <a:cs typeface="Gill Sans"/>
                <a:sym typeface="Gill Sans"/>
              </a:rPr>
              <a:t>Part 1: Demand, Service Times &amp; Physical Constraints</a:t>
            </a:r>
            <a:endParaRPr b="0" i="0" sz="1200" u="none" cap="none" strike="noStrike">
              <a:solidFill>
                <a:schemeClr val="dk1"/>
              </a:solidFill>
              <a:latin typeface="Gill Sans"/>
              <a:ea typeface="Gill Sans"/>
              <a:cs typeface="Gill Sans"/>
              <a:sym typeface="Gill Sans"/>
            </a:endParaRPr>
          </a:p>
        </p:txBody>
      </p:sp>
      <p:sp>
        <p:nvSpPr>
          <p:cNvPr id="45" name="Google Shape;45;p3"/>
          <p:cNvSpPr/>
          <p:nvPr/>
        </p:nvSpPr>
        <p:spPr>
          <a:xfrm>
            <a:off x="548640" y="1051560"/>
            <a:ext cx="8229600" cy="1188720"/>
          </a:xfrm>
          <a:prstGeom prst="rect">
            <a:avLst/>
          </a:prstGeom>
          <a:solidFill>
            <a:srgbClr val="FFFFFF"/>
          </a:solidFill>
          <a:ln cap="flat" cmpd="sng" w="9525">
            <a:solidFill>
              <a:srgbClr val="E8E8E8"/>
            </a:solidFill>
            <a:prstDash val="solid"/>
            <a:round/>
            <a:headEnd len="sm" w="sm" type="none"/>
            <a:tailEnd len="sm" w="sm" type="none"/>
          </a:ln>
          <a:effectLst>
            <a:outerShdw blurRad="76200" rotWithShape="0" algn="bl" dir="8100000" dist="25400">
              <a:srgbClr val="000000">
                <a:alpha val="12157"/>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6" name="Google Shape;46;p3"/>
          <p:cNvSpPr/>
          <p:nvPr/>
        </p:nvSpPr>
        <p:spPr>
          <a:xfrm>
            <a:off x="548640" y="1051560"/>
            <a:ext cx="54864" cy="1188720"/>
          </a:xfrm>
          <a:prstGeom prst="rect">
            <a:avLst/>
          </a:pr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descr="preencoded.png" id="47" name="Google Shape;47;p3"/>
          <p:cNvPicPr preferRelativeResize="0"/>
          <p:nvPr/>
        </p:nvPicPr>
        <p:blipFill rotWithShape="1">
          <a:blip r:embed="rId3">
            <a:alphaModFix/>
          </a:blip>
          <a:srcRect b="0" l="0" r="0" t="0"/>
          <a:stretch/>
        </p:blipFill>
        <p:spPr>
          <a:xfrm>
            <a:off x="731520" y="1124712"/>
            <a:ext cx="219456" cy="219456"/>
          </a:xfrm>
          <a:prstGeom prst="rect">
            <a:avLst/>
          </a:prstGeom>
          <a:noFill/>
          <a:ln>
            <a:noFill/>
          </a:ln>
        </p:spPr>
      </p:pic>
      <p:sp>
        <p:nvSpPr>
          <p:cNvPr id="48" name="Google Shape;48;p3"/>
          <p:cNvSpPr/>
          <p:nvPr/>
        </p:nvSpPr>
        <p:spPr>
          <a:xfrm>
            <a:off x="1024128" y="1088136"/>
            <a:ext cx="73152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B1D3A"/>
              </a:buClr>
              <a:buSzPts val="1200"/>
              <a:buFont typeface="Calibri"/>
              <a:buNone/>
            </a:pPr>
            <a:r>
              <a:rPr b="1" i="0" lang="en-US" sz="1200" u="none" cap="none" strike="noStrike">
                <a:solidFill>
                  <a:schemeClr val="dk1"/>
                </a:solidFill>
                <a:latin typeface="Calibri"/>
                <a:ea typeface="Calibri"/>
                <a:cs typeface="Calibri"/>
                <a:sym typeface="Calibri"/>
              </a:rPr>
              <a:t>Demand ( Who is arriving and when?)</a:t>
            </a:r>
            <a:endParaRPr b="0" i="0" sz="1200" u="none" cap="none" strike="noStrike">
              <a:solidFill>
                <a:schemeClr val="dk1"/>
              </a:solidFill>
              <a:latin typeface="Calibri"/>
              <a:ea typeface="Calibri"/>
              <a:cs typeface="Calibri"/>
              <a:sym typeface="Calibri"/>
            </a:endParaRPr>
          </a:p>
        </p:txBody>
      </p:sp>
      <p:sp>
        <p:nvSpPr>
          <p:cNvPr id="49" name="Google Shape;49;p3"/>
          <p:cNvSpPr/>
          <p:nvPr/>
        </p:nvSpPr>
        <p:spPr>
          <a:xfrm>
            <a:off x="713232" y="1399032"/>
            <a:ext cx="7955280" cy="192024"/>
          </a:xfrm>
          <a:prstGeom prst="rect">
            <a:avLst/>
          </a:prstGeom>
          <a:solidFill>
            <a:srgbClr val="EAF4F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0" name="Google Shape;50;p3"/>
          <p:cNvSpPr/>
          <p:nvPr/>
        </p:nvSpPr>
        <p:spPr>
          <a:xfrm>
            <a:off x="777240" y="1399032"/>
            <a:ext cx="2377440" cy="19202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B1D3A"/>
              </a:buClr>
              <a:buSzPts val="850"/>
              <a:buFont typeface="Calibri"/>
              <a:buNone/>
            </a:pPr>
            <a:r>
              <a:rPr b="1" i="0" lang="en-US" sz="850" u="none" cap="none" strike="noStrike">
                <a:solidFill>
                  <a:srgbClr val="0B1D3A"/>
                </a:solidFill>
                <a:latin typeface="Gill Sans"/>
                <a:ea typeface="Gill Sans"/>
                <a:cs typeface="Gill Sans"/>
                <a:sym typeface="Gill Sans"/>
              </a:rPr>
              <a:t>International flight schedule</a:t>
            </a:r>
            <a:endParaRPr b="0" i="0" sz="850" u="none" cap="none" strike="noStrike">
              <a:solidFill>
                <a:schemeClr val="dk1"/>
              </a:solidFill>
              <a:latin typeface="Gill Sans"/>
              <a:ea typeface="Gill Sans"/>
              <a:cs typeface="Gill Sans"/>
              <a:sym typeface="Gill Sans"/>
            </a:endParaRPr>
          </a:p>
        </p:txBody>
      </p:sp>
      <p:sp>
        <p:nvSpPr>
          <p:cNvPr id="51" name="Google Shape;51;p3"/>
          <p:cNvSpPr/>
          <p:nvPr/>
        </p:nvSpPr>
        <p:spPr>
          <a:xfrm>
            <a:off x="3200400" y="1399032"/>
            <a:ext cx="5394960" cy="19202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C3E50"/>
              </a:buClr>
              <a:buSzPts val="850"/>
              <a:buFont typeface="Calibri"/>
              <a:buNone/>
            </a:pPr>
            <a:r>
              <a:rPr b="0" i="0" lang="en-US" sz="850" u="none" cap="none" strike="noStrike">
                <a:solidFill>
                  <a:srgbClr val="2C3E50"/>
                </a:solidFill>
                <a:latin typeface="Gill Sans"/>
                <a:ea typeface="Gill Sans"/>
                <a:cs typeface="Gill Sans"/>
                <a:sym typeface="Gill Sans"/>
              </a:rPr>
              <a:t>Peak hour arrivals, aircraft types (A380 vs 737 = very different pax volumes), seasonal variation</a:t>
            </a:r>
            <a:endParaRPr b="0" i="0" sz="850" u="none" cap="none" strike="noStrike">
              <a:solidFill>
                <a:schemeClr val="dk1"/>
              </a:solidFill>
              <a:latin typeface="Gill Sans"/>
              <a:ea typeface="Gill Sans"/>
              <a:cs typeface="Gill Sans"/>
              <a:sym typeface="Gill Sans"/>
            </a:endParaRPr>
          </a:p>
        </p:txBody>
      </p:sp>
      <p:sp>
        <p:nvSpPr>
          <p:cNvPr id="52" name="Google Shape;52;p3"/>
          <p:cNvSpPr/>
          <p:nvPr/>
        </p:nvSpPr>
        <p:spPr>
          <a:xfrm>
            <a:off x="713232" y="1600200"/>
            <a:ext cx="7955280" cy="192024"/>
          </a:xfrm>
          <a:prstGeom prst="rect">
            <a:avLst/>
          </a:pr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3" name="Google Shape;53;p3"/>
          <p:cNvSpPr/>
          <p:nvPr/>
        </p:nvSpPr>
        <p:spPr>
          <a:xfrm>
            <a:off x="777240" y="1600200"/>
            <a:ext cx="2377440" cy="19202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B1D3A"/>
              </a:buClr>
              <a:buSzPts val="850"/>
              <a:buFont typeface="Calibri"/>
              <a:buNone/>
            </a:pPr>
            <a:r>
              <a:rPr b="1" i="0" lang="en-US" sz="850" u="none" cap="none" strike="noStrike">
                <a:solidFill>
                  <a:srgbClr val="0B1D3A"/>
                </a:solidFill>
                <a:latin typeface="Gill Sans"/>
                <a:ea typeface="Gill Sans"/>
                <a:cs typeface="Gill Sans"/>
                <a:sym typeface="Gill Sans"/>
              </a:rPr>
              <a:t>Seat load factors &amp; nationality mix</a:t>
            </a:r>
            <a:endParaRPr b="0" i="0" sz="850" u="none" cap="none" strike="noStrike">
              <a:solidFill>
                <a:schemeClr val="dk1"/>
              </a:solidFill>
              <a:latin typeface="Gill Sans"/>
              <a:ea typeface="Gill Sans"/>
              <a:cs typeface="Gill Sans"/>
              <a:sym typeface="Gill Sans"/>
            </a:endParaRPr>
          </a:p>
        </p:txBody>
      </p:sp>
      <p:sp>
        <p:nvSpPr>
          <p:cNvPr id="54" name="Google Shape;54;p3"/>
          <p:cNvSpPr/>
          <p:nvPr/>
        </p:nvSpPr>
        <p:spPr>
          <a:xfrm>
            <a:off x="3200400" y="1600200"/>
            <a:ext cx="5394960" cy="19202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C3E50"/>
              </a:buClr>
              <a:buSzPts val="850"/>
              <a:buFont typeface="Calibri"/>
              <a:buNone/>
            </a:pPr>
            <a:r>
              <a:rPr b="0" i="0" lang="en-US" sz="850" u="none" cap="none" strike="noStrike">
                <a:solidFill>
                  <a:srgbClr val="2C3E50"/>
                </a:solidFill>
                <a:latin typeface="Gill Sans"/>
                <a:ea typeface="Gill Sans"/>
                <a:cs typeface="Gill Sans"/>
                <a:sym typeface="Gill Sans"/>
              </a:rPr>
              <a:t>Determines e gates vs manned desk vs special assistance routing for each flight</a:t>
            </a:r>
            <a:endParaRPr b="0" i="0" sz="850" u="none" cap="none" strike="noStrike">
              <a:solidFill>
                <a:schemeClr val="dk1"/>
              </a:solidFill>
              <a:latin typeface="Gill Sans"/>
              <a:ea typeface="Gill Sans"/>
              <a:cs typeface="Gill Sans"/>
              <a:sym typeface="Gill Sans"/>
            </a:endParaRPr>
          </a:p>
        </p:txBody>
      </p:sp>
      <p:sp>
        <p:nvSpPr>
          <p:cNvPr id="55" name="Google Shape;55;p3"/>
          <p:cNvSpPr/>
          <p:nvPr/>
        </p:nvSpPr>
        <p:spPr>
          <a:xfrm>
            <a:off x="713232" y="1801368"/>
            <a:ext cx="7955280" cy="192024"/>
          </a:xfrm>
          <a:prstGeom prst="rect">
            <a:avLst/>
          </a:prstGeom>
          <a:solidFill>
            <a:srgbClr val="EAF4F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6" name="Google Shape;56;p3"/>
          <p:cNvSpPr/>
          <p:nvPr/>
        </p:nvSpPr>
        <p:spPr>
          <a:xfrm>
            <a:off x="777240" y="1801368"/>
            <a:ext cx="2377440" cy="19202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B1D3A"/>
              </a:buClr>
              <a:buSzPts val="850"/>
              <a:buFont typeface="Calibri"/>
              <a:buNone/>
            </a:pPr>
            <a:r>
              <a:rPr b="1" i="0" lang="en-US" sz="850" u="none" cap="none" strike="noStrike">
                <a:solidFill>
                  <a:srgbClr val="0B1D3A"/>
                </a:solidFill>
                <a:latin typeface="Gill Sans"/>
                <a:ea typeface="Gill Sans"/>
                <a:cs typeface="Gill Sans"/>
                <a:sym typeface="Gill Sans"/>
              </a:rPr>
              <a:t>Contact stand vs remote stand split</a:t>
            </a:r>
            <a:endParaRPr b="0" i="0" sz="850" u="none" cap="none" strike="noStrike">
              <a:solidFill>
                <a:schemeClr val="dk1"/>
              </a:solidFill>
              <a:latin typeface="Gill Sans"/>
              <a:ea typeface="Gill Sans"/>
              <a:cs typeface="Gill Sans"/>
              <a:sym typeface="Gill Sans"/>
            </a:endParaRPr>
          </a:p>
        </p:txBody>
      </p:sp>
      <p:sp>
        <p:nvSpPr>
          <p:cNvPr id="57" name="Google Shape;57;p3"/>
          <p:cNvSpPr/>
          <p:nvPr/>
        </p:nvSpPr>
        <p:spPr>
          <a:xfrm>
            <a:off x="3200400" y="1801368"/>
            <a:ext cx="5394960" cy="19202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C3E50"/>
              </a:buClr>
              <a:buSzPts val="850"/>
              <a:buFont typeface="Calibri"/>
              <a:buNone/>
            </a:pPr>
            <a:r>
              <a:rPr b="0" i="0" lang="en-US" sz="850" u="none" cap="none" strike="noStrike">
                <a:solidFill>
                  <a:srgbClr val="2C3E50"/>
                </a:solidFill>
                <a:latin typeface="Gill Sans"/>
                <a:ea typeface="Gill Sans"/>
                <a:cs typeface="Gill Sans"/>
                <a:sym typeface="Gill Sans"/>
              </a:rPr>
              <a:t>Remote stands trigger coach transfers (96 pax batch for 1 bus) vs continuous airbridge flow or via steps</a:t>
            </a:r>
            <a:endParaRPr b="0" i="0" sz="850" u="none" cap="none" strike="noStrike">
              <a:solidFill>
                <a:schemeClr val="dk1"/>
              </a:solidFill>
              <a:latin typeface="Gill Sans"/>
              <a:ea typeface="Gill Sans"/>
              <a:cs typeface="Gill Sans"/>
              <a:sym typeface="Gill Sans"/>
            </a:endParaRPr>
          </a:p>
        </p:txBody>
      </p:sp>
      <p:sp>
        <p:nvSpPr>
          <p:cNvPr id="58" name="Google Shape;58;p3"/>
          <p:cNvSpPr/>
          <p:nvPr/>
        </p:nvSpPr>
        <p:spPr>
          <a:xfrm>
            <a:off x="713232" y="2002536"/>
            <a:ext cx="7955280" cy="192024"/>
          </a:xfrm>
          <a:prstGeom prst="rect">
            <a:avLst/>
          </a:pr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9" name="Google Shape;59;p3"/>
          <p:cNvSpPr/>
          <p:nvPr/>
        </p:nvSpPr>
        <p:spPr>
          <a:xfrm>
            <a:off x="777240" y="2002536"/>
            <a:ext cx="2377440" cy="19202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B1D3A"/>
              </a:buClr>
              <a:buSzPts val="850"/>
              <a:buFont typeface="Calibri"/>
              <a:buNone/>
            </a:pPr>
            <a:r>
              <a:rPr b="1" i="0" lang="en-US" sz="850" u="none" cap="none" strike="noStrike">
                <a:solidFill>
                  <a:srgbClr val="0B1D3A"/>
                </a:solidFill>
                <a:latin typeface="Gill Sans"/>
                <a:ea typeface="Gill Sans"/>
                <a:cs typeface="Gill Sans"/>
                <a:sym typeface="Gill Sans"/>
              </a:rPr>
              <a:t>Coach frequency from remote stands</a:t>
            </a:r>
            <a:endParaRPr b="0" i="0" sz="850" u="none" cap="none" strike="noStrike">
              <a:solidFill>
                <a:schemeClr val="dk1"/>
              </a:solidFill>
              <a:latin typeface="Gill Sans"/>
              <a:ea typeface="Gill Sans"/>
              <a:cs typeface="Gill Sans"/>
              <a:sym typeface="Gill Sans"/>
            </a:endParaRPr>
          </a:p>
        </p:txBody>
      </p:sp>
      <p:sp>
        <p:nvSpPr>
          <p:cNvPr id="60" name="Google Shape;60;p3"/>
          <p:cNvSpPr/>
          <p:nvPr/>
        </p:nvSpPr>
        <p:spPr>
          <a:xfrm>
            <a:off x="3200400" y="2002536"/>
            <a:ext cx="5394960" cy="19202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C3E50"/>
              </a:buClr>
              <a:buSzPts val="850"/>
              <a:buFont typeface="Calibri"/>
              <a:buNone/>
            </a:pPr>
            <a:r>
              <a:rPr b="0" i="0" lang="en-US" sz="850" u="none" cap="none" strike="noStrike">
                <a:solidFill>
                  <a:srgbClr val="2C3E50"/>
                </a:solidFill>
                <a:latin typeface="Gill Sans"/>
                <a:ea typeface="Gill Sans"/>
                <a:cs typeface="Gill Sans"/>
                <a:sym typeface="Gill Sans"/>
              </a:rPr>
              <a:t>Controls the arrival pulse timing 96 pax from 1 Bus or more buses hitting immigration hall at once</a:t>
            </a:r>
            <a:endParaRPr b="0" i="0" sz="850" u="none" cap="none" strike="noStrike">
              <a:solidFill>
                <a:schemeClr val="dk1"/>
              </a:solidFill>
              <a:latin typeface="Gill Sans"/>
              <a:ea typeface="Gill Sans"/>
              <a:cs typeface="Gill Sans"/>
              <a:sym typeface="Gill Sans"/>
            </a:endParaRPr>
          </a:p>
        </p:txBody>
      </p:sp>
      <p:sp>
        <p:nvSpPr>
          <p:cNvPr id="61" name="Google Shape;61;p3"/>
          <p:cNvSpPr/>
          <p:nvPr/>
        </p:nvSpPr>
        <p:spPr>
          <a:xfrm>
            <a:off x="548640" y="2377440"/>
            <a:ext cx="8229600" cy="1188720"/>
          </a:xfrm>
          <a:prstGeom prst="rect">
            <a:avLst/>
          </a:prstGeom>
          <a:solidFill>
            <a:srgbClr val="FFFFFF"/>
          </a:solidFill>
          <a:ln cap="flat" cmpd="sng" w="9525">
            <a:solidFill>
              <a:srgbClr val="E8E8E8"/>
            </a:solidFill>
            <a:prstDash val="solid"/>
            <a:round/>
            <a:headEnd len="sm" w="sm" type="none"/>
            <a:tailEnd len="sm" w="sm" type="none"/>
          </a:ln>
          <a:effectLst>
            <a:outerShdw blurRad="76200" rotWithShape="0" algn="bl" dir="8100000" dist="25400">
              <a:srgbClr val="000000">
                <a:alpha val="12157"/>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2" name="Google Shape;62;p3"/>
          <p:cNvSpPr/>
          <p:nvPr/>
        </p:nvSpPr>
        <p:spPr>
          <a:xfrm>
            <a:off x="548640" y="2377440"/>
            <a:ext cx="54864" cy="1188720"/>
          </a:xfrm>
          <a:prstGeom prst="rect">
            <a:avLst/>
          </a:pr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descr="preencoded.png" id="63" name="Google Shape;63;p3"/>
          <p:cNvPicPr preferRelativeResize="0"/>
          <p:nvPr/>
        </p:nvPicPr>
        <p:blipFill rotWithShape="1">
          <a:blip r:embed="rId4">
            <a:alphaModFix/>
          </a:blip>
          <a:srcRect b="0" l="0" r="0" t="0"/>
          <a:stretch/>
        </p:blipFill>
        <p:spPr>
          <a:xfrm>
            <a:off x="731520" y="2450592"/>
            <a:ext cx="219456" cy="219456"/>
          </a:xfrm>
          <a:prstGeom prst="rect">
            <a:avLst/>
          </a:prstGeom>
          <a:noFill/>
          <a:ln>
            <a:noFill/>
          </a:ln>
        </p:spPr>
      </p:pic>
      <p:sp>
        <p:nvSpPr>
          <p:cNvPr id="64" name="Google Shape;64;p3"/>
          <p:cNvSpPr/>
          <p:nvPr/>
        </p:nvSpPr>
        <p:spPr>
          <a:xfrm>
            <a:off x="1024128" y="2414016"/>
            <a:ext cx="73152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B1D3A"/>
              </a:buClr>
              <a:buSzPts val="1200"/>
              <a:buFont typeface="Calibri"/>
              <a:buNone/>
            </a:pPr>
            <a:r>
              <a:rPr b="1" i="0" lang="en-US" sz="1200" u="none" cap="none" strike="noStrike">
                <a:solidFill>
                  <a:schemeClr val="dk1"/>
                </a:solidFill>
                <a:latin typeface="Calibri"/>
                <a:ea typeface="Calibri"/>
                <a:cs typeface="Calibri"/>
                <a:sym typeface="Calibri"/>
              </a:rPr>
              <a:t>Processing Times at Immigration Hall ( How fast is each step?)</a:t>
            </a:r>
            <a:endParaRPr b="0" i="0" sz="1200" u="none" cap="none" strike="noStrike">
              <a:solidFill>
                <a:schemeClr val="dk1"/>
              </a:solidFill>
              <a:latin typeface="Calibri"/>
              <a:ea typeface="Calibri"/>
              <a:cs typeface="Calibri"/>
              <a:sym typeface="Calibri"/>
            </a:endParaRPr>
          </a:p>
        </p:txBody>
      </p:sp>
      <p:sp>
        <p:nvSpPr>
          <p:cNvPr id="65" name="Google Shape;65;p3"/>
          <p:cNvSpPr/>
          <p:nvPr/>
        </p:nvSpPr>
        <p:spPr>
          <a:xfrm>
            <a:off x="713232" y="2724912"/>
            <a:ext cx="7955280" cy="192024"/>
          </a:xfrm>
          <a:prstGeom prst="rect">
            <a:avLst/>
          </a:prstGeom>
          <a:solidFill>
            <a:srgbClr val="EAF4F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6" name="Google Shape;66;p3"/>
          <p:cNvSpPr/>
          <p:nvPr/>
        </p:nvSpPr>
        <p:spPr>
          <a:xfrm>
            <a:off x="777240" y="2724912"/>
            <a:ext cx="2377440" cy="19202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B1D3A"/>
              </a:buClr>
              <a:buSzPts val="850"/>
              <a:buFont typeface="Calibri"/>
              <a:buNone/>
            </a:pPr>
            <a:r>
              <a:rPr b="1" i="0" lang="en-US" sz="850" u="none" cap="none" strike="noStrike">
                <a:solidFill>
                  <a:srgbClr val="0B1D3A"/>
                </a:solidFill>
                <a:latin typeface="Gill Sans"/>
                <a:ea typeface="Gill Sans"/>
                <a:cs typeface="Gill Sans"/>
                <a:sym typeface="Gill Sans"/>
              </a:rPr>
              <a:t>E-gate cycle time</a:t>
            </a:r>
            <a:endParaRPr b="0" i="0" sz="850" u="none" cap="none" strike="noStrike">
              <a:solidFill>
                <a:schemeClr val="dk1"/>
              </a:solidFill>
              <a:latin typeface="Gill Sans"/>
              <a:ea typeface="Gill Sans"/>
              <a:cs typeface="Gill Sans"/>
              <a:sym typeface="Gill Sans"/>
            </a:endParaRPr>
          </a:p>
        </p:txBody>
      </p:sp>
      <p:sp>
        <p:nvSpPr>
          <p:cNvPr id="67" name="Google Shape;67;p3"/>
          <p:cNvSpPr/>
          <p:nvPr/>
        </p:nvSpPr>
        <p:spPr>
          <a:xfrm>
            <a:off x="3200400" y="2724912"/>
            <a:ext cx="5394960" cy="19202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C3E50"/>
              </a:buClr>
              <a:buSzPts val="850"/>
              <a:buFont typeface="Calibri"/>
              <a:buNone/>
            </a:pPr>
            <a:r>
              <a:rPr b="0" i="0" lang="en-US" sz="850" u="none" cap="none" strike="noStrike">
                <a:solidFill>
                  <a:srgbClr val="2C3E50"/>
                </a:solidFill>
                <a:latin typeface="Gill Sans"/>
                <a:ea typeface="Gill Sans"/>
                <a:cs typeface="Gill Sans"/>
                <a:sym typeface="Gill Sans"/>
              </a:rPr>
              <a:t>Eligible Biometric Passports (Biometric scan + e-gates open/close will typically take under 60 seconds per passenger?</a:t>
            </a:r>
            <a:endParaRPr b="0" i="0" sz="850" u="none" cap="none" strike="noStrike">
              <a:solidFill>
                <a:schemeClr val="dk1"/>
              </a:solidFill>
              <a:latin typeface="Gill Sans"/>
              <a:ea typeface="Gill Sans"/>
              <a:cs typeface="Gill Sans"/>
              <a:sym typeface="Gill Sans"/>
            </a:endParaRPr>
          </a:p>
        </p:txBody>
      </p:sp>
      <p:sp>
        <p:nvSpPr>
          <p:cNvPr id="68" name="Google Shape;68;p3"/>
          <p:cNvSpPr/>
          <p:nvPr/>
        </p:nvSpPr>
        <p:spPr>
          <a:xfrm>
            <a:off x="713232" y="2926080"/>
            <a:ext cx="7955280" cy="192024"/>
          </a:xfrm>
          <a:prstGeom prst="rect">
            <a:avLst/>
          </a:pr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9" name="Google Shape;69;p3"/>
          <p:cNvSpPr/>
          <p:nvPr/>
        </p:nvSpPr>
        <p:spPr>
          <a:xfrm>
            <a:off x="777240" y="2926080"/>
            <a:ext cx="2377440" cy="19202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B1D3A"/>
              </a:buClr>
              <a:buSzPts val="850"/>
              <a:buFont typeface="Calibri"/>
              <a:buNone/>
            </a:pPr>
            <a:r>
              <a:rPr b="1" i="0" lang="en-US" sz="850" u="none" cap="none" strike="noStrike">
                <a:solidFill>
                  <a:srgbClr val="0B1D3A"/>
                </a:solidFill>
                <a:latin typeface="Gill Sans"/>
                <a:ea typeface="Gill Sans"/>
                <a:cs typeface="Gill Sans"/>
                <a:sym typeface="Gill Sans"/>
              </a:rPr>
              <a:t>Manned desk time by passport type</a:t>
            </a:r>
            <a:endParaRPr b="0" i="0" sz="850" u="none" cap="none" strike="noStrike">
              <a:solidFill>
                <a:schemeClr val="dk1"/>
              </a:solidFill>
              <a:latin typeface="Gill Sans"/>
              <a:ea typeface="Gill Sans"/>
              <a:cs typeface="Gill Sans"/>
              <a:sym typeface="Gill Sans"/>
            </a:endParaRPr>
          </a:p>
        </p:txBody>
      </p:sp>
      <p:sp>
        <p:nvSpPr>
          <p:cNvPr id="70" name="Google Shape;70;p3"/>
          <p:cNvSpPr/>
          <p:nvPr/>
        </p:nvSpPr>
        <p:spPr>
          <a:xfrm>
            <a:off x="3200400" y="2926080"/>
            <a:ext cx="5394960" cy="19202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C3E50"/>
              </a:buClr>
              <a:buSzPts val="850"/>
              <a:buFont typeface="Calibri"/>
              <a:buNone/>
            </a:pPr>
            <a:r>
              <a:rPr b="0" i="0" lang="en-US" sz="850" u="none" cap="none" strike="noStrike">
                <a:solidFill>
                  <a:srgbClr val="2C3E50"/>
                </a:solidFill>
                <a:latin typeface="Gill Sans"/>
                <a:ea typeface="Gill Sans"/>
                <a:cs typeface="Gill Sans"/>
                <a:sym typeface="Gill Sans"/>
              </a:rPr>
              <a:t>Non-EU (3–4min), Eligible Passport with Visas needs stamping</a:t>
            </a:r>
            <a:endParaRPr b="0" i="0" sz="850" u="none" cap="none" strike="noStrike">
              <a:solidFill>
                <a:schemeClr val="dk1"/>
              </a:solidFill>
              <a:latin typeface="Gill Sans"/>
              <a:ea typeface="Gill Sans"/>
              <a:cs typeface="Gill Sans"/>
              <a:sym typeface="Gill Sans"/>
            </a:endParaRPr>
          </a:p>
        </p:txBody>
      </p:sp>
      <p:sp>
        <p:nvSpPr>
          <p:cNvPr id="71" name="Google Shape;71;p3"/>
          <p:cNvSpPr/>
          <p:nvPr/>
        </p:nvSpPr>
        <p:spPr>
          <a:xfrm>
            <a:off x="713232" y="3127248"/>
            <a:ext cx="7955280" cy="192024"/>
          </a:xfrm>
          <a:prstGeom prst="rect">
            <a:avLst/>
          </a:prstGeom>
          <a:solidFill>
            <a:srgbClr val="EAF4F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2" name="Google Shape;72;p3"/>
          <p:cNvSpPr/>
          <p:nvPr/>
        </p:nvSpPr>
        <p:spPr>
          <a:xfrm>
            <a:off x="777240" y="3127248"/>
            <a:ext cx="2377440" cy="19202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B1D3A"/>
              </a:buClr>
              <a:buSzPts val="850"/>
              <a:buFont typeface="Calibri"/>
              <a:buNone/>
            </a:pPr>
            <a:r>
              <a:rPr b="1" i="0" lang="en-US" sz="850" u="none" cap="none" strike="noStrike">
                <a:solidFill>
                  <a:srgbClr val="0B1D3A"/>
                </a:solidFill>
                <a:latin typeface="Gill Sans"/>
                <a:ea typeface="Gill Sans"/>
                <a:cs typeface="Gill Sans"/>
                <a:sym typeface="Gill Sans"/>
              </a:rPr>
              <a:t>Special assistance lane service time</a:t>
            </a:r>
            <a:endParaRPr b="0" i="0" sz="850" u="none" cap="none" strike="noStrike">
              <a:solidFill>
                <a:schemeClr val="dk1"/>
              </a:solidFill>
              <a:latin typeface="Gill Sans"/>
              <a:ea typeface="Gill Sans"/>
              <a:cs typeface="Gill Sans"/>
              <a:sym typeface="Gill Sans"/>
            </a:endParaRPr>
          </a:p>
        </p:txBody>
      </p:sp>
      <p:sp>
        <p:nvSpPr>
          <p:cNvPr id="73" name="Google Shape;73;p3"/>
          <p:cNvSpPr/>
          <p:nvPr/>
        </p:nvSpPr>
        <p:spPr>
          <a:xfrm>
            <a:off x="3200400" y="3127248"/>
            <a:ext cx="5394960" cy="19202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C3E50"/>
              </a:buClr>
              <a:buSzPts val="850"/>
              <a:buFont typeface="Calibri"/>
              <a:buNone/>
            </a:pPr>
            <a:r>
              <a:rPr b="0" i="0" lang="en-US" sz="850" u="none" cap="none" strike="noStrike">
                <a:solidFill>
                  <a:srgbClr val="2C3E50"/>
                </a:solidFill>
                <a:latin typeface="Gill Sans"/>
                <a:ea typeface="Gill Sans"/>
                <a:cs typeface="Gill Sans"/>
                <a:sym typeface="Gill Sans"/>
              </a:rPr>
              <a:t>PRM’s, Unaccompanied Minors escort handoff + processing will take longer per pax, do we have dedicated lane capacity?</a:t>
            </a:r>
            <a:endParaRPr b="0" i="0" sz="850" u="none" cap="none" strike="noStrike">
              <a:solidFill>
                <a:schemeClr val="dk1"/>
              </a:solidFill>
              <a:latin typeface="Gill Sans"/>
              <a:ea typeface="Gill Sans"/>
              <a:cs typeface="Gill Sans"/>
              <a:sym typeface="Gill Sans"/>
            </a:endParaRPr>
          </a:p>
        </p:txBody>
      </p:sp>
      <p:sp>
        <p:nvSpPr>
          <p:cNvPr id="74" name="Google Shape;74;p3"/>
          <p:cNvSpPr/>
          <p:nvPr/>
        </p:nvSpPr>
        <p:spPr>
          <a:xfrm>
            <a:off x="713232" y="3328416"/>
            <a:ext cx="7955280" cy="192024"/>
          </a:xfrm>
          <a:prstGeom prst="rect">
            <a:avLst/>
          </a:pr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5" name="Google Shape;75;p3"/>
          <p:cNvSpPr/>
          <p:nvPr/>
        </p:nvSpPr>
        <p:spPr>
          <a:xfrm>
            <a:off x="777240" y="3328416"/>
            <a:ext cx="2377440" cy="19202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B1D3A"/>
              </a:buClr>
              <a:buSzPts val="850"/>
              <a:buFont typeface="Calibri"/>
              <a:buNone/>
            </a:pPr>
            <a:r>
              <a:rPr b="1" i="0" lang="en-US" sz="850" u="none" cap="none" strike="noStrike">
                <a:solidFill>
                  <a:srgbClr val="0B1D3A"/>
                </a:solidFill>
                <a:latin typeface="Gill Sans"/>
                <a:ea typeface="Gill Sans"/>
                <a:cs typeface="Gill Sans"/>
                <a:sym typeface="Gill Sans"/>
              </a:rPr>
              <a:t>First bag / last bag delivery curves</a:t>
            </a:r>
            <a:endParaRPr b="0" i="0" sz="850" u="none" cap="none" strike="noStrike">
              <a:solidFill>
                <a:schemeClr val="dk1"/>
              </a:solidFill>
              <a:latin typeface="Gill Sans"/>
              <a:ea typeface="Gill Sans"/>
              <a:cs typeface="Gill Sans"/>
              <a:sym typeface="Gill Sans"/>
            </a:endParaRPr>
          </a:p>
        </p:txBody>
      </p:sp>
      <p:sp>
        <p:nvSpPr>
          <p:cNvPr id="76" name="Google Shape;76;p3"/>
          <p:cNvSpPr/>
          <p:nvPr/>
        </p:nvSpPr>
        <p:spPr>
          <a:xfrm>
            <a:off x="3200400" y="3328416"/>
            <a:ext cx="5394960" cy="19202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C3E50"/>
              </a:buClr>
              <a:buSzPts val="850"/>
              <a:buFont typeface="Calibri"/>
              <a:buNone/>
            </a:pPr>
            <a:r>
              <a:rPr b="0" i="0" lang="en-US" sz="850" u="none" cap="none" strike="noStrike">
                <a:solidFill>
                  <a:srgbClr val="2C3E50"/>
                </a:solidFill>
                <a:latin typeface="Gill Sans"/>
                <a:ea typeface="Gill Sans"/>
                <a:cs typeface="Gill Sans"/>
                <a:sym typeface="Gill Sans"/>
              </a:rPr>
              <a:t>Time from aircraft arrival to first bag on belt and gap to last bag will vary depending by the aircraft type</a:t>
            </a:r>
            <a:endParaRPr b="0" i="0" sz="850" u="none" cap="none" strike="noStrike">
              <a:solidFill>
                <a:schemeClr val="dk1"/>
              </a:solidFill>
              <a:latin typeface="Gill Sans"/>
              <a:ea typeface="Gill Sans"/>
              <a:cs typeface="Gill Sans"/>
              <a:sym typeface="Gill Sans"/>
            </a:endParaRPr>
          </a:p>
        </p:txBody>
      </p:sp>
      <p:sp>
        <p:nvSpPr>
          <p:cNvPr id="77" name="Google Shape;77;p3"/>
          <p:cNvSpPr/>
          <p:nvPr/>
        </p:nvSpPr>
        <p:spPr>
          <a:xfrm>
            <a:off x="548640" y="3703320"/>
            <a:ext cx="8229600" cy="1188720"/>
          </a:xfrm>
          <a:prstGeom prst="rect">
            <a:avLst/>
          </a:prstGeom>
          <a:solidFill>
            <a:srgbClr val="FFFFFF"/>
          </a:solidFill>
          <a:ln cap="flat" cmpd="sng" w="9525">
            <a:solidFill>
              <a:srgbClr val="E8E8E8"/>
            </a:solidFill>
            <a:prstDash val="solid"/>
            <a:round/>
            <a:headEnd len="sm" w="sm" type="none"/>
            <a:tailEnd len="sm" w="sm" type="none"/>
          </a:ln>
          <a:effectLst>
            <a:outerShdw blurRad="76200" rotWithShape="0" algn="bl" dir="8100000" dist="25400">
              <a:srgbClr val="000000">
                <a:alpha val="12157"/>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8" name="Google Shape;78;p3"/>
          <p:cNvSpPr/>
          <p:nvPr/>
        </p:nvSpPr>
        <p:spPr>
          <a:xfrm>
            <a:off x="548640" y="3703320"/>
            <a:ext cx="54864" cy="1188720"/>
          </a:xfrm>
          <a:prstGeom prst="rect">
            <a:avLst/>
          </a:pr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descr="preencoded.png" id="79" name="Google Shape;79;p3"/>
          <p:cNvPicPr preferRelativeResize="0"/>
          <p:nvPr/>
        </p:nvPicPr>
        <p:blipFill rotWithShape="1">
          <a:blip r:embed="rId5">
            <a:alphaModFix/>
          </a:blip>
          <a:srcRect b="0" l="0" r="0" t="0"/>
          <a:stretch/>
        </p:blipFill>
        <p:spPr>
          <a:xfrm>
            <a:off x="731520" y="3776472"/>
            <a:ext cx="219456" cy="219456"/>
          </a:xfrm>
          <a:prstGeom prst="rect">
            <a:avLst/>
          </a:prstGeom>
          <a:noFill/>
          <a:ln>
            <a:noFill/>
          </a:ln>
        </p:spPr>
      </p:pic>
      <p:sp>
        <p:nvSpPr>
          <p:cNvPr id="80" name="Google Shape;80;p3"/>
          <p:cNvSpPr/>
          <p:nvPr/>
        </p:nvSpPr>
        <p:spPr>
          <a:xfrm>
            <a:off x="1024128" y="3739896"/>
            <a:ext cx="73152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B1D3A"/>
              </a:buClr>
              <a:buSzPts val="1200"/>
              <a:buFont typeface="Calibri"/>
              <a:buNone/>
            </a:pPr>
            <a:r>
              <a:rPr b="0" i="0" lang="en-US" sz="1200" u="none" cap="none" strike="noStrike">
                <a:solidFill>
                  <a:schemeClr val="dk1"/>
                </a:solidFill>
                <a:latin typeface="Calibri"/>
                <a:ea typeface="Calibri"/>
                <a:cs typeface="Calibri"/>
                <a:sym typeface="Calibri"/>
              </a:rPr>
              <a:t>Infrastructure &amp; Capacity (What are the physical limits?)</a:t>
            </a:r>
            <a:endParaRPr b="0" i="0" sz="1200" u="none" cap="none" strike="noStrike">
              <a:solidFill>
                <a:schemeClr val="dk1"/>
              </a:solidFill>
              <a:latin typeface="Calibri"/>
              <a:ea typeface="Calibri"/>
              <a:cs typeface="Calibri"/>
              <a:sym typeface="Calibri"/>
            </a:endParaRPr>
          </a:p>
        </p:txBody>
      </p:sp>
      <p:sp>
        <p:nvSpPr>
          <p:cNvPr id="81" name="Google Shape;81;p3"/>
          <p:cNvSpPr/>
          <p:nvPr/>
        </p:nvSpPr>
        <p:spPr>
          <a:xfrm>
            <a:off x="713232" y="4050792"/>
            <a:ext cx="7955280" cy="192024"/>
          </a:xfrm>
          <a:prstGeom prst="rect">
            <a:avLst/>
          </a:prstGeom>
          <a:solidFill>
            <a:srgbClr val="EAF4F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2" name="Google Shape;82;p3"/>
          <p:cNvSpPr/>
          <p:nvPr/>
        </p:nvSpPr>
        <p:spPr>
          <a:xfrm>
            <a:off x="777240" y="4050792"/>
            <a:ext cx="2377440" cy="19202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B1D3A"/>
              </a:buClr>
              <a:buSzPts val="850"/>
              <a:buFont typeface="Calibri"/>
              <a:buNone/>
            </a:pPr>
            <a:r>
              <a:rPr b="1" i="0" lang="en-US" sz="850" u="none" cap="none" strike="noStrike">
                <a:solidFill>
                  <a:srgbClr val="0B1D3A"/>
                </a:solidFill>
                <a:latin typeface="Gill Sans"/>
                <a:ea typeface="Gill Sans"/>
                <a:cs typeface="Gill Sans"/>
                <a:sym typeface="Gill Sans"/>
              </a:rPr>
              <a:t>Number of e gates &amp; manned desks</a:t>
            </a:r>
            <a:endParaRPr b="0" i="0" sz="850" u="none" cap="none" strike="noStrike">
              <a:solidFill>
                <a:schemeClr val="dk1"/>
              </a:solidFill>
              <a:latin typeface="Gill Sans"/>
              <a:ea typeface="Gill Sans"/>
              <a:cs typeface="Gill Sans"/>
              <a:sym typeface="Gill Sans"/>
            </a:endParaRPr>
          </a:p>
        </p:txBody>
      </p:sp>
      <p:sp>
        <p:nvSpPr>
          <p:cNvPr id="83" name="Google Shape;83;p3"/>
          <p:cNvSpPr/>
          <p:nvPr/>
        </p:nvSpPr>
        <p:spPr>
          <a:xfrm>
            <a:off x="3200400" y="4050792"/>
            <a:ext cx="5394960" cy="19202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C3E50"/>
              </a:buClr>
              <a:buSzPts val="850"/>
              <a:buFont typeface="Calibri"/>
              <a:buNone/>
            </a:pPr>
            <a:r>
              <a:rPr b="0" i="0" lang="en-US" sz="850" u="none" cap="none" strike="noStrike">
                <a:solidFill>
                  <a:srgbClr val="2C3E50"/>
                </a:solidFill>
                <a:latin typeface="Calibri"/>
                <a:ea typeface="Calibri"/>
                <a:cs typeface="Calibri"/>
                <a:sym typeface="Calibri"/>
              </a:rPr>
              <a:t>The new layout doesn’t specify the actual numbers, this directly sets passport control throughput capacity</a:t>
            </a:r>
            <a:endParaRPr b="0" i="0" sz="850" u="none" cap="none" strike="noStrike">
              <a:solidFill>
                <a:schemeClr val="dk1"/>
              </a:solidFill>
              <a:latin typeface="Calibri"/>
              <a:ea typeface="Calibri"/>
              <a:cs typeface="Calibri"/>
              <a:sym typeface="Calibri"/>
            </a:endParaRPr>
          </a:p>
        </p:txBody>
      </p:sp>
      <p:sp>
        <p:nvSpPr>
          <p:cNvPr id="84" name="Google Shape;84;p3"/>
          <p:cNvSpPr/>
          <p:nvPr/>
        </p:nvSpPr>
        <p:spPr>
          <a:xfrm>
            <a:off x="713232" y="4251960"/>
            <a:ext cx="7955280" cy="192024"/>
          </a:xfrm>
          <a:prstGeom prst="rect">
            <a:avLst/>
          </a:pr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5" name="Google Shape;85;p3"/>
          <p:cNvSpPr/>
          <p:nvPr/>
        </p:nvSpPr>
        <p:spPr>
          <a:xfrm>
            <a:off x="777240" y="4251960"/>
            <a:ext cx="2377440" cy="19202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B1D3A"/>
              </a:buClr>
              <a:buSzPts val="850"/>
              <a:buFont typeface="Calibri"/>
              <a:buNone/>
            </a:pPr>
            <a:r>
              <a:rPr b="1" i="0" lang="en-US" sz="850" u="none" cap="none" strike="noStrike">
                <a:solidFill>
                  <a:srgbClr val="0B1D3A"/>
                </a:solidFill>
                <a:latin typeface="Gill Sans"/>
                <a:ea typeface="Gill Sans"/>
                <a:cs typeface="Gill Sans"/>
                <a:sym typeface="Gill Sans"/>
              </a:rPr>
              <a:t>Queue space in a lane</a:t>
            </a:r>
            <a:endParaRPr b="0" i="0" sz="850" u="none" cap="none" strike="noStrike">
              <a:solidFill>
                <a:schemeClr val="dk1"/>
              </a:solidFill>
              <a:latin typeface="Gill Sans"/>
              <a:ea typeface="Gill Sans"/>
              <a:cs typeface="Gill Sans"/>
              <a:sym typeface="Gill Sans"/>
            </a:endParaRPr>
          </a:p>
        </p:txBody>
      </p:sp>
      <p:sp>
        <p:nvSpPr>
          <p:cNvPr id="86" name="Google Shape;86;p3"/>
          <p:cNvSpPr/>
          <p:nvPr/>
        </p:nvSpPr>
        <p:spPr>
          <a:xfrm>
            <a:off x="3200400" y="4251960"/>
            <a:ext cx="5394960" cy="19202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C3E50"/>
              </a:buClr>
              <a:buSzPts val="850"/>
              <a:buFont typeface="Calibri"/>
              <a:buNone/>
            </a:pPr>
            <a:r>
              <a:rPr b="0" i="0" lang="en-US" sz="850" u="none" cap="none" strike="noStrike">
                <a:solidFill>
                  <a:srgbClr val="2C3E50"/>
                </a:solidFill>
                <a:latin typeface="Gill Sans"/>
                <a:ea typeface="Gill Sans"/>
                <a:cs typeface="Gill Sans"/>
                <a:sym typeface="Gill Sans"/>
              </a:rPr>
              <a:t>What would be the Physical limit before overflow this will be critical for safety regulations</a:t>
            </a:r>
            <a:endParaRPr b="0" i="0" sz="850" u="none" cap="none" strike="noStrike">
              <a:solidFill>
                <a:schemeClr val="dk1"/>
              </a:solidFill>
              <a:latin typeface="Gill Sans"/>
              <a:ea typeface="Gill Sans"/>
              <a:cs typeface="Gill Sans"/>
              <a:sym typeface="Gill Sans"/>
            </a:endParaRPr>
          </a:p>
        </p:txBody>
      </p:sp>
      <p:sp>
        <p:nvSpPr>
          <p:cNvPr id="87" name="Google Shape;87;p3"/>
          <p:cNvSpPr/>
          <p:nvPr/>
        </p:nvSpPr>
        <p:spPr>
          <a:xfrm>
            <a:off x="713232" y="4453128"/>
            <a:ext cx="7955280" cy="192024"/>
          </a:xfrm>
          <a:prstGeom prst="rect">
            <a:avLst/>
          </a:prstGeom>
          <a:solidFill>
            <a:srgbClr val="EAF4F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8" name="Google Shape;88;p3"/>
          <p:cNvSpPr/>
          <p:nvPr/>
        </p:nvSpPr>
        <p:spPr>
          <a:xfrm>
            <a:off x="777240" y="4453128"/>
            <a:ext cx="2377440" cy="19202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B1D3A"/>
              </a:buClr>
              <a:buSzPts val="850"/>
              <a:buFont typeface="Calibri"/>
              <a:buNone/>
            </a:pPr>
            <a:r>
              <a:rPr b="1" i="0" lang="en-US" sz="850" u="none" cap="none" strike="noStrike">
                <a:solidFill>
                  <a:srgbClr val="0B1D3A"/>
                </a:solidFill>
                <a:latin typeface="Gill Sans"/>
                <a:ea typeface="Gill Sans"/>
                <a:cs typeface="Gill Sans"/>
                <a:sym typeface="Gill Sans"/>
              </a:rPr>
              <a:t>Belt capacity &amp; allocation rules</a:t>
            </a:r>
            <a:endParaRPr b="0" i="0" sz="850" u="none" cap="none" strike="noStrike">
              <a:solidFill>
                <a:schemeClr val="dk1"/>
              </a:solidFill>
              <a:latin typeface="Gill Sans"/>
              <a:ea typeface="Gill Sans"/>
              <a:cs typeface="Gill Sans"/>
              <a:sym typeface="Gill Sans"/>
            </a:endParaRPr>
          </a:p>
        </p:txBody>
      </p:sp>
      <p:sp>
        <p:nvSpPr>
          <p:cNvPr id="89" name="Google Shape;89;p3"/>
          <p:cNvSpPr/>
          <p:nvPr/>
        </p:nvSpPr>
        <p:spPr>
          <a:xfrm>
            <a:off x="3200400" y="4453128"/>
            <a:ext cx="5394960" cy="19202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C3E50"/>
              </a:buClr>
              <a:buSzPts val="850"/>
              <a:buFont typeface="Calibri"/>
              <a:buNone/>
            </a:pPr>
            <a:r>
              <a:rPr b="0" i="0" lang="en-US" sz="850" u="none" cap="none" strike="noStrike">
                <a:solidFill>
                  <a:srgbClr val="2C3E50"/>
                </a:solidFill>
                <a:latin typeface="Gill Sans"/>
                <a:ea typeface="Gill Sans"/>
                <a:cs typeface="Gill Sans"/>
                <a:sym typeface="Gill Sans"/>
              </a:rPr>
              <a:t>Which flights will go to which belt? Can multiple run simultaneously? What would be the changeover time?</a:t>
            </a:r>
            <a:endParaRPr b="0" i="0" sz="850" u="none" cap="none" strike="noStrike">
              <a:solidFill>
                <a:schemeClr val="dk1"/>
              </a:solidFill>
              <a:latin typeface="Gill Sans"/>
              <a:ea typeface="Gill Sans"/>
              <a:cs typeface="Gill Sans"/>
              <a:sym typeface="Gill Sans"/>
            </a:endParaRPr>
          </a:p>
        </p:txBody>
      </p:sp>
      <p:sp>
        <p:nvSpPr>
          <p:cNvPr id="90" name="Google Shape;90;p3"/>
          <p:cNvSpPr/>
          <p:nvPr/>
        </p:nvSpPr>
        <p:spPr>
          <a:xfrm>
            <a:off x="713232" y="4654296"/>
            <a:ext cx="7955280" cy="192024"/>
          </a:xfrm>
          <a:prstGeom prst="rect">
            <a:avLst/>
          </a:pr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1" name="Google Shape;91;p3"/>
          <p:cNvSpPr/>
          <p:nvPr/>
        </p:nvSpPr>
        <p:spPr>
          <a:xfrm>
            <a:off x="777240" y="4654296"/>
            <a:ext cx="2377440" cy="19202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B1D3A"/>
              </a:buClr>
              <a:buSzPts val="850"/>
              <a:buFont typeface="Calibri"/>
              <a:buNone/>
            </a:pPr>
            <a:r>
              <a:rPr b="1" i="0" lang="en-US" sz="850" u="none" cap="none" strike="noStrike">
                <a:solidFill>
                  <a:srgbClr val="0B1D3A"/>
                </a:solidFill>
                <a:latin typeface="Gill Sans"/>
                <a:ea typeface="Gill Sans"/>
                <a:cs typeface="Gill Sans"/>
                <a:sym typeface="Gill Sans"/>
              </a:rPr>
              <a:t>Walking distances between zones</a:t>
            </a:r>
            <a:endParaRPr b="0" i="0" sz="850" u="none" cap="none" strike="noStrike">
              <a:solidFill>
                <a:schemeClr val="dk1"/>
              </a:solidFill>
              <a:latin typeface="Gill Sans"/>
              <a:ea typeface="Gill Sans"/>
              <a:cs typeface="Gill Sans"/>
              <a:sym typeface="Gill Sans"/>
            </a:endParaRPr>
          </a:p>
        </p:txBody>
      </p:sp>
      <p:sp>
        <p:nvSpPr>
          <p:cNvPr id="92" name="Google Shape;92;p3"/>
          <p:cNvSpPr/>
          <p:nvPr/>
        </p:nvSpPr>
        <p:spPr>
          <a:xfrm>
            <a:off x="3200400" y="4654296"/>
            <a:ext cx="5394960" cy="19202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850"/>
              <a:buFont typeface="Arial"/>
              <a:buNone/>
            </a:pPr>
            <a:r>
              <a:rPr b="0" i="0" lang="en-US" sz="850" u="none" cap="none" strike="noStrike">
                <a:solidFill>
                  <a:srgbClr val="2C3E50"/>
                </a:solidFill>
                <a:latin typeface="Gill Sans"/>
                <a:ea typeface="Gill Sans"/>
                <a:cs typeface="Gill Sans"/>
                <a:sym typeface="Gill Sans"/>
              </a:rPr>
              <a:t>Entry → immigration → Baggage reclaim → Customs → exit in metres  this would convert to travel time in the model</a:t>
            </a:r>
            <a:endParaRPr b="0" i="0" sz="850" u="none" cap="none" strike="noStrike">
              <a:solidFill>
                <a:schemeClr val="dk1"/>
              </a:solidFill>
              <a:latin typeface="Gill Sans"/>
              <a:ea typeface="Gill Sans"/>
              <a:cs typeface="Gill Sans"/>
              <a:sym typeface="Gill Sans"/>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4"/>
          <p:cNvSpPr/>
          <p:nvPr/>
        </p:nvSpPr>
        <p:spPr>
          <a:xfrm>
            <a:off x="8428512" y="4943425"/>
            <a:ext cx="737458" cy="22590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5D6D7E"/>
              </a:buClr>
              <a:buSzPts val="900"/>
              <a:buFont typeface="Calibri"/>
              <a:buNone/>
            </a:pPr>
            <a:r>
              <a:t/>
            </a:r>
            <a:endParaRPr b="0" i="0" sz="900" u="none" cap="none" strike="noStrike">
              <a:solidFill>
                <a:schemeClr val="dk1"/>
              </a:solidFill>
              <a:latin typeface="Calibri"/>
              <a:ea typeface="Calibri"/>
              <a:cs typeface="Calibri"/>
              <a:sym typeface="Calibri"/>
            </a:endParaRPr>
          </a:p>
        </p:txBody>
      </p:sp>
      <p:sp>
        <p:nvSpPr>
          <p:cNvPr id="99" name="Google Shape;99;p4"/>
          <p:cNvSpPr/>
          <p:nvPr/>
        </p:nvSpPr>
        <p:spPr>
          <a:xfrm>
            <a:off x="548640" y="182880"/>
            <a:ext cx="6400800" cy="5029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B1D3A"/>
              </a:buClr>
              <a:buSzPts val="2800"/>
              <a:buFont typeface="Georgia"/>
              <a:buNone/>
            </a:pPr>
            <a:r>
              <a:rPr b="1" i="0" lang="en-US" sz="2800" u="none" cap="none" strike="noStrike">
                <a:solidFill>
                  <a:srgbClr val="CC0099"/>
                </a:solidFill>
                <a:latin typeface="Gill Sans"/>
                <a:ea typeface="Gill Sans"/>
                <a:cs typeface="Gill Sans"/>
                <a:sym typeface="Gill Sans"/>
              </a:rPr>
              <a:t>Assumptions to Gather</a:t>
            </a:r>
            <a:endParaRPr b="1" i="0" sz="2800" u="none" cap="none" strike="noStrike">
              <a:solidFill>
                <a:srgbClr val="CC0099"/>
              </a:solidFill>
              <a:latin typeface="Gill Sans"/>
              <a:ea typeface="Gill Sans"/>
              <a:cs typeface="Gill Sans"/>
              <a:sym typeface="Gill Sans"/>
            </a:endParaRPr>
          </a:p>
        </p:txBody>
      </p:sp>
      <p:sp>
        <p:nvSpPr>
          <p:cNvPr id="100" name="Google Shape;100;p4"/>
          <p:cNvSpPr/>
          <p:nvPr/>
        </p:nvSpPr>
        <p:spPr>
          <a:xfrm>
            <a:off x="548640" y="658368"/>
            <a:ext cx="82296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D6D7E"/>
              </a:buClr>
              <a:buSzPts val="1200"/>
              <a:buFont typeface="Calibri"/>
              <a:buNone/>
            </a:pPr>
            <a:r>
              <a:rPr b="0" i="1" lang="en-US" sz="1200" u="none" cap="none" strike="noStrike">
                <a:solidFill>
                  <a:srgbClr val="5D6D7E"/>
                </a:solidFill>
                <a:latin typeface="Gill Sans"/>
                <a:ea typeface="Gill Sans"/>
                <a:cs typeface="Gill Sans"/>
                <a:sym typeface="Gill Sans"/>
              </a:rPr>
              <a:t>Part 2: Passenger Behaviour &amp; Disruption Scenarios</a:t>
            </a:r>
            <a:endParaRPr b="0" i="0" sz="1200" u="none" cap="none" strike="noStrike">
              <a:solidFill>
                <a:schemeClr val="dk1"/>
              </a:solidFill>
              <a:latin typeface="Gill Sans"/>
              <a:ea typeface="Gill Sans"/>
              <a:cs typeface="Gill Sans"/>
              <a:sym typeface="Gill Sans"/>
            </a:endParaRPr>
          </a:p>
        </p:txBody>
      </p:sp>
      <p:sp>
        <p:nvSpPr>
          <p:cNvPr id="101" name="Google Shape;101;p4"/>
          <p:cNvSpPr/>
          <p:nvPr/>
        </p:nvSpPr>
        <p:spPr>
          <a:xfrm>
            <a:off x="548640" y="1051559"/>
            <a:ext cx="8229600" cy="1395553"/>
          </a:xfrm>
          <a:prstGeom prst="rect">
            <a:avLst/>
          </a:prstGeom>
          <a:solidFill>
            <a:srgbClr val="FFFFFF"/>
          </a:solidFill>
          <a:ln cap="flat" cmpd="sng" w="9525">
            <a:solidFill>
              <a:srgbClr val="E8E8E8"/>
            </a:solidFill>
            <a:prstDash val="solid"/>
            <a:round/>
            <a:headEnd len="sm" w="sm" type="none"/>
            <a:tailEnd len="sm" w="sm" type="none"/>
          </a:ln>
          <a:effectLst>
            <a:outerShdw blurRad="76200" rotWithShape="0" algn="bl" dir="8100000" dist="25400">
              <a:srgbClr val="000000">
                <a:alpha val="12157"/>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descr="preencoded.png" id="102" name="Google Shape;102;p4"/>
          <p:cNvPicPr preferRelativeResize="0"/>
          <p:nvPr/>
        </p:nvPicPr>
        <p:blipFill rotWithShape="1">
          <a:blip r:embed="rId3">
            <a:alphaModFix/>
          </a:blip>
          <a:srcRect b="0" l="0" r="0" t="0"/>
          <a:stretch/>
        </p:blipFill>
        <p:spPr>
          <a:xfrm>
            <a:off x="731520" y="1124712"/>
            <a:ext cx="219456" cy="219456"/>
          </a:xfrm>
          <a:prstGeom prst="rect">
            <a:avLst/>
          </a:prstGeom>
          <a:noFill/>
          <a:ln>
            <a:noFill/>
          </a:ln>
        </p:spPr>
      </p:pic>
      <p:sp>
        <p:nvSpPr>
          <p:cNvPr id="103" name="Google Shape;103;p4"/>
          <p:cNvSpPr/>
          <p:nvPr/>
        </p:nvSpPr>
        <p:spPr>
          <a:xfrm>
            <a:off x="1024128" y="1088136"/>
            <a:ext cx="758952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B1D3A"/>
              </a:buClr>
              <a:buSzPts val="1200"/>
              <a:buFont typeface="Calibri"/>
              <a:buNone/>
            </a:pPr>
            <a:r>
              <a:rPr b="1" i="0" lang="en-US" sz="1200" u="none" cap="none" strike="noStrike">
                <a:solidFill>
                  <a:srgbClr val="0B1D3A"/>
                </a:solidFill>
                <a:latin typeface="Calibri"/>
                <a:ea typeface="Calibri"/>
                <a:cs typeface="Calibri"/>
                <a:sym typeface="Calibri"/>
              </a:rPr>
              <a:t>Passenger Behaviour &amp; Routing (How do passengers choose and move?)</a:t>
            </a:r>
            <a:endParaRPr b="0" i="0" sz="1200" u="none" cap="none" strike="noStrike">
              <a:solidFill>
                <a:schemeClr val="dk1"/>
              </a:solidFill>
              <a:latin typeface="Calibri"/>
              <a:ea typeface="Calibri"/>
              <a:cs typeface="Calibri"/>
              <a:sym typeface="Calibri"/>
            </a:endParaRPr>
          </a:p>
        </p:txBody>
      </p:sp>
      <p:sp>
        <p:nvSpPr>
          <p:cNvPr id="104" name="Google Shape;104;p4"/>
          <p:cNvSpPr/>
          <p:nvPr/>
        </p:nvSpPr>
        <p:spPr>
          <a:xfrm>
            <a:off x="713232" y="1417320"/>
            <a:ext cx="7955280" cy="228600"/>
          </a:xfrm>
          <a:prstGeom prst="rect">
            <a:avLst/>
          </a:prstGeom>
          <a:solidFill>
            <a:srgbClr val="EAF4F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5" name="Google Shape;105;p4"/>
          <p:cNvSpPr/>
          <p:nvPr/>
        </p:nvSpPr>
        <p:spPr>
          <a:xfrm>
            <a:off x="777240" y="1417320"/>
            <a:ext cx="256032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B1D3A"/>
              </a:buClr>
              <a:buSzPts val="850"/>
              <a:buFont typeface="Calibri"/>
              <a:buNone/>
            </a:pPr>
            <a:r>
              <a:rPr b="1" i="0" lang="en-US" sz="850" u="none" cap="none" strike="noStrike">
                <a:solidFill>
                  <a:srgbClr val="0B1D3A"/>
                </a:solidFill>
                <a:latin typeface="Gill Sans"/>
                <a:ea typeface="Gill Sans"/>
                <a:cs typeface="Gill Sans"/>
                <a:sym typeface="Gill Sans"/>
              </a:rPr>
              <a:t>E-gates vs. manned desk eligible %</a:t>
            </a:r>
            <a:endParaRPr b="0" i="0" sz="850" u="none" cap="none" strike="noStrike">
              <a:solidFill>
                <a:schemeClr val="dk1"/>
              </a:solidFill>
              <a:latin typeface="Gill Sans"/>
              <a:ea typeface="Gill Sans"/>
              <a:cs typeface="Gill Sans"/>
              <a:sym typeface="Gill Sans"/>
            </a:endParaRPr>
          </a:p>
        </p:txBody>
      </p:sp>
      <p:sp>
        <p:nvSpPr>
          <p:cNvPr id="106" name="Google Shape;106;p4"/>
          <p:cNvSpPr/>
          <p:nvPr/>
        </p:nvSpPr>
        <p:spPr>
          <a:xfrm>
            <a:off x="3383280" y="1417320"/>
            <a:ext cx="521208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C3E50"/>
              </a:buClr>
              <a:buSzPts val="850"/>
              <a:buFont typeface="Calibri"/>
              <a:buNone/>
            </a:pPr>
            <a:r>
              <a:rPr b="0" i="0" lang="en-US" sz="850" u="none" cap="none" strike="noStrike">
                <a:solidFill>
                  <a:srgbClr val="2C3E50"/>
                </a:solidFill>
                <a:latin typeface="Gill Sans"/>
                <a:ea typeface="Gill Sans"/>
                <a:cs typeface="Gill Sans"/>
                <a:sym typeface="Gill Sans"/>
              </a:rPr>
              <a:t>Driven by nationality mix  but eligible passports with visas</a:t>
            </a:r>
            <a:r>
              <a:rPr lang="en-US" sz="850">
                <a:solidFill>
                  <a:srgbClr val="2C3E50"/>
                </a:solidFill>
                <a:latin typeface="Gill Sans"/>
                <a:ea typeface="Gill Sans"/>
                <a:cs typeface="Gill Sans"/>
                <a:sym typeface="Gill Sans"/>
              </a:rPr>
              <a:t> </a:t>
            </a:r>
            <a:r>
              <a:rPr b="0" i="0" lang="en-US" sz="850" u="none" cap="none" strike="noStrike">
                <a:solidFill>
                  <a:srgbClr val="2C3E50"/>
                </a:solidFill>
                <a:latin typeface="Gill Sans"/>
                <a:ea typeface="Gill Sans"/>
                <a:cs typeface="Gill Sans"/>
                <a:sym typeface="Gill Sans"/>
              </a:rPr>
              <a:t>must use manned desks despite biometric e gates eligibility</a:t>
            </a:r>
            <a:endParaRPr b="0" i="0" sz="850" u="none" cap="none" strike="noStrike">
              <a:solidFill>
                <a:schemeClr val="dk1"/>
              </a:solidFill>
              <a:latin typeface="Gill Sans"/>
              <a:ea typeface="Gill Sans"/>
              <a:cs typeface="Gill Sans"/>
              <a:sym typeface="Gill Sans"/>
            </a:endParaRPr>
          </a:p>
        </p:txBody>
      </p:sp>
      <p:sp>
        <p:nvSpPr>
          <p:cNvPr id="107" name="Google Shape;107;p4"/>
          <p:cNvSpPr/>
          <p:nvPr/>
        </p:nvSpPr>
        <p:spPr>
          <a:xfrm>
            <a:off x="713232" y="1655064"/>
            <a:ext cx="7955280" cy="228600"/>
          </a:xfrm>
          <a:prstGeom prst="rect">
            <a:avLst/>
          </a:pr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8" name="Google Shape;108;p4"/>
          <p:cNvSpPr/>
          <p:nvPr/>
        </p:nvSpPr>
        <p:spPr>
          <a:xfrm>
            <a:off x="777240" y="1655064"/>
            <a:ext cx="256032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B1D3A"/>
              </a:buClr>
              <a:buSzPts val="850"/>
              <a:buFont typeface="Calibri"/>
              <a:buNone/>
            </a:pPr>
            <a:r>
              <a:rPr b="1" i="0" lang="en-US" sz="850" u="none" cap="none" strike="noStrike">
                <a:solidFill>
                  <a:srgbClr val="0B1D3A"/>
                </a:solidFill>
                <a:latin typeface="Gill Sans"/>
                <a:ea typeface="Gill Sans"/>
                <a:cs typeface="Gill Sans"/>
                <a:sym typeface="Gill Sans"/>
              </a:rPr>
              <a:t>PRM (WCHC,WCHS,WCHR) % per flight</a:t>
            </a:r>
            <a:endParaRPr b="0" i="0" sz="850" u="none" cap="none" strike="noStrike">
              <a:solidFill>
                <a:schemeClr val="dk1"/>
              </a:solidFill>
              <a:latin typeface="Gill Sans"/>
              <a:ea typeface="Gill Sans"/>
              <a:cs typeface="Gill Sans"/>
              <a:sym typeface="Gill Sans"/>
            </a:endParaRPr>
          </a:p>
        </p:txBody>
      </p:sp>
      <p:sp>
        <p:nvSpPr>
          <p:cNvPr id="109" name="Google Shape;109;p4"/>
          <p:cNvSpPr/>
          <p:nvPr/>
        </p:nvSpPr>
        <p:spPr>
          <a:xfrm>
            <a:off x="3383280" y="1655064"/>
            <a:ext cx="521208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C3E50"/>
              </a:buClr>
              <a:buSzPts val="850"/>
              <a:buFont typeface="Calibri"/>
              <a:buNone/>
            </a:pPr>
            <a:r>
              <a:rPr b="0" i="0" lang="en-US" sz="850" u="none" cap="none" strike="noStrike">
                <a:solidFill>
                  <a:srgbClr val="2C3E50"/>
                </a:solidFill>
                <a:latin typeface="Gill Sans"/>
                <a:ea typeface="Gill Sans"/>
                <a:cs typeface="Gill Sans"/>
                <a:sym typeface="Gill Sans"/>
              </a:rPr>
              <a:t>PRMs disembark first via ambulift at remote stands, escorted directly to special assistance lane a completely separate flow path</a:t>
            </a:r>
            <a:endParaRPr b="0" i="0" sz="850" u="none" cap="none" strike="noStrike">
              <a:solidFill>
                <a:schemeClr val="dk1"/>
              </a:solidFill>
              <a:latin typeface="Gill Sans"/>
              <a:ea typeface="Gill Sans"/>
              <a:cs typeface="Gill Sans"/>
              <a:sym typeface="Gill Sans"/>
            </a:endParaRPr>
          </a:p>
        </p:txBody>
      </p:sp>
      <p:sp>
        <p:nvSpPr>
          <p:cNvPr id="110" name="Google Shape;110;p4"/>
          <p:cNvSpPr/>
          <p:nvPr/>
        </p:nvSpPr>
        <p:spPr>
          <a:xfrm>
            <a:off x="713232" y="1892808"/>
            <a:ext cx="7955280" cy="228600"/>
          </a:xfrm>
          <a:prstGeom prst="rect">
            <a:avLst/>
          </a:prstGeom>
          <a:solidFill>
            <a:srgbClr val="EAF4F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1" name="Google Shape;111;p4"/>
          <p:cNvSpPr/>
          <p:nvPr/>
        </p:nvSpPr>
        <p:spPr>
          <a:xfrm>
            <a:off x="777240" y="1892808"/>
            <a:ext cx="256032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B1D3A"/>
              </a:buClr>
              <a:buSzPts val="850"/>
              <a:buFont typeface="Calibri"/>
              <a:buNone/>
            </a:pPr>
            <a:r>
              <a:rPr b="1" i="0" lang="en-US" sz="850" u="none" cap="none" strike="noStrike">
                <a:solidFill>
                  <a:srgbClr val="0B1D3A"/>
                </a:solidFill>
                <a:latin typeface="Gill Sans"/>
                <a:ea typeface="Gill Sans"/>
                <a:cs typeface="Gill Sans"/>
                <a:sym typeface="Gill Sans"/>
              </a:rPr>
              <a:t>Family or  group queueing behaviour</a:t>
            </a:r>
            <a:endParaRPr b="0" i="0" sz="850" u="none" cap="none" strike="noStrike">
              <a:solidFill>
                <a:schemeClr val="dk1"/>
              </a:solidFill>
              <a:latin typeface="Gill Sans"/>
              <a:ea typeface="Gill Sans"/>
              <a:cs typeface="Gill Sans"/>
              <a:sym typeface="Gill Sans"/>
            </a:endParaRPr>
          </a:p>
        </p:txBody>
      </p:sp>
      <p:sp>
        <p:nvSpPr>
          <p:cNvPr id="112" name="Google Shape;112;p4"/>
          <p:cNvSpPr/>
          <p:nvPr/>
        </p:nvSpPr>
        <p:spPr>
          <a:xfrm>
            <a:off x="3383280" y="1892808"/>
            <a:ext cx="521208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C3E50"/>
              </a:buClr>
              <a:buSzPts val="850"/>
              <a:buFont typeface="Calibri"/>
              <a:buNone/>
            </a:pPr>
            <a:r>
              <a:rPr b="0" i="0" lang="en-US" sz="850" u="none" cap="none" strike="noStrike">
                <a:solidFill>
                  <a:srgbClr val="2C3E50"/>
                </a:solidFill>
                <a:latin typeface="Gill Sans"/>
                <a:ea typeface="Gill Sans"/>
                <a:cs typeface="Gill Sans"/>
                <a:sym typeface="Gill Sans"/>
              </a:rPr>
              <a:t>Does groups queue together at one desk or split across channels? Affects processing batch sizes</a:t>
            </a:r>
            <a:endParaRPr b="0" i="0" sz="850" u="none" cap="none" strike="noStrike">
              <a:solidFill>
                <a:schemeClr val="dk1"/>
              </a:solidFill>
              <a:latin typeface="Gill Sans"/>
              <a:ea typeface="Gill Sans"/>
              <a:cs typeface="Gill Sans"/>
              <a:sym typeface="Gill Sans"/>
            </a:endParaRPr>
          </a:p>
        </p:txBody>
      </p:sp>
      <p:sp>
        <p:nvSpPr>
          <p:cNvPr id="113" name="Google Shape;113;p4"/>
          <p:cNvSpPr/>
          <p:nvPr/>
        </p:nvSpPr>
        <p:spPr>
          <a:xfrm>
            <a:off x="713232" y="2130552"/>
            <a:ext cx="7955280" cy="228600"/>
          </a:xfrm>
          <a:prstGeom prst="rect">
            <a:avLst/>
          </a:pr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4" name="Google Shape;114;p4"/>
          <p:cNvSpPr/>
          <p:nvPr/>
        </p:nvSpPr>
        <p:spPr>
          <a:xfrm>
            <a:off x="777240" y="2130552"/>
            <a:ext cx="256032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B1D3A"/>
              </a:buClr>
              <a:buSzPts val="850"/>
              <a:buFont typeface="Calibri"/>
              <a:buNone/>
            </a:pPr>
            <a:r>
              <a:rPr b="1" i="0" lang="en-US" sz="850" u="none" cap="none" strike="noStrike">
                <a:solidFill>
                  <a:srgbClr val="0B1D3A"/>
                </a:solidFill>
                <a:latin typeface="Gill Sans"/>
                <a:ea typeface="Gill Sans"/>
                <a:cs typeface="Gill Sans"/>
                <a:sym typeface="Gill Sans"/>
              </a:rPr>
              <a:t>Trolley collection rate &amp; exit dwell</a:t>
            </a:r>
            <a:endParaRPr b="0" i="0" sz="850" u="none" cap="none" strike="noStrike">
              <a:solidFill>
                <a:schemeClr val="dk1"/>
              </a:solidFill>
              <a:latin typeface="Gill Sans"/>
              <a:ea typeface="Gill Sans"/>
              <a:cs typeface="Gill Sans"/>
              <a:sym typeface="Gill Sans"/>
            </a:endParaRPr>
          </a:p>
        </p:txBody>
      </p:sp>
      <p:sp>
        <p:nvSpPr>
          <p:cNvPr id="115" name="Google Shape;115;p4"/>
          <p:cNvSpPr/>
          <p:nvPr/>
        </p:nvSpPr>
        <p:spPr>
          <a:xfrm>
            <a:off x="3383280" y="2130552"/>
            <a:ext cx="521208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C3E50"/>
              </a:buClr>
              <a:buSzPts val="850"/>
              <a:buFont typeface="Calibri"/>
              <a:buNone/>
            </a:pPr>
            <a:r>
              <a:rPr b="0" i="0" lang="en-US" sz="850" u="none" cap="none" strike="noStrike">
                <a:solidFill>
                  <a:srgbClr val="2C3E50"/>
                </a:solidFill>
                <a:latin typeface="Gill Sans"/>
                <a:ea typeface="Gill Sans"/>
                <a:cs typeface="Gill Sans"/>
                <a:sym typeface="Gill Sans"/>
              </a:rPr>
              <a:t>What % collect a £1 trolley? Trolley parking is far left in the layout cross flow of passenger movement might affect congestion</a:t>
            </a:r>
            <a:endParaRPr b="0" i="0" sz="850" u="none" cap="none" strike="noStrike">
              <a:solidFill>
                <a:schemeClr val="dk1"/>
              </a:solidFill>
              <a:latin typeface="Gill Sans"/>
              <a:ea typeface="Gill Sans"/>
              <a:cs typeface="Gill Sans"/>
              <a:sym typeface="Gill Sans"/>
            </a:endParaRPr>
          </a:p>
        </p:txBody>
      </p:sp>
      <p:sp>
        <p:nvSpPr>
          <p:cNvPr id="116" name="Google Shape;116;p4"/>
          <p:cNvSpPr/>
          <p:nvPr/>
        </p:nvSpPr>
        <p:spPr>
          <a:xfrm>
            <a:off x="777240" y="2368296"/>
            <a:ext cx="256032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1"/>
              </a:buClr>
              <a:buSzPts val="850"/>
              <a:buFont typeface="Calibri"/>
              <a:buNone/>
            </a:pPr>
            <a:r>
              <a:t/>
            </a:r>
            <a:endParaRPr b="0" i="0" sz="850" u="none" cap="none" strike="noStrike">
              <a:solidFill>
                <a:schemeClr val="dk1"/>
              </a:solidFill>
              <a:latin typeface="Calibri"/>
              <a:ea typeface="Calibri"/>
              <a:cs typeface="Calibri"/>
              <a:sym typeface="Calibri"/>
            </a:endParaRPr>
          </a:p>
        </p:txBody>
      </p:sp>
      <p:sp>
        <p:nvSpPr>
          <p:cNvPr id="117" name="Google Shape;117;p4"/>
          <p:cNvSpPr/>
          <p:nvPr/>
        </p:nvSpPr>
        <p:spPr>
          <a:xfrm>
            <a:off x="3383280" y="2368296"/>
            <a:ext cx="521208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1"/>
              </a:buClr>
              <a:buSzPts val="850"/>
              <a:buFont typeface="Calibri"/>
              <a:buNone/>
            </a:pPr>
            <a:r>
              <a:t/>
            </a:r>
            <a:endParaRPr b="0" i="0" sz="850" u="none" cap="none" strike="noStrike">
              <a:solidFill>
                <a:schemeClr val="dk1"/>
              </a:solidFill>
              <a:latin typeface="Calibri"/>
              <a:ea typeface="Calibri"/>
              <a:cs typeface="Calibri"/>
              <a:sym typeface="Calibri"/>
            </a:endParaRPr>
          </a:p>
        </p:txBody>
      </p:sp>
      <p:sp>
        <p:nvSpPr>
          <p:cNvPr id="118" name="Google Shape;118;p4"/>
          <p:cNvSpPr/>
          <p:nvPr/>
        </p:nvSpPr>
        <p:spPr>
          <a:xfrm>
            <a:off x="548640" y="2834638"/>
            <a:ext cx="8183881" cy="2125981"/>
          </a:xfrm>
          <a:prstGeom prst="rect">
            <a:avLst/>
          </a:prstGeom>
          <a:solidFill>
            <a:srgbClr val="FFFFFF"/>
          </a:solidFill>
          <a:ln cap="flat" cmpd="sng" w="9525">
            <a:solidFill>
              <a:srgbClr val="E8E8E8"/>
            </a:solidFill>
            <a:prstDash val="solid"/>
            <a:round/>
            <a:headEnd len="sm" w="sm" type="none"/>
            <a:tailEnd len="sm" w="sm" type="none"/>
          </a:ln>
          <a:effectLst>
            <a:outerShdw blurRad="76200" rotWithShape="0" algn="bl" dir="8100000" dist="25400">
              <a:srgbClr val="000000">
                <a:alpha val="12157"/>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descr="preencoded.png" id="119" name="Google Shape;119;p4"/>
          <p:cNvPicPr preferRelativeResize="0"/>
          <p:nvPr/>
        </p:nvPicPr>
        <p:blipFill rotWithShape="1">
          <a:blip r:embed="rId4">
            <a:alphaModFix/>
          </a:blip>
          <a:srcRect b="0" l="0" r="0" t="0"/>
          <a:stretch/>
        </p:blipFill>
        <p:spPr>
          <a:xfrm>
            <a:off x="731520" y="2907792"/>
            <a:ext cx="219456" cy="219456"/>
          </a:xfrm>
          <a:prstGeom prst="rect">
            <a:avLst/>
          </a:prstGeom>
          <a:noFill/>
          <a:ln>
            <a:noFill/>
          </a:ln>
        </p:spPr>
      </p:pic>
      <p:sp>
        <p:nvSpPr>
          <p:cNvPr id="120" name="Google Shape;120;p4"/>
          <p:cNvSpPr/>
          <p:nvPr/>
        </p:nvSpPr>
        <p:spPr>
          <a:xfrm>
            <a:off x="1024128" y="2871216"/>
            <a:ext cx="758952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B1D3A"/>
              </a:buClr>
              <a:buSzPts val="1200"/>
              <a:buFont typeface="Calibri"/>
              <a:buNone/>
            </a:pPr>
            <a:r>
              <a:rPr b="1" i="0" lang="en-US" sz="1200" u="none" cap="none" strike="noStrike">
                <a:solidFill>
                  <a:srgbClr val="0B1D3A"/>
                </a:solidFill>
                <a:latin typeface="Calibri"/>
                <a:ea typeface="Calibri"/>
                <a:cs typeface="Calibri"/>
                <a:sym typeface="Calibri"/>
              </a:rPr>
              <a:t>Disruptions &amp; Variability (What goes wrong and how often?)</a:t>
            </a:r>
            <a:endParaRPr b="0" i="0" sz="1200" u="none" cap="none" strike="noStrike">
              <a:solidFill>
                <a:schemeClr val="dk1"/>
              </a:solidFill>
              <a:latin typeface="Calibri"/>
              <a:ea typeface="Calibri"/>
              <a:cs typeface="Calibri"/>
              <a:sym typeface="Calibri"/>
            </a:endParaRPr>
          </a:p>
        </p:txBody>
      </p:sp>
      <p:sp>
        <p:nvSpPr>
          <p:cNvPr id="121" name="Google Shape;121;p4"/>
          <p:cNvSpPr/>
          <p:nvPr/>
        </p:nvSpPr>
        <p:spPr>
          <a:xfrm>
            <a:off x="713232" y="3200400"/>
            <a:ext cx="7955280" cy="228600"/>
          </a:xfrm>
          <a:prstGeom prst="rect">
            <a:avLst/>
          </a:prstGeom>
          <a:solidFill>
            <a:srgbClr val="EAF4F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2" name="Google Shape;122;p4"/>
          <p:cNvSpPr/>
          <p:nvPr/>
        </p:nvSpPr>
        <p:spPr>
          <a:xfrm>
            <a:off x="777240" y="3200400"/>
            <a:ext cx="256032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B1D3A"/>
              </a:buClr>
              <a:buSzPts val="850"/>
              <a:buFont typeface="Calibri"/>
              <a:buNone/>
            </a:pPr>
            <a:r>
              <a:rPr b="1" i="0" lang="en-US" sz="850" u="none" cap="none" strike="noStrike">
                <a:solidFill>
                  <a:srgbClr val="0B1D3A"/>
                </a:solidFill>
                <a:latin typeface="Gill Sans"/>
                <a:ea typeface="Gill Sans"/>
                <a:cs typeface="Gill Sans"/>
                <a:sym typeface="Gill Sans"/>
              </a:rPr>
              <a:t>Ramp staff shortage frequency &amp; duration</a:t>
            </a:r>
            <a:endParaRPr b="0" i="0" sz="850" u="none" cap="none" strike="noStrike">
              <a:solidFill>
                <a:schemeClr val="dk1"/>
              </a:solidFill>
              <a:latin typeface="Gill Sans"/>
              <a:ea typeface="Gill Sans"/>
              <a:cs typeface="Gill Sans"/>
              <a:sym typeface="Gill Sans"/>
            </a:endParaRPr>
          </a:p>
        </p:txBody>
      </p:sp>
      <p:sp>
        <p:nvSpPr>
          <p:cNvPr id="123" name="Google Shape;123;p4"/>
          <p:cNvSpPr/>
          <p:nvPr/>
        </p:nvSpPr>
        <p:spPr>
          <a:xfrm>
            <a:off x="3383280" y="3200400"/>
            <a:ext cx="521208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C3E50"/>
              </a:buClr>
              <a:buSzPts val="850"/>
              <a:buFont typeface="Calibri"/>
              <a:buNone/>
            </a:pPr>
            <a:r>
              <a:rPr b="0" i="0" lang="en-US" sz="850" u="none" cap="none" strike="noStrike">
                <a:solidFill>
                  <a:srgbClr val="2C3E50"/>
                </a:solidFill>
                <a:latin typeface="Gill Sans"/>
                <a:ea typeface="Gill Sans"/>
                <a:cs typeface="Gill Sans"/>
                <a:sym typeface="Gill Sans"/>
              </a:rPr>
              <a:t>Delays baggage offload start by 10–30+ min due to staff shortage in that case, passengers will clear immigration but bags aren’t there, causing crowding at baggae reclaim</a:t>
            </a:r>
            <a:endParaRPr b="0" i="0" sz="850" u="none" cap="none" strike="noStrike">
              <a:solidFill>
                <a:schemeClr val="dk1"/>
              </a:solidFill>
              <a:latin typeface="Gill Sans"/>
              <a:ea typeface="Gill Sans"/>
              <a:cs typeface="Gill Sans"/>
              <a:sym typeface="Gill Sans"/>
            </a:endParaRPr>
          </a:p>
        </p:txBody>
      </p:sp>
      <p:sp>
        <p:nvSpPr>
          <p:cNvPr id="124" name="Google Shape;124;p4"/>
          <p:cNvSpPr/>
          <p:nvPr/>
        </p:nvSpPr>
        <p:spPr>
          <a:xfrm>
            <a:off x="713232" y="3438144"/>
            <a:ext cx="7955280" cy="228600"/>
          </a:xfrm>
          <a:prstGeom prst="rect">
            <a:avLst/>
          </a:pr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5" name="Google Shape;125;p4"/>
          <p:cNvSpPr/>
          <p:nvPr/>
        </p:nvSpPr>
        <p:spPr>
          <a:xfrm>
            <a:off x="777240" y="3438144"/>
            <a:ext cx="256032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B1D3A"/>
              </a:buClr>
              <a:buSzPts val="850"/>
              <a:buFont typeface="Calibri"/>
              <a:buNone/>
            </a:pPr>
            <a:r>
              <a:rPr b="1" i="0" lang="en-US" sz="850" u="none" cap="none" strike="noStrike">
                <a:solidFill>
                  <a:srgbClr val="0B1D3A"/>
                </a:solidFill>
                <a:latin typeface="Gill Sans"/>
                <a:ea typeface="Gill Sans"/>
                <a:cs typeface="Gill Sans"/>
                <a:sym typeface="Gill Sans"/>
              </a:rPr>
              <a:t>Wind speed threshold &amp; annual frequency</a:t>
            </a:r>
            <a:endParaRPr b="0" i="0" sz="850" u="none" cap="none" strike="noStrike">
              <a:solidFill>
                <a:schemeClr val="dk1"/>
              </a:solidFill>
              <a:latin typeface="Gill Sans"/>
              <a:ea typeface="Gill Sans"/>
              <a:cs typeface="Gill Sans"/>
              <a:sym typeface="Gill Sans"/>
            </a:endParaRPr>
          </a:p>
        </p:txBody>
      </p:sp>
      <p:sp>
        <p:nvSpPr>
          <p:cNvPr id="126" name="Google Shape;126;p4"/>
          <p:cNvSpPr/>
          <p:nvPr/>
        </p:nvSpPr>
        <p:spPr>
          <a:xfrm>
            <a:off x="3383280" y="3438144"/>
            <a:ext cx="521208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C3E50"/>
              </a:buClr>
              <a:buSzPts val="850"/>
              <a:buFont typeface="Calibri"/>
              <a:buNone/>
            </a:pPr>
            <a:r>
              <a:rPr b="0" i="0" lang="en-US" sz="850" u="none" cap="none" strike="noStrike">
                <a:solidFill>
                  <a:srgbClr val="2C3E50"/>
                </a:solidFill>
                <a:latin typeface="Gill Sans"/>
                <a:ea typeface="Gill Sans"/>
                <a:cs typeface="Gill Sans"/>
                <a:sym typeface="Gill Sans"/>
              </a:rPr>
              <a:t>High winds prevent cargo door opening which will affect ALL flights during event window, not just one</a:t>
            </a:r>
            <a:endParaRPr b="0" i="0" sz="850" u="none" cap="none" strike="noStrike">
              <a:solidFill>
                <a:schemeClr val="dk1"/>
              </a:solidFill>
              <a:latin typeface="Gill Sans"/>
              <a:ea typeface="Gill Sans"/>
              <a:cs typeface="Gill Sans"/>
              <a:sym typeface="Gill Sans"/>
            </a:endParaRPr>
          </a:p>
        </p:txBody>
      </p:sp>
      <p:sp>
        <p:nvSpPr>
          <p:cNvPr id="127" name="Google Shape;127;p4"/>
          <p:cNvSpPr/>
          <p:nvPr/>
        </p:nvSpPr>
        <p:spPr>
          <a:xfrm>
            <a:off x="713232" y="3675888"/>
            <a:ext cx="7955280" cy="228600"/>
          </a:xfrm>
          <a:prstGeom prst="rect">
            <a:avLst/>
          </a:prstGeom>
          <a:solidFill>
            <a:srgbClr val="EAF4F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8" name="Google Shape;128;p4"/>
          <p:cNvSpPr/>
          <p:nvPr/>
        </p:nvSpPr>
        <p:spPr>
          <a:xfrm>
            <a:off x="777240" y="3675888"/>
            <a:ext cx="256032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B1D3A"/>
              </a:buClr>
              <a:buSzPts val="850"/>
              <a:buFont typeface="Calibri"/>
              <a:buNone/>
            </a:pPr>
            <a:r>
              <a:rPr b="1" i="0" lang="en-US" sz="850" u="none" cap="none" strike="noStrike">
                <a:solidFill>
                  <a:srgbClr val="0B1D3A"/>
                </a:solidFill>
                <a:latin typeface="Gill Sans"/>
                <a:ea typeface="Gill Sans"/>
                <a:cs typeface="Gill Sans"/>
                <a:sym typeface="Gill Sans"/>
              </a:rPr>
              <a:t>Aircraft trim delay (older aircraft types)</a:t>
            </a:r>
            <a:endParaRPr b="0" i="0" sz="850" u="none" cap="none" strike="noStrike">
              <a:solidFill>
                <a:schemeClr val="dk1"/>
              </a:solidFill>
              <a:latin typeface="Gill Sans"/>
              <a:ea typeface="Gill Sans"/>
              <a:cs typeface="Gill Sans"/>
              <a:sym typeface="Gill Sans"/>
            </a:endParaRPr>
          </a:p>
        </p:txBody>
      </p:sp>
      <p:sp>
        <p:nvSpPr>
          <p:cNvPr id="129" name="Google Shape;129;p4"/>
          <p:cNvSpPr/>
          <p:nvPr/>
        </p:nvSpPr>
        <p:spPr>
          <a:xfrm>
            <a:off x="3383280" y="3675888"/>
            <a:ext cx="521208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C3E50"/>
              </a:buClr>
              <a:buSzPts val="850"/>
              <a:buFont typeface="Calibri"/>
              <a:buNone/>
            </a:pPr>
            <a:r>
              <a:rPr b="0" i="0" lang="en-US" sz="850" u="none" cap="none" strike="noStrike">
                <a:solidFill>
                  <a:srgbClr val="2C3E50"/>
                </a:solidFill>
                <a:latin typeface="Gill Sans"/>
                <a:ea typeface="Gill Sans"/>
                <a:cs typeface="Gill Sans"/>
                <a:sym typeface="Gill Sans"/>
              </a:rPr>
              <a:t>Bags cannot be offloaded until all passengers disembark on certain aircraft  adds 10–20 min to first bag time</a:t>
            </a:r>
            <a:endParaRPr b="0" i="0" sz="850" u="none" cap="none" strike="noStrike">
              <a:solidFill>
                <a:schemeClr val="dk1"/>
              </a:solidFill>
              <a:latin typeface="Gill Sans"/>
              <a:ea typeface="Gill Sans"/>
              <a:cs typeface="Gill Sans"/>
              <a:sym typeface="Gill Sans"/>
            </a:endParaRPr>
          </a:p>
        </p:txBody>
      </p:sp>
      <p:sp>
        <p:nvSpPr>
          <p:cNvPr id="130" name="Google Shape;130;p4"/>
          <p:cNvSpPr/>
          <p:nvPr/>
        </p:nvSpPr>
        <p:spPr>
          <a:xfrm>
            <a:off x="713232" y="3913632"/>
            <a:ext cx="7955280" cy="228600"/>
          </a:xfrm>
          <a:prstGeom prst="rect">
            <a:avLst/>
          </a:pr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31" name="Google Shape;131;p4"/>
          <p:cNvSpPr/>
          <p:nvPr/>
        </p:nvSpPr>
        <p:spPr>
          <a:xfrm>
            <a:off x="777240" y="3913632"/>
            <a:ext cx="256032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B1D3A"/>
              </a:buClr>
              <a:buSzPts val="850"/>
              <a:buFont typeface="Calibri"/>
              <a:buNone/>
            </a:pPr>
            <a:r>
              <a:rPr b="1" i="0" lang="en-US" sz="850" u="none" cap="none" strike="noStrike">
                <a:solidFill>
                  <a:srgbClr val="0B1D3A"/>
                </a:solidFill>
                <a:latin typeface="Gill Sans"/>
                <a:ea typeface="Gill Sans"/>
                <a:cs typeface="Gill Sans"/>
                <a:sym typeface="Gill Sans"/>
              </a:rPr>
              <a:t>Belt congestion from overlapping flights</a:t>
            </a:r>
            <a:endParaRPr b="0" i="0" sz="850" u="none" cap="none" strike="noStrike">
              <a:solidFill>
                <a:schemeClr val="dk1"/>
              </a:solidFill>
              <a:latin typeface="Gill Sans"/>
              <a:ea typeface="Gill Sans"/>
              <a:cs typeface="Gill Sans"/>
              <a:sym typeface="Gill Sans"/>
            </a:endParaRPr>
          </a:p>
        </p:txBody>
      </p:sp>
      <p:sp>
        <p:nvSpPr>
          <p:cNvPr id="132" name="Google Shape;132;p4"/>
          <p:cNvSpPr/>
          <p:nvPr/>
        </p:nvSpPr>
        <p:spPr>
          <a:xfrm>
            <a:off x="3383280" y="3913632"/>
            <a:ext cx="521208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C3E50"/>
              </a:buClr>
              <a:buSzPts val="850"/>
              <a:buFont typeface="Calibri"/>
              <a:buNone/>
            </a:pPr>
            <a:r>
              <a:rPr b="0" i="0" lang="en-US" sz="850" u="none" cap="none" strike="noStrike">
                <a:solidFill>
                  <a:srgbClr val="2C3E50"/>
                </a:solidFill>
                <a:latin typeface="Gill Sans"/>
                <a:ea typeface="Gill Sans"/>
                <a:cs typeface="Gill Sans"/>
                <a:sym typeface="Gill Sans"/>
              </a:rPr>
              <a:t>If previous flight bags uncollected, next flight’s bags queue at offload position which will delay further and crowding</a:t>
            </a:r>
            <a:endParaRPr b="0" i="0" sz="850" u="none" cap="none" strike="noStrike">
              <a:solidFill>
                <a:schemeClr val="dk1"/>
              </a:solidFill>
              <a:latin typeface="Gill Sans"/>
              <a:ea typeface="Gill Sans"/>
              <a:cs typeface="Gill Sans"/>
              <a:sym typeface="Gill Sans"/>
            </a:endParaRPr>
          </a:p>
        </p:txBody>
      </p:sp>
      <p:sp>
        <p:nvSpPr>
          <p:cNvPr id="133" name="Google Shape;133;p4"/>
          <p:cNvSpPr/>
          <p:nvPr/>
        </p:nvSpPr>
        <p:spPr>
          <a:xfrm>
            <a:off x="713232" y="4151376"/>
            <a:ext cx="7955280" cy="228600"/>
          </a:xfrm>
          <a:prstGeom prst="rect">
            <a:avLst/>
          </a:prstGeom>
          <a:solidFill>
            <a:srgbClr val="EAF4F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34" name="Google Shape;134;p4"/>
          <p:cNvSpPr/>
          <p:nvPr/>
        </p:nvSpPr>
        <p:spPr>
          <a:xfrm>
            <a:off x="777240" y="4151376"/>
            <a:ext cx="256032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B1D3A"/>
              </a:buClr>
              <a:buSzPts val="850"/>
              <a:buFont typeface="Calibri"/>
              <a:buNone/>
            </a:pPr>
            <a:r>
              <a:rPr b="1" i="0" lang="en-US" sz="850" u="none" cap="none" strike="noStrike">
                <a:solidFill>
                  <a:srgbClr val="0B1D3A"/>
                </a:solidFill>
                <a:latin typeface="Gill Sans"/>
                <a:ea typeface="Gill Sans"/>
                <a:cs typeface="Gill Sans"/>
                <a:sym typeface="Gill Sans"/>
              </a:rPr>
              <a:t>Deeper scrutiny / secondary referral rate</a:t>
            </a:r>
            <a:endParaRPr b="0" i="0" sz="850" u="none" cap="none" strike="noStrike">
              <a:solidFill>
                <a:schemeClr val="dk1"/>
              </a:solidFill>
              <a:latin typeface="Gill Sans"/>
              <a:ea typeface="Gill Sans"/>
              <a:cs typeface="Gill Sans"/>
              <a:sym typeface="Gill Sans"/>
            </a:endParaRPr>
          </a:p>
        </p:txBody>
      </p:sp>
      <p:sp>
        <p:nvSpPr>
          <p:cNvPr id="135" name="Google Shape;135;p4"/>
          <p:cNvSpPr/>
          <p:nvPr/>
        </p:nvSpPr>
        <p:spPr>
          <a:xfrm>
            <a:off x="3383280" y="4151376"/>
            <a:ext cx="521208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C3E50"/>
              </a:buClr>
              <a:buSzPts val="850"/>
              <a:buFont typeface="Calibri"/>
              <a:buNone/>
            </a:pPr>
            <a:r>
              <a:rPr b="0" i="0" lang="en-US" sz="850" u="none" cap="none" strike="noStrike">
                <a:solidFill>
                  <a:srgbClr val="2C3E50"/>
                </a:solidFill>
                <a:latin typeface="Gill Sans"/>
                <a:ea typeface="Gill Sans"/>
                <a:cs typeface="Gill Sans"/>
                <a:sym typeface="Gill Sans"/>
              </a:rPr>
              <a:t>2–5% of passengers may be referred for additional checks that creates extra dwell at manned desks</a:t>
            </a:r>
            <a:endParaRPr b="0" i="0" sz="850" u="none" cap="none" strike="noStrike">
              <a:solidFill>
                <a:schemeClr val="dk1"/>
              </a:solidFill>
              <a:latin typeface="Gill Sans"/>
              <a:ea typeface="Gill Sans"/>
              <a:cs typeface="Gill Sans"/>
              <a:sym typeface="Gill Sans"/>
            </a:endParaRPr>
          </a:p>
        </p:txBody>
      </p:sp>
      <p:sp>
        <p:nvSpPr>
          <p:cNvPr id="136" name="Google Shape;136;p4"/>
          <p:cNvSpPr/>
          <p:nvPr/>
        </p:nvSpPr>
        <p:spPr>
          <a:xfrm>
            <a:off x="548640" y="1051560"/>
            <a:ext cx="45719" cy="1395552"/>
          </a:xfrm>
          <a:prstGeom prst="rect">
            <a:avLst/>
          </a:pr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37" name="Google Shape;137;p4"/>
          <p:cNvSpPr/>
          <p:nvPr/>
        </p:nvSpPr>
        <p:spPr>
          <a:xfrm>
            <a:off x="548639" y="2839211"/>
            <a:ext cx="53083" cy="2104214"/>
          </a:xfrm>
          <a:prstGeom prst="rect">
            <a:avLst/>
          </a:pr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38" name="Google Shape;138;p4"/>
          <p:cNvSpPr/>
          <p:nvPr/>
        </p:nvSpPr>
        <p:spPr>
          <a:xfrm>
            <a:off x="3383280" y="4389120"/>
            <a:ext cx="521208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rgbClr val="2C3E50"/>
                </a:solidFill>
                <a:latin typeface="Gill Sans"/>
                <a:ea typeface="Gill Sans"/>
                <a:cs typeface="Gill Sans"/>
                <a:sym typeface="Gill Sans"/>
              </a:rPr>
              <a:t>If e-gates goes down, what would be the fallback process for eligible passports pax </a:t>
            </a:r>
            <a:endParaRPr b="0" i="0" sz="900" u="none" cap="none" strike="noStrike">
              <a:solidFill>
                <a:schemeClr val="dk1"/>
              </a:solidFill>
              <a:latin typeface="Gill Sans"/>
              <a:ea typeface="Gill Sans"/>
              <a:cs typeface="Gill Sans"/>
              <a:sym typeface="Gill Sans"/>
            </a:endParaRPr>
          </a:p>
        </p:txBody>
      </p:sp>
      <p:sp>
        <p:nvSpPr>
          <p:cNvPr id="139" name="Google Shape;139;p4"/>
          <p:cNvSpPr txBox="1"/>
          <p:nvPr/>
        </p:nvSpPr>
        <p:spPr>
          <a:xfrm>
            <a:off x="665731" y="4402276"/>
            <a:ext cx="2285400" cy="338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00"/>
              <a:buFont typeface="Arial"/>
              <a:buNone/>
            </a:pPr>
            <a:r>
              <a:rPr b="1" i="0" lang="en-US" sz="800" u="none" cap="none" strike="noStrike">
                <a:solidFill>
                  <a:schemeClr val="dk1"/>
                </a:solidFill>
                <a:latin typeface="Gill Sans"/>
                <a:ea typeface="Gill Sans"/>
                <a:cs typeface="Gill Sans"/>
                <a:sym typeface="Gill Sans"/>
              </a:rPr>
              <a:t>E-gate malfunction or system outage frequency</a:t>
            </a:r>
            <a:endParaRPr b="1" i="0" sz="800" u="none" cap="none" strike="noStrike">
              <a:solidFill>
                <a:schemeClr val="dk1"/>
              </a:solidFill>
              <a:latin typeface="Gill Sans"/>
              <a:ea typeface="Gill Sans"/>
              <a:cs typeface="Gill Sans"/>
              <a:sym typeface="Gill Sans"/>
            </a:endParaRPr>
          </a:p>
        </p:txBody>
      </p:sp>
      <p:sp>
        <p:nvSpPr>
          <p:cNvPr id="140" name="Google Shape;140;p4"/>
          <p:cNvSpPr/>
          <p:nvPr/>
        </p:nvSpPr>
        <p:spPr>
          <a:xfrm>
            <a:off x="713232" y="4584113"/>
            <a:ext cx="7955280" cy="228600"/>
          </a:xfrm>
          <a:prstGeom prst="rect">
            <a:avLst/>
          </a:prstGeom>
          <a:solidFill>
            <a:srgbClr val="EAF4F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41" name="Google Shape;141;p4"/>
          <p:cNvSpPr/>
          <p:nvPr/>
        </p:nvSpPr>
        <p:spPr>
          <a:xfrm>
            <a:off x="777240" y="4593257"/>
            <a:ext cx="256032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1"/>
              </a:buClr>
              <a:buSzPts val="800"/>
              <a:buFont typeface="Calibri"/>
              <a:buNone/>
            </a:pPr>
            <a:r>
              <a:rPr b="1" i="0" lang="en-US" sz="800" u="none" cap="none" strike="noStrike">
                <a:solidFill>
                  <a:schemeClr val="dk1"/>
                </a:solidFill>
                <a:latin typeface="Gill Sans"/>
                <a:ea typeface="Gill Sans"/>
                <a:cs typeface="Gill Sans"/>
                <a:sym typeface="Gill Sans"/>
              </a:rPr>
              <a:t>Airbridge / Stand door malfunction</a:t>
            </a:r>
            <a:endParaRPr b="0" i="0" sz="1400" u="none" cap="none" strike="noStrike">
              <a:solidFill>
                <a:srgbClr val="000000"/>
              </a:solidFill>
              <a:latin typeface="Gill Sans"/>
              <a:ea typeface="Gill Sans"/>
              <a:cs typeface="Gill Sans"/>
              <a:sym typeface="Gill Sans"/>
            </a:endParaRPr>
          </a:p>
        </p:txBody>
      </p:sp>
      <p:sp>
        <p:nvSpPr>
          <p:cNvPr id="142" name="Google Shape;142;p4"/>
          <p:cNvSpPr/>
          <p:nvPr/>
        </p:nvSpPr>
        <p:spPr>
          <a:xfrm>
            <a:off x="3383280" y="4593257"/>
            <a:ext cx="521208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C3E50"/>
              </a:buClr>
              <a:buSzPts val="800"/>
              <a:buFont typeface="Calibri"/>
              <a:buNone/>
            </a:pPr>
            <a:r>
              <a:rPr b="0" i="0" lang="en-US" sz="800" u="none" cap="none" strike="noStrike">
                <a:solidFill>
                  <a:srgbClr val="2C3E50"/>
                </a:solidFill>
                <a:latin typeface="Gill Sans"/>
                <a:ea typeface="Gill Sans"/>
                <a:cs typeface="Gill Sans"/>
                <a:sym typeface="Gill Sans"/>
              </a:rPr>
              <a:t>If door between airbridge/steps malfunctions and fails to open pax will be held at the bridge until it gets resolved and they reach the immigration. Whats the fallback or how redirection to another entry point happens</a:t>
            </a:r>
            <a:endParaRPr b="0" i="0" sz="800" u="none" cap="none" strike="noStrike">
              <a:solidFill>
                <a:schemeClr val="dk1"/>
              </a:solidFill>
              <a:latin typeface="Gill Sans"/>
              <a:ea typeface="Gill Sans"/>
              <a:cs typeface="Gill Sans"/>
              <a:sym typeface="Gill Sans"/>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5"/>
          <p:cNvSpPr/>
          <p:nvPr/>
        </p:nvSpPr>
        <p:spPr>
          <a:xfrm>
            <a:off x="640080" y="4754880"/>
            <a:ext cx="3657600" cy="32004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5D6D7E"/>
              </a:buClr>
              <a:buSzPts val="900"/>
              <a:buFont typeface="Calibri"/>
              <a:buNone/>
            </a:pPr>
            <a:r>
              <a:t/>
            </a:r>
            <a:endParaRPr b="0" i="0" sz="900" u="none" cap="none" strike="noStrike">
              <a:solidFill>
                <a:schemeClr val="dk1"/>
              </a:solidFill>
              <a:latin typeface="Calibri"/>
              <a:ea typeface="Calibri"/>
              <a:cs typeface="Calibri"/>
              <a:sym typeface="Calibri"/>
            </a:endParaRPr>
          </a:p>
        </p:txBody>
      </p:sp>
      <p:sp>
        <p:nvSpPr>
          <p:cNvPr id="149" name="Google Shape;149;p5"/>
          <p:cNvSpPr/>
          <p:nvPr/>
        </p:nvSpPr>
        <p:spPr>
          <a:xfrm>
            <a:off x="228600" y="137150"/>
            <a:ext cx="845820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B1D3A"/>
              </a:buClr>
              <a:buSzPts val="2400"/>
              <a:buFont typeface="Georgia"/>
              <a:buNone/>
            </a:pPr>
            <a:r>
              <a:rPr b="1" i="0" lang="en-US" sz="2400" u="none" cap="none" strike="noStrike">
                <a:solidFill>
                  <a:srgbClr val="CC0099"/>
                </a:solidFill>
                <a:latin typeface="Gill Sans"/>
                <a:ea typeface="Gill Sans"/>
                <a:cs typeface="Gill Sans"/>
                <a:sym typeface="Gill Sans"/>
              </a:rPr>
              <a:t>Key Questions to ask for data collection</a:t>
            </a:r>
            <a:endParaRPr b="1" i="0" sz="2400" u="none" cap="none" strike="noStrike">
              <a:solidFill>
                <a:srgbClr val="CC0099"/>
              </a:solidFill>
              <a:latin typeface="Gill Sans"/>
              <a:ea typeface="Gill Sans"/>
              <a:cs typeface="Gill Sans"/>
              <a:sym typeface="Gill Sans"/>
            </a:endParaRPr>
          </a:p>
        </p:txBody>
      </p:sp>
      <p:sp>
        <p:nvSpPr>
          <p:cNvPr id="150" name="Google Shape;150;p5"/>
          <p:cNvSpPr/>
          <p:nvPr/>
        </p:nvSpPr>
        <p:spPr>
          <a:xfrm>
            <a:off x="228600" y="548650"/>
            <a:ext cx="84582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D6D7E"/>
              </a:buClr>
              <a:buSzPts val="1000"/>
              <a:buFont typeface="Calibri"/>
              <a:buNone/>
            </a:pPr>
            <a:r>
              <a:rPr b="0" i="0" lang="en-US" sz="1000" u="none" cap="none" strike="noStrike">
                <a:solidFill>
                  <a:srgbClr val="5D6D7E"/>
                </a:solidFill>
                <a:latin typeface="Gill Sans"/>
                <a:ea typeface="Gill Sans"/>
                <a:cs typeface="Gill Sans"/>
                <a:sym typeface="Gill Sans"/>
              </a:rPr>
              <a:t>Seven teams will feed inputs into our simulation, each one owns a piece of the model we cannot build without.</a:t>
            </a:r>
            <a:endParaRPr b="0" i="0" sz="1000" u="none" cap="none" strike="noStrike">
              <a:solidFill>
                <a:schemeClr val="dk1"/>
              </a:solidFill>
              <a:latin typeface="Gill Sans"/>
              <a:ea typeface="Gill Sans"/>
              <a:cs typeface="Gill Sans"/>
              <a:sym typeface="Gill Sans"/>
            </a:endParaRPr>
          </a:p>
        </p:txBody>
      </p:sp>
      <p:sp>
        <p:nvSpPr>
          <p:cNvPr id="151" name="Google Shape;151;p5"/>
          <p:cNvSpPr/>
          <p:nvPr/>
        </p:nvSpPr>
        <p:spPr>
          <a:xfrm>
            <a:off x="3493009" y="1298448"/>
            <a:ext cx="1316736" cy="1316736"/>
          </a:xfrm>
          <a:prstGeom prst="ellipse">
            <a:avLst/>
          </a:prstGeom>
          <a:solidFill>
            <a:srgbClr val="0E7C86">
              <a:alpha val="30196"/>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52" name="Google Shape;152;p5"/>
          <p:cNvSpPr/>
          <p:nvPr/>
        </p:nvSpPr>
        <p:spPr>
          <a:xfrm>
            <a:off x="3578431" y="1408176"/>
            <a:ext cx="1133856" cy="1133856"/>
          </a:xfrm>
          <a:prstGeom prst="ellipse">
            <a:avLst/>
          </a:prstGeom>
          <a:solidFill>
            <a:srgbClr val="CC0099"/>
          </a:solidFill>
          <a:ln>
            <a:noFill/>
          </a:ln>
          <a:effectLst>
            <a:outerShdw blurRad="101600" rotWithShape="0" algn="bl" dir="8100000" dist="38100">
              <a:srgbClr val="000000">
                <a:alpha val="20000"/>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53" name="Google Shape;153;p5"/>
          <p:cNvSpPr/>
          <p:nvPr/>
        </p:nvSpPr>
        <p:spPr>
          <a:xfrm>
            <a:off x="3643883" y="1723644"/>
            <a:ext cx="1005840" cy="41148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950"/>
              <a:buFont typeface="Calibri"/>
              <a:buNone/>
            </a:pPr>
            <a:r>
              <a:rPr b="1" i="0" lang="en-US" sz="950" u="none" cap="none" strike="noStrike">
                <a:solidFill>
                  <a:srgbClr val="FFFFFF"/>
                </a:solidFill>
                <a:latin typeface="Gill Sans"/>
                <a:ea typeface="Gill Sans"/>
                <a:cs typeface="Gill Sans"/>
                <a:sym typeface="Gill Sans"/>
              </a:rPr>
              <a:t>Simulation</a:t>
            </a:r>
            <a:endParaRPr b="0" i="0" sz="950" u="none" cap="none" strike="noStrike">
              <a:solidFill>
                <a:schemeClr val="dk1"/>
              </a:solidFill>
              <a:latin typeface="Gill Sans"/>
              <a:ea typeface="Gill Sans"/>
              <a:cs typeface="Gill Sans"/>
              <a:sym typeface="Gill Sans"/>
            </a:endParaRPr>
          </a:p>
          <a:p>
            <a:pPr indent="0" lvl="0" marL="0" marR="0" rtl="0" algn="ctr">
              <a:lnSpc>
                <a:spcPct val="100000"/>
              </a:lnSpc>
              <a:spcBef>
                <a:spcPts val="0"/>
              </a:spcBef>
              <a:spcAft>
                <a:spcPts val="0"/>
              </a:spcAft>
              <a:buClr>
                <a:srgbClr val="FFFFFF"/>
              </a:buClr>
              <a:buSzPts val="950"/>
              <a:buFont typeface="Calibri"/>
              <a:buNone/>
            </a:pPr>
            <a:r>
              <a:rPr b="1" i="0" lang="en-US" sz="950" u="none" cap="none" strike="noStrike">
                <a:solidFill>
                  <a:srgbClr val="FFFFFF"/>
                </a:solidFill>
                <a:latin typeface="Gill Sans"/>
                <a:ea typeface="Gill Sans"/>
                <a:cs typeface="Gill Sans"/>
                <a:sym typeface="Gill Sans"/>
              </a:rPr>
              <a:t>Model Input</a:t>
            </a:r>
            <a:endParaRPr b="0" i="0" sz="950" u="none" cap="none" strike="noStrike">
              <a:solidFill>
                <a:schemeClr val="dk1"/>
              </a:solidFill>
              <a:latin typeface="Gill Sans"/>
              <a:ea typeface="Gill Sans"/>
              <a:cs typeface="Gill Sans"/>
              <a:sym typeface="Gill Sans"/>
            </a:endParaRPr>
          </a:p>
        </p:txBody>
      </p:sp>
      <p:sp>
        <p:nvSpPr>
          <p:cNvPr id="154" name="Google Shape;154;p5"/>
          <p:cNvSpPr/>
          <p:nvPr/>
        </p:nvSpPr>
        <p:spPr>
          <a:xfrm>
            <a:off x="182880" y="868680"/>
            <a:ext cx="2834640" cy="594360"/>
          </a:xfrm>
          <a:prstGeom prst="rect">
            <a:avLst/>
          </a:prstGeom>
          <a:solidFill>
            <a:srgbClr val="FFFFFF"/>
          </a:solidFill>
          <a:ln cap="flat" cmpd="sng" w="9525">
            <a:solidFill>
              <a:srgbClr val="E0E0E0"/>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55" name="Google Shape;155;p5"/>
          <p:cNvSpPr/>
          <p:nvPr/>
        </p:nvSpPr>
        <p:spPr>
          <a:xfrm>
            <a:off x="182880" y="868680"/>
            <a:ext cx="45720" cy="594360"/>
          </a:xfrm>
          <a:prstGeom prst="rect">
            <a:avLst/>
          </a:prstGeom>
          <a:solidFill>
            <a:srgbClr val="0B1D3A"/>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56" name="Google Shape;156;p5"/>
          <p:cNvSpPr/>
          <p:nvPr/>
        </p:nvSpPr>
        <p:spPr>
          <a:xfrm>
            <a:off x="2688336" y="941832"/>
            <a:ext cx="256032" cy="256032"/>
          </a:xfrm>
          <a:prstGeom prst="ellipse">
            <a:avLst/>
          </a:prstGeom>
          <a:solidFill>
            <a:srgbClr val="0B1D3A"/>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descr="preencoded.png" id="157" name="Google Shape;157;p5"/>
          <p:cNvPicPr preferRelativeResize="0"/>
          <p:nvPr/>
        </p:nvPicPr>
        <p:blipFill rotWithShape="1">
          <a:blip r:embed="rId3">
            <a:alphaModFix/>
          </a:blip>
          <a:srcRect b="0" l="0" r="0" t="0"/>
          <a:stretch/>
        </p:blipFill>
        <p:spPr>
          <a:xfrm>
            <a:off x="2724912" y="978408"/>
            <a:ext cx="182880" cy="182880"/>
          </a:xfrm>
          <a:prstGeom prst="rect">
            <a:avLst/>
          </a:prstGeom>
          <a:noFill/>
          <a:ln>
            <a:noFill/>
          </a:ln>
        </p:spPr>
      </p:pic>
      <p:sp>
        <p:nvSpPr>
          <p:cNvPr id="158" name="Google Shape;158;p5"/>
          <p:cNvSpPr/>
          <p:nvPr/>
        </p:nvSpPr>
        <p:spPr>
          <a:xfrm>
            <a:off x="292608" y="923544"/>
            <a:ext cx="2258568"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B1D3A"/>
              </a:buClr>
              <a:buSzPts val="1050"/>
              <a:buFont typeface="Calibri"/>
              <a:buNone/>
            </a:pPr>
            <a:r>
              <a:rPr b="1" i="0" lang="en-US" sz="1050" u="none" cap="none" strike="noStrike">
                <a:solidFill>
                  <a:srgbClr val="0B1D3A"/>
                </a:solidFill>
                <a:latin typeface="Gill Sans"/>
                <a:ea typeface="Gill Sans"/>
                <a:cs typeface="Gill Sans"/>
                <a:sym typeface="Gill Sans"/>
              </a:rPr>
              <a:t>Project Team</a:t>
            </a:r>
            <a:endParaRPr b="0" i="0" sz="1050" u="none" cap="none" strike="noStrike">
              <a:solidFill>
                <a:schemeClr val="dk1"/>
              </a:solidFill>
              <a:latin typeface="Gill Sans"/>
              <a:ea typeface="Gill Sans"/>
              <a:cs typeface="Gill Sans"/>
              <a:sym typeface="Gill Sans"/>
            </a:endParaRPr>
          </a:p>
        </p:txBody>
      </p:sp>
      <p:sp>
        <p:nvSpPr>
          <p:cNvPr id="159" name="Google Shape;159;p5"/>
          <p:cNvSpPr/>
          <p:nvPr/>
        </p:nvSpPr>
        <p:spPr>
          <a:xfrm>
            <a:off x="292608" y="1197864"/>
            <a:ext cx="2615184"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D6D7E"/>
              </a:buClr>
              <a:buSzPts val="800"/>
              <a:buFont typeface="Calibri"/>
              <a:buNone/>
            </a:pPr>
            <a:r>
              <a:rPr b="0" i="1" lang="en-US" sz="800" u="none" cap="none" strike="noStrike">
                <a:solidFill>
                  <a:srgbClr val="5D6D7E"/>
                </a:solidFill>
                <a:latin typeface="Gill Sans"/>
                <a:ea typeface="Gill Sans"/>
                <a:cs typeface="Gill Sans"/>
                <a:sym typeface="Gill Sans"/>
              </a:rPr>
              <a:t>Design capacity, success criteria, layout variants</a:t>
            </a:r>
            <a:endParaRPr b="0" i="0" sz="800" u="none" cap="none" strike="noStrike">
              <a:solidFill>
                <a:schemeClr val="dk1"/>
              </a:solidFill>
              <a:latin typeface="Gill Sans"/>
              <a:ea typeface="Gill Sans"/>
              <a:cs typeface="Gill Sans"/>
              <a:sym typeface="Gill Sans"/>
            </a:endParaRPr>
          </a:p>
        </p:txBody>
      </p:sp>
      <p:cxnSp>
        <p:nvCxnSpPr>
          <p:cNvPr id="160" name="Google Shape;160;p5"/>
          <p:cNvCxnSpPr/>
          <p:nvPr/>
        </p:nvCxnSpPr>
        <p:spPr>
          <a:xfrm>
            <a:off x="3017520" y="1165860"/>
            <a:ext cx="475488" cy="662940"/>
          </a:xfrm>
          <a:prstGeom prst="straightConnector1">
            <a:avLst/>
          </a:prstGeom>
          <a:noFill/>
          <a:ln cap="flat" cmpd="sng" w="12700">
            <a:solidFill>
              <a:srgbClr val="D4A843"/>
            </a:solidFill>
            <a:prstDash val="dash"/>
            <a:round/>
            <a:headEnd len="sm" w="sm" type="none"/>
            <a:tailEnd len="sm" w="sm" type="none"/>
          </a:ln>
        </p:spPr>
      </p:cxnSp>
      <p:sp>
        <p:nvSpPr>
          <p:cNvPr id="161" name="Google Shape;161;p5"/>
          <p:cNvSpPr/>
          <p:nvPr/>
        </p:nvSpPr>
        <p:spPr>
          <a:xfrm>
            <a:off x="182880" y="1600200"/>
            <a:ext cx="2834640" cy="594360"/>
          </a:xfrm>
          <a:prstGeom prst="rect">
            <a:avLst/>
          </a:prstGeom>
          <a:solidFill>
            <a:srgbClr val="FFFFFF"/>
          </a:solidFill>
          <a:ln cap="flat" cmpd="sng" w="9525">
            <a:solidFill>
              <a:srgbClr val="E0E0E0"/>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62" name="Google Shape;162;p5"/>
          <p:cNvSpPr/>
          <p:nvPr/>
        </p:nvSpPr>
        <p:spPr>
          <a:xfrm>
            <a:off x="182880" y="1600200"/>
            <a:ext cx="45720" cy="594360"/>
          </a:xfrm>
          <a:prstGeom prst="rect">
            <a:avLst/>
          </a:prstGeom>
          <a:solidFill>
            <a:srgbClr val="0E7C8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63" name="Google Shape;163;p5"/>
          <p:cNvSpPr/>
          <p:nvPr/>
        </p:nvSpPr>
        <p:spPr>
          <a:xfrm>
            <a:off x="2688336" y="1673352"/>
            <a:ext cx="256032" cy="256032"/>
          </a:xfrm>
          <a:prstGeom prst="ellipse">
            <a:avLst/>
          </a:prstGeom>
          <a:solidFill>
            <a:srgbClr val="0E7C8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descr="preencoded.png" id="164" name="Google Shape;164;p5"/>
          <p:cNvPicPr preferRelativeResize="0"/>
          <p:nvPr/>
        </p:nvPicPr>
        <p:blipFill rotWithShape="1">
          <a:blip r:embed="rId4">
            <a:alphaModFix/>
          </a:blip>
          <a:srcRect b="0" l="0" r="0" t="0"/>
          <a:stretch/>
        </p:blipFill>
        <p:spPr>
          <a:xfrm>
            <a:off x="2724912" y="1709928"/>
            <a:ext cx="182880" cy="182880"/>
          </a:xfrm>
          <a:prstGeom prst="rect">
            <a:avLst/>
          </a:prstGeom>
          <a:noFill/>
          <a:ln>
            <a:noFill/>
          </a:ln>
        </p:spPr>
      </p:pic>
      <p:sp>
        <p:nvSpPr>
          <p:cNvPr id="165" name="Google Shape;165;p5"/>
          <p:cNvSpPr/>
          <p:nvPr/>
        </p:nvSpPr>
        <p:spPr>
          <a:xfrm>
            <a:off x="292608" y="1655064"/>
            <a:ext cx="2258568"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E7C86"/>
              </a:buClr>
              <a:buSzPts val="1050"/>
              <a:buFont typeface="Calibri"/>
              <a:buNone/>
            </a:pPr>
            <a:r>
              <a:rPr b="1" i="0" lang="en-US" sz="1050" u="none" cap="none" strike="noStrike">
                <a:solidFill>
                  <a:srgbClr val="0E7C86"/>
                </a:solidFill>
                <a:latin typeface="Gill Sans"/>
                <a:ea typeface="Gill Sans"/>
                <a:cs typeface="Gill Sans"/>
                <a:sym typeface="Gill Sans"/>
              </a:rPr>
              <a:t>Operations / Dispatch</a:t>
            </a:r>
            <a:endParaRPr b="0" i="0" sz="1050" u="none" cap="none" strike="noStrike">
              <a:solidFill>
                <a:schemeClr val="dk1"/>
              </a:solidFill>
              <a:latin typeface="Gill Sans"/>
              <a:ea typeface="Gill Sans"/>
              <a:cs typeface="Gill Sans"/>
              <a:sym typeface="Gill Sans"/>
            </a:endParaRPr>
          </a:p>
        </p:txBody>
      </p:sp>
      <p:sp>
        <p:nvSpPr>
          <p:cNvPr id="166" name="Google Shape;166;p5"/>
          <p:cNvSpPr/>
          <p:nvPr/>
        </p:nvSpPr>
        <p:spPr>
          <a:xfrm>
            <a:off x="292608" y="1929384"/>
            <a:ext cx="2615184"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D6D7E"/>
              </a:buClr>
              <a:buSzPts val="800"/>
              <a:buFont typeface="Calibri"/>
              <a:buNone/>
            </a:pPr>
            <a:r>
              <a:rPr b="0" i="1" lang="en-US" sz="800" u="none" cap="none" strike="noStrike">
                <a:solidFill>
                  <a:srgbClr val="5D6D7E"/>
                </a:solidFill>
                <a:latin typeface="Calibri"/>
                <a:ea typeface="Calibri"/>
                <a:cs typeface="Calibri"/>
                <a:sym typeface="Calibri"/>
              </a:rPr>
              <a:t>Stand allocation, ramp delays, wind thresholds, coach ops</a:t>
            </a:r>
            <a:endParaRPr b="0" i="0" sz="800" u="none" cap="none" strike="noStrike">
              <a:solidFill>
                <a:schemeClr val="dk1"/>
              </a:solidFill>
              <a:latin typeface="Calibri"/>
              <a:ea typeface="Calibri"/>
              <a:cs typeface="Calibri"/>
              <a:sym typeface="Calibri"/>
            </a:endParaRPr>
          </a:p>
        </p:txBody>
      </p:sp>
      <p:cxnSp>
        <p:nvCxnSpPr>
          <p:cNvPr id="167" name="Google Shape;167;p5"/>
          <p:cNvCxnSpPr/>
          <p:nvPr/>
        </p:nvCxnSpPr>
        <p:spPr>
          <a:xfrm flipH="1" rot="10800000">
            <a:off x="3012949" y="1828801"/>
            <a:ext cx="470913" cy="68580"/>
          </a:xfrm>
          <a:prstGeom prst="straightConnector1">
            <a:avLst/>
          </a:prstGeom>
          <a:noFill/>
          <a:ln cap="flat" cmpd="sng" w="12700">
            <a:solidFill>
              <a:srgbClr val="D4A843"/>
            </a:solidFill>
            <a:prstDash val="dash"/>
            <a:round/>
            <a:headEnd len="sm" w="sm" type="none"/>
            <a:tailEnd len="sm" w="sm" type="none"/>
          </a:ln>
        </p:spPr>
      </p:cxnSp>
      <p:sp>
        <p:nvSpPr>
          <p:cNvPr id="168" name="Google Shape;168;p5"/>
          <p:cNvSpPr/>
          <p:nvPr/>
        </p:nvSpPr>
        <p:spPr>
          <a:xfrm>
            <a:off x="182880" y="2331720"/>
            <a:ext cx="2834640" cy="594360"/>
          </a:xfrm>
          <a:prstGeom prst="rect">
            <a:avLst/>
          </a:prstGeom>
          <a:solidFill>
            <a:srgbClr val="FFFFFF"/>
          </a:solidFill>
          <a:ln cap="flat" cmpd="sng" w="9525">
            <a:solidFill>
              <a:srgbClr val="E0E0E0"/>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69" name="Google Shape;169;p5"/>
          <p:cNvSpPr/>
          <p:nvPr/>
        </p:nvSpPr>
        <p:spPr>
          <a:xfrm>
            <a:off x="182880" y="2331720"/>
            <a:ext cx="45720" cy="594360"/>
          </a:xfrm>
          <a:prstGeom prst="rect">
            <a:avLst/>
          </a:prstGeom>
          <a:solidFill>
            <a:srgbClr val="143B6B"/>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70" name="Google Shape;170;p5"/>
          <p:cNvSpPr/>
          <p:nvPr/>
        </p:nvSpPr>
        <p:spPr>
          <a:xfrm>
            <a:off x="2688336" y="2404872"/>
            <a:ext cx="256032" cy="256032"/>
          </a:xfrm>
          <a:prstGeom prst="ellipse">
            <a:avLst/>
          </a:prstGeom>
          <a:solidFill>
            <a:srgbClr val="143B6B"/>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descr="preencoded.png" id="171" name="Google Shape;171;p5"/>
          <p:cNvPicPr preferRelativeResize="0"/>
          <p:nvPr/>
        </p:nvPicPr>
        <p:blipFill rotWithShape="1">
          <a:blip r:embed="rId5">
            <a:alphaModFix/>
          </a:blip>
          <a:srcRect b="0" l="0" r="0" t="0"/>
          <a:stretch/>
        </p:blipFill>
        <p:spPr>
          <a:xfrm>
            <a:off x="2724912" y="2441448"/>
            <a:ext cx="182880" cy="182880"/>
          </a:xfrm>
          <a:prstGeom prst="rect">
            <a:avLst/>
          </a:prstGeom>
          <a:noFill/>
          <a:ln>
            <a:noFill/>
          </a:ln>
        </p:spPr>
      </p:pic>
      <p:sp>
        <p:nvSpPr>
          <p:cNvPr id="172" name="Google Shape;172;p5"/>
          <p:cNvSpPr/>
          <p:nvPr/>
        </p:nvSpPr>
        <p:spPr>
          <a:xfrm>
            <a:off x="292608" y="2386584"/>
            <a:ext cx="2258568"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43B6B"/>
              </a:buClr>
              <a:buSzPts val="1050"/>
              <a:buFont typeface="Calibri"/>
              <a:buNone/>
            </a:pPr>
            <a:r>
              <a:rPr b="1" i="0" lang="en-US" sz="1050" u="none" cap="none" strike="noStrike">
                <a:solidFill>
                  <a:srgbClr val="143B6B"/>
                </a:solidFill>
                <a:latin typeface="Gill Sans"/>
                <a:ea typeface="Gill Sans"/>
                <a:cs typeface="Gill Sans"/>
                <a:sym typeface="Gill Sans"/>
              </a:rPr>
              <a:t>Passenger Service Front House</a:t>
            </a:r>
            <a:endParaRPr b="0" i="0" sz="1050" u="none" cap="none" strike="noStrike">
              <a:solidFill>
                <a:schemeClr val="dk1"/>
              </a:solidFill>
              <a:latin typeface="Gill Sans"/>
              <a:ea typeface="Gill Sans"/>
              <a:cs typeface="Gill Sans"/>
              <a:sym typeface="Gill Sans"/>
            </a:endParaRPr>
          </a:p>
        </p:txBody>
      </p:sp>
      <p:sp>
        <p:nvSpPr>
          <p:cNvPr id="173" name="Google Shape;173;p5"/>
          <p:cNvSpPr/>
          <p:nvPr/>
        </p:nvSpPr>
        <p:spPr>
          <a:xfrm>
            <a:off x="292608" y="2660904"/>
            <a:ext cx="2615184"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D6D7E"/>
              </a:buClr>
              <a:buSzPts val="800"/>
              <a:buFont typeface="Calibri"/>
              <a:buNone/>
            </a:pPr>
            <a:r>
              <a:rPr b="0" i="1" lang="en-US" sz="800" u="none" cap="none" strike="noStrike">
                <a:solidFill>
                  <a:srgbClr val="5D6D7E"/>
                </a:solidFill>
                <a:latin typeface="Calibri"/>
                <a:ea typeface="Calibri"/>
                <a:cs typeface="Calibri"/>
                <a:sym typeface="Calibri"/>
              </a:rPr>
              <a:t>Deplaning times, door malfunctions, family behaviour</a:t>
            </a:r>
            <a:endParaRPr b="0" i="0" sz="800" u="none" cap="none" strike="noStrike">
              <a:solidFill>
                <a:schemeClr val="dk1"/>
              </a:solidFill>
              <a:latin typeface="Calibri"/>
              <a:ea typeface="Calibri"/>
              <a:cs typeface="Calibri"/>
              <a:sym typeface="Calibri"/>
            </a:endParaRPr>
          </a:p>
        </p:txBody>
      </p:sp>
      <p:cxnSp>
        <p:nvCxnSpPr>
          <p:cNvPr id="174" name="Google Shape;174;p5"/>
          <p:cNvCxnSpPr/>
          <p:nvPr/>
        </p:nvCxnSpPr>
        <p:spPr>
          <a:xfrm flipH="1" rot="10800000">
            <a:off x="3017519" y="1828800"/>
            <a:ext cx="457197" cy="800100"/>
          </a:xfrm>
          <a:prstGeom prst="straightConnector1">
            <a:avLst/>
          </a:prstGeom>
          <a:noFill/>
          <a:ln cap="flat" cmpd="sng" w="12700">
            <a:solidFill>
              <a:srgbClr val="D4A843"/>
            </a:solidFill>
            <a:prstDash val="dash"/>
            <a:round/>
            <a:headEnd len="sm" w="sm" type="none"/>
            <a:tailEnd len="sm" w="sm" type="none"/>
          </a:ln>
        </p:spPr>
      </p:cxnSp>
      <p:sp>
        <p:nvSpPr>
          <p:cNvPr id="175" name="Google Shape;175;p5"/>
          <p:cNvSpPr/>
          <p:nvPr/>
        </p:nvSpPr>
        <p:spPr>
          <a:xfrm>
            <a:off x="5440680" y="868680"/>
            <a:ext cx="3520440" cy="594360"/>
          </a:xfrm>
          <a:prstGeom prst="rect">
            <a:avLst/>
          </a:prstGeom>
          <a:solidFill>
            <a:srgbClr val="FFFFFF"/>
          </a:solidFill>
          <a:ln cap="flat" cmpd="sng" w="9525">
            <a:solidFill>
              <a:srgbClr val="E0E0E0"/>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76" name="Google Shape;176;p5"/>
          <p:cNvSpPr/>
          <p:nvPr/>
        </p:nvSpPr>
        <p:spPr>
          <a:xfrm>
            <a:off x="5440680" y="868680"/>
            <a:ext cx="45720" cy="594360"/>
          </a:xfrm>
          <a:prstGeom prst="rect">
            <a:avLst/>
          </a:prstGeom>
          <a:solidFill>
            <a:srgbClr val="C0392B"/>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77" name="Google Shape;177;p5"/>
          <p:cNvSpPr/>
          <p:nvPr/>
        </p:nvSpPr>
        <p:spPr>
          <a:xfrm>
            <a:off x="5550408" y="941832"/>
            <a:ext cx="256032" cy="256032"/>
          </a:xfrm>
          <a:prstGeom prst="ellipse">
            <a:avLst/>
          </a:prstGeom>
          <a:solidFill>
            <a:srgbClr val="C0392B"/>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descr="preencoded.png" id="178" name="Google Shape;178;p5"/>
          <p:cNvPicPr preferRelativeResize="0"/>
          <p:nvPr/>
        </p:nvPicPr>
        <p:blipFill rotWithShape="1">
          <a:blip r:embed="rId6">
            <a:alphaModFix/>
          </a:blip>
          <a:srcRect b="0" l="0" r="0" t="0"/>
          <a:stretch/>
        </p:blipFill>
        <p:spPr>
          <a:xfrm>
            <a:off x="5586984" y="978408"/>
            <a:ext cx="182880" cy="182880"/>
          </a:xfrm>
          <a:prstGeom prst="rect">
            <a:avLst/>
          </a:prstGeom>
          <a:noFill/>
          <a:ln>
            <a:noFill/>
          </a:ln>
        </p:spPr>
      </p:pic>
      <p:sp>
        <p:nvSpPr>
          <p:cNvPr id="179" name="Google Shape;179;p5"/>
          <p:cNvSpPr/>
          <p:nvPr/>
        </p:nvSpPr>
        <p:spPr>
          <a:xfrm>
            <a:off x="5897880" y="923544"/>
            <a:ext cx="2898648"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0392B"/>
              </a:buClr>
              <a:buSzPts val="1050"/>
              <a:buFont typeface="Calibri"/>
              <a:buNone/>
            </a:pPr>
            <a:r>
              <a:rPr b="1" i="0" lang="en-US" sz="1050" u="none" cap="none" strike="noStrike">
                <a:solidFill>
                  <a:srgbClr val="C0392B"/>
                </a:solidFill>
                <a:latin typeface="Gill Sans"/>
                <a:ea typeface="Gill Sans"/>
                <a:cs typeface="Gill Sans"/>
                <a:sym typeface="Gill Sans"/>
              </a:rPr>
              <a:t>Border Force</a:t>
            </a:r>
            <a:endParaRPr b="0" i="0" sz="1050" u="none" cap="none" strike="noStrike">
              <a:solidFill>
                <a:schemeClr val="dk1"/>
              </a:solidFill>
              <a:latin typeface="Gill Sans"/>
              <a:ea typeface="Gill Sans"/>
              <a:cs typeface="Gill Sans"/>
              <a:sym typeface="Gill Sans"/>
            </a:endParaRPr>
          </a:p>
        </p:txBody>
      </p:sp>
      <p:sp>
        <p:nvSpPr>
          <p:cNvPr id="180" name="Google Shape;180;p5"/>
          <p:cNvSpPr/>
          <p:nvPr/>
        </p:nvSpPr>
        <p:spPr>
          <a:xfrm>
            <a:off x="5550408" y="1197864"/>
            <a:ext cx="3300984"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D6D7E"/>
              </a:buClr>
              <a:buSzPts val="800"/>
              <a:buFont typeface="Calibri"/>
              <a:buNone/>
            </a:pPr>
            <a:r>
              <a:rPr b="0" i="1" lang="en-US" sz="800" u="none" cap="none" strike="noStrike">
                <a:solidFill>
                  <a:srgbClr val="5D6D7E"/>
                </a:solidFill>
                <a:latin typeface="Gill Sans"/>
                <a:ea typeface="Gill Sans"/>
                <a:cs typeface="Gill Sans"/>
                <a:sym typeface="Gill Sans"/>
              </a:rPr>
              <a:t>Processing times, e-gates outages, Eligible Passport but with visas</a:t>
            </a:r>
            <a:r>
              <a:rPr i="1" lang="en-US" sz="800">
                <a:solidFill>
                  <a:srgbClr val="5D6D7E"/>
                </a:solidFill>
                <a:latin typeface="Gill Sans"/>
                <a:ea typeface="Gill Sans"/>
                <a:cs typeface="Gill Sans"/>
                <a:sym typeface="Gill Sans"/>
              </a:rPr>
              <a:t> needs stamping</a:t>
            </a:r>
            <a:endParaRPr b="0" i="0" sz="800" u="none" cap="none" strike="noStrike">
              <a:solidFill>
                <a:schemeClr val="dk1"/>
              </a:solidFill>
              <a:latin typeface="Gill Sans"/>
              <a:ea typeface="Gill Sans"/>
              <a:cs typeface="Gill Sans"/>
              <a:sym typeface="Gill Sans"/>
            </a:endParaRPr>
          </a:p>
        </p:txBody>
      </p:sp>
      <p:cxnSp>
        <p:nvCxnSpPr>
          <p:cNvPr id="181" name="Google Shape;181;p5"/>
          <p:cNvCxnSpPr/>
          <p:nvPr/>
        </p:nvCxnSpPr>
        <p:spPr>
          <a:xfrm flipH="1">
            <a:off x="4800599" y="1165860"/>
            <a:ext cx="640081" cy="662940"/>
          </a:xfrm>
          <a:prstGeom prst="straightConnector1">
            <a:avLst/>
          </a:prstGeom>
          <a:noFill/>
          <a:ln cap="flat" cmpd="sng" w="12700">
            <a:solidFill>
              <a:srgbClr val="D4A843"/>
            </a:solidFill>
            <a:prstDash val="dash"/>
            <a:round/>
            <a:headEnd len="sm" w="sm" type="none"/>
            <a:tailEnd len="sm" w="sm" type="none"/>
          </a:ln>
        </p:spPr>
      </p:cxnSp>
      <p:sp>
        <p:nvSpPr>
          <p:cNvPr id="182" name="Google Shape;182;p5"/>
          <p:cNvSpPr/>
          <p:nvPr/>
        </p:nvSpPr>
        <p:spPr>
          <a:xfrm>
            <a:off x="5440680" y="1600200"/>
            <a:ext cx="3520440" cy="594360"/>
          </a:xfrm>
          <a:prstGeom prst="rect">
            <a:avLst/>
          </a:prstGeom>
          <a:solidFill>
            <a:srgbClr val="FFFFFF"/>
          </a:solidFill>
          <a:ln cap="flat" cmpd="sng" w="9525">
            <a:solidFill>
              <a:srgbClr val="E0E0E0"/>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83" name="Google Shape;183;p5"/>
          <p:cNvSpPr/>
          <p:nvPr/>
        </p:nvSpPr>
        <p:spPr>
          <a:xfrm>
            <a:off x="5440680" y="1600200"/>
            <a:ext cx="45720" cy="594360"/>
          </a:xfrm>
          <a:prstGeom prst="rect">
            <a:avLst/>
          </a:prstGeom>
          <a:solidFill>
            <a:srgbClr val="6C348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84" name="Google Shape;184;p5"/>
          <p:cNvSpPr/>
          <p:nvPr/>
        </p:nvSpPr>
        <p:spPr>
          <a:xfrm>
            <a:off x="5550408" y="1673352"/>
            <a:ext cx="256032" cy="256032"/>
          </a:xfrm>
          <a:prstGeom prst="ellipse">
            <a:avLst/>
          </a:prstGeom>
          <a:solidFill>
            <a:srgbClr val="6C348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descr="preencoded.png" id="185" name="Google Shape;185;p5"/>
          <p:cNvPicPr preferRelativeResize="0"/>
          <p:nvPr/>
        </p:nvPicPr>
        <p:blipFill rotWithShape="1">
          <a:blip r:embed="rId7">
            <a:alphaModFix/>
          </a:blip>
          <a:srcRect b="0" l="0" r="0" t="0"/>
          <a:stretch/>
        </p:blipFill>
        <p:spPr>
          <a:xfrm>
            <a:off x="5586984" y="1709928"/>
            <a:ext cx="182880" cy="182880"/>
          </a:xfrm>
          <a:prstGeom prst="rect">
            <a:avLst/>
          </a:prstGeom>
          <a:noFill/>
          <a:ln>
            <a:noFill/>
          </a:ln>
        </p:spPr>
      </p:pic>
      <p:sp>
        <p:nvSpPr>
          <p:cNvPr id="186" name="Google Shape;186;p5"/>
          <p:cNvSpPr/>
          <p:nvPr/>
        </p:nvSpPr>
        <p:spPr>
          <a:xfrm>
            <a:off x="5897880" y="1655064"/>
            <a:ext cx="2898648"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C3483"/>
              </a:buClr>
              <a:buSzPts val="1050"/>
              <a:buFont typeface="Calibri"/>
              <a:buNone/>
            </a:pPr>
            <a:r>
              <a:rPr b="1" i="0" lang="en-US" sz="1050" u="none" cap="none" strike="noStrike">
                <a:solidFill>
                  <a:srgbClr val="6C3483"/>
                </a:solidFill>
                <a:latin typeface="Gill Sans"/>
                <a:ea typeface="Gill Sans"/>
                <a:cs typeface="Gill Sans"/>
                <a:sym typeface="Gill Sans"/>
              </a:rPr>
              <a:t>Special Assistance</a:t>
            </a:r>
            <a:endParaRPr b="0" i="0" sz="1050" u="none" cap="none" strike="noStrike">
              <a:solidFill>
                <a:schemeClr val="dk1"/>
              </a:solidFill>
              <a:latin typeface="Gill Sans"/>
              <a:ea typeface="Gill Sans"/>
              <a:cs typeface="Gill Sans"/>
              <a:sym typeface="Gill Sans"/>
            </a:endParaRPr>
          </a:p>
        </p:txBody>
      </p:sp>
      <p:sp>
        <p:nvSpPr>
          <p:cNvPr id="187" name="Google Shape;187;p5"/>
          <p:cNvSpPr/>
          <p:nvPr/>
        </p:nvSpPr>
        <p:spPr>
          <a:xfrm>
            <a:off x="5550408" y="1929384"/>
            <a:ext cx="3300984"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D6D7E"/>
              </a:buClr>
              <a:buSzPts val="800"/>
              <a:buFont typeface="Calibri"/>
              <a:buNone/>
            </a:pPr>
            <a:r>
              <a:rPr b="0" i="1" lang="en-US" sz="800" u="none" cap="none" strike="noStrike">
                <a:solidFill>
                  <a:srgbClr val="5D6D7E"/>
                </a:solidFill>
                <a:latin typeface="Gill Sans"/>
                <a:ea typeface="Gill Sans"/>
                <a:cs typeface="Gill Sans"/>
                <a:sym typeface="Gill Sans"/>
              </a:rPr>
              <a:t>Agent capacity, ambulift process, PRM escort times</a:t>
            </a:r>
            <a:endParaRPr b="0" i="0" sz="800" u="none" cap="none" strike="noStrike">
              <a:solidFill>
                <a:schemeClr val="dk1"/>
              </a:solidFill>
              <a:latin typeface="Gill Sans"/>
              <a:ea typeface="Gill Sans"/>
              <a:cs typeface="Gill Sans"/>
              <a:sym typeface="Gill Sans"/>
            </a:endParaRPr>
          </a:p>
        </p:txBody>
      </p:sp>
      <p:cxnSp>
        <p:nvCxnSpPr>
          <p:cNvPr id="188" name="Google Shape;188;p5"/>
          <p:cNvCxnSpPr/>
          <p:nvPr/>
        </p:nvCxnSpPr>
        <p:spPr>
          <a:xfrm rot="10800000">
            <a:off x="4809745" y="1828800"/>
            <a:ext cx="630935" cy="68580"/>
          </a:xfrm>
          <a:prstGeom prst="straightConnector1">
            <a:avLst/>
          </a:prstGeom>
          <a:noFill/>
          <a:ln cap="flat" cmpd="sng" w="12700">
            <a:solidFill>
              <a:srgbClr val="D4A843"/>
            </a:solidFill>
            <a:prstDash val="dash"/>
            <a:round/>
            <a:headEnd len="sm" w="sm" type="none"/>
            <a:tailEnd len="sm" w="sm" type="none"/>
          </a:ln>
        </p:spPr>
      </p:cxnSp>
      <p:sp>
        <p:nvSpPr>
          <p:cNvPr id="189" name="Google Shape;189;p5"/>
          <p:cNvSpPr/>
          <p:nvPr/>
        </p:nvSpPr>
        <p:spPr>
          <a:xfrm>
            <a:off x="5440680" y="2331720"/>
            <a:ext cx="3520440" cy="594360"/>
          </a:xfrm>
          <a:prstGeom prst="rect">
            <a:avLst/>
          </a:prstGeom>
          <a:solidFill>
            <a:srgbClr val="FFFFFF"/>
          </a:solidFill>
          <a:ln cap="flat" cmpd="sng" w="9525">
            <a:solidFill>
              <a:srgbClr val="E0E0E0"/>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90" name="Google Shape;190;p5"/>
          <p:cNvSpPr/>
          <p:nvPr/>
        </p:nvSpPr>
        <p:spPr>
          <a:xfrm>
            <a:off x="5440680" y="2331720"/>
            <a:ext cx="45720" cy="594360"/>
          </a:xfrm>
          <a:prstGeom prst="rect">
            <a:avLst/>
          </a:prstGeom>
          <a:solidFill>
            <a:srgbClr val="1B9AAA"/>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91" name="Google Shape;191;p5"/>
          <p:cNvSpPr/>
          <p:nvPr/>
        </p:nvSpPr>
        <p:spPr>
          <a:xfrm>
            <a:off x="5550408" y="2404872"/>
            <a:ext cx="256032" cy="256032"/>
          </a:xfrm>
          <a:prstGeom prst="ellipse">
            <a:avLst/>
          </a:prstGeom>
          <a:solidFill>
            <a:srgbClr val="1B9AAA"/>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descr="preencoded.png" id="192" name="Google Shape;192;p5"/>
          <p:cNvPicPr preferRelativeResize="0"/>
          <p:nvPr/>
        </p:nvPicPr>
        <p:blipFill rotWithShape="1">
          <a:blip r:embed="rId8">
            <a:alphaModFix/>
          </a:blip>
          <a:srcRect b="0" l="0" r="0" t="0"/>
          <a:stretch/>
        </p:blipFill>
        <p:spPr>
          <a:xfrm>
            <a:off x="5586984" y="2441448"/>
            <a:ext cx="182880" cy="182880"/>
          </a:xfrm>
          <a:prstGeom prst="rect">
            <a:avLst/>
          </a:prstGeom>
          <a:noFill/>
          <a:ln>
            <a:noFill/>
          </a:ln>
        </p:spPr>
      </p:pic>
      <p:sp>
        <p:nvSpPr>
          <p:cNvPr id="193" name="Google Shape;193;p5"/>
          <p:cNvSpPr/>
          <p:nvPr/>
        </p:nvSpPr>
        <p:spPr>
          <a:xfrm>
            <a:off x="5897880" y="2386584"/>
            <a:ext cx="2898648"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B9AAA"/>
              </a:buClr>
              <a:buSzPts val="1050"/>
              <a:buFont typeface="Calibri"/>
              <a:buNone/>
            </a:pPr>
            <a:r>
              <a:rPr b="1" i="0" lang="en-US" sz="1050" u="none" cap="none" strike="noStrike">
                <a:solidFill>
                  <a:srgbClr val="1B9AAA"/>
                </a:solidFill>
                <a:latin typeface="Gill Sans"/>
                <a:ea typeface="Gill Sans"/>
                <a:cs typeface="Gill Sans"/>
                <a:sym typeface="Gill Sans"/>
              </a:rPr>
              <a:t>Airside / Baggage</a:t>
            </a:r>
            <a:endParaRPr b="0" i="0" sz="1050" u="none" cap="none" strike="noStrike">
              <a:solidFill>
                <a:schemeClr val="dk1"/>
              </a:solidFill>
              <a:latin typeface="Gill Sans"/>
              <a:ea typeface="Gill Sans"/>
              <a:cs typeface="Gill Sans"/>
              <a:sym typeface="Gill Sans"/>
            </a:endParaRPr>
          </a:p>
        </p:txBody>
      </p:sp>
      <p:sp>
        <p:nvSpPr>
          <p:cNvPr id="194" name="Google Shape;194;p5"/>
          <p:cNvSpPr/>
          <p:nvPr/>
        </p:nvSpPr>
        <p:spPr>
          <a:xfrm>
            <a:off x="5550408" y="2660904"/>
            <a:ext cx="3300984"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D6D7E"/>
              </a:buClr>
              <a:buSzPts val="800"/>
              <a:buFont typeface="Calibri"/>
              <a:buNone/>
            </a:pPr>
            <a:r>
              <a:rPr b="0" i="1" lang="en-US" sz="800" u="none" cap="none" strike="noStrike">
                <a:solidFill>
                  <a:srgbClr val="5D6D7E"/>
                </a:solidFill>
                <a:latin typeface="Gill Sans"/>
                <a:ea typeface="Gill Sans"/>
                <a:cs typeface="Gill Sans"/>
                <a:sym typeface="Gill Sans"/>
              </a:rPr>
              <a:t>First/last bag times, belt allocation, trim offload delays</a:t>
            </a:r>
            <a:endParaRPr b="0" i="0" sz="800" u="none" cap="none" strike="noStrike">
              <a:solidFill>
                <a:schemeClr val="dk1"/>
              </a:solidFill>
              <a:latin typeface="Gill Sans"/>
              <a:ea typeface="Gill Sans"/>
              <a:cs typeface="Gill Sans"/>
              <a:sym typeface="Gill Sans"/>
            </a:endParaRPr>
          </a:p>
        </p:txBody>
      </p:sp>
      <p:cxnSp>
        <p:nvCxnSpPr>
          <p:cNvPr id="195" name="Google Shape;195;p5"/>
          <p:cNvCxnSpPr/>
          <p:nvPr/>
        </p:nvCxnSpPr>
        <p:spPr>
          <a:xfrm>
            <a:off x="5440680" y="2628900"/>
            <a:ext cx="0" cy="0"/>
          </a:xfrm>
          <a:prstGeom prst="straightConnector1">
            <a:avLst/>
          </a:prstGeom>
          <a:noFill/>
          <a:ln cap="flat" cmpd="sng" w="12700">
            <a:solidFill>
              <a:srgbClr val="D4A843"/>
            </a:solidFill>
            <a:prstDash val="dash"/>
            <a:round/>
            <a:headEnd len="sm" w="sm" type="none"/>
            <a:tailEnd len="sm" w="sm" type="none"/>
          </a:ln>
        </p:spPr>
      </p:cxnSp>
      <p:sp>
        <p:nvSpPr>
          <p:cNvPr id="196" name="Google Shape;196;p5"/>
          <p:cNvSpPr/>
          <p:nvPr/>
        </p:nvSpPr>
        <p:spPr>
          <a:xfrm>
            <a:off x="1645920" y="3383280"/>
            <a:ext cx="5212080" cy="594360"/>
          </a:xfrm>
          <a:prstGeom prst="rect">
            <a:avLst/>
          </a:prstGeom>
          <a:solidFill>
            <a:srgbClr val="FFFFFF"/>
          </a:solidFill>
          <a:ln cap="flat" cmpd="sng" w="9525">
            <a:solidFill>
              <a:srgbClr val="E0E0E0"/>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97" name="Google Shape;197;p5"/>
          <p:cNvSpPr/>
          <p:nvPr/>
        </p:nvSpPr>
        <p:spPr>
          <a:xfrm>
            <a:off x="1645920" y="3383280"/>
            <a:ext cx="5212080" cy="45720"/>
          </a:xfrm>
          <a:prstGeom prst="rect">
            <a:avLst/>
          </a:prstGeom>
          <a:solidFill>
            <a:srgbClr val="D4A84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98" name="Google Shape;198;p5"/>
          <p:cNvSpPr/>
          <p:nvPr/>
        </p:nvSpPr>
        <p:spPr>
          <a:xfrm>
            <a:off x="1755648" y="3511296"/>
            <a:ext cx="256032" cy="256032"/>
          </a:xfrm>
          <a:prstGeom prst="ellipse">
            <a:avLst/>
          </a:prstGeom>
          <a:solidFill>
            <a:srgbClr val="D4A84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descr="preencoded.png" id="199" name="Google Shape;199;p5"/>
          <p:cNvPicPr preferRelativeResize="0"/>
          <p:nvPr/>
        </p:nvPicPr>
        <p:blipFill rotWithShape="1">
          <a:blip r:embed="rId9">
            <a:alphaModFix/>
          </a:blip>
          <a:srcRect b="0" l="0" r="0" t="0"/>
          <a:stretch/>
        </p:blipFill>
        <p:spPr>
          <a:xfrm>
            <a:off x="1792224" y="3547872"/>
            <a:ext cx="182880" cy="182880"/>
          </a:xfrm>
          <a:prstGeom prst="rect">
            <a:avLst/>
          </a:prstGeom>
          <a:noFill/>
          <a:ln>
            <a:noFill/>
          </a:ln>
        </p:spPr>
      </p:pic>
      <p:sp>
        <p:nvSpPr>
          <p:cNvPr id="200" name="Google Shape;200;p5"/>
          <p:cNvSpPr/>
          <p:nvPr/>
        </p:nvSpPr>
        <p:spPr>
          <a:xfrm>
            <a:off x="2103120" y="3493008"/>
            <a:ext cx="4498848"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4A843"/>
              </a:buClr>
              <a:buSzPts val="1050"/>
              <a:buFont typeface="Calibri"/>
              <a:buNone/>
            </a:pPr>
            <a:r>
              <a:rPr b="1" i="0" lang="en-US" sz="1050" u="none" cap="none" strike="noStrike">
                <a:solidFill>
                  <a:srgbClr val="D4A843"/>
                </a:solidFill>
                <a:latin typeface="Gill Sans"/>
                <a:ea typeface="Gill Sans"/>
                <a:cs typeface="Gill Sans"/>
                <a:sym typeface="Gill Sans"/>
              </a:rPr>
              <a:t>Business Analytics</a:t>
            </a:r>
            <a:endParaRPr b="0" i="0" sz="1050" u="none" cap="none" strike="noStrike">
              <a:solidFill>
                <a:schemeClr val="dk1"/>
              </a:solidFill>
              <a:latin typeface="Gill Sans"/>
              <a:ea typeface="Gill Sans"/>
              <a:cs typeface="Gill Sans"/>
              <a:sym typeface="Gill Sans"/>
            </a:endParaRPr>
          </a:p>
        </p:txBody>
      </p:sp>
      <p:sp>
        <p:nvSpPr>
          <p:cNvPr id="201" name="Google Shape;201;p5"/>
          <p:cNvSpPr/>
          <p:nvPr/>
        </p:nvSpPr>
        <p:spPr>
          <a:xfrm>
            <a:off x="1755648" y="3712464"/>
            <a:ext cx="4992624"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D6D7E"/>
              </a:buClr>
              <a:buSzPts val="800"/>
              <a:buFont typeface="Calibri"/>
              <a:buNone/>
            </a:pPr>
            <a:r>
              <a:rPr b="0" i="1" lang="en-US" sz="800" u="none" cap="none" strike="noStrike">
                <a:solidFill>
                  <a:srgbClr val="5D6D7E"/>
                </a:solidFill>
                <a:latin typeface="Gill Sans"/>
                <a:ea typeface="Gill Sans"/>
                <a:cs typeface="Gill Sans"/>
                <a:sym typeface="Gill Sans"/>
              </a:rPr>
              <a:t>Historical flight data, passenger flow data, processing time distributions, weather records</a:t>
            </a:r>
            <a:endParaRPr b="0" i="0" sz="800" u="none" cap="none" strike="noStrike">
              <a:solidFill>
                <a:schemeClr val="dk1"/>
              </a:solidFill>
              <a:latin typeface="Gill Sans"/>
              <a:ea typeface="Gill Sans"/>
              <a:cs typeface="Gill Sans"/>
              <a:sym typeface="Gill Sans"/>
            </a:endParaRPr>
          </a:p>
        </p:txBody>
      </p:sp>
      <p:cxnSp>
        <p:nvCxnSpPr>
          <p:cNvPr id="202" name="Google Shape;202;p5"/>
          <p:cNvCxnSpPr/>
          <p:nvPr/>
        </p:nvCxnSpPr>
        <p:spPr>
          <a:xfrm>
            <a:off x="4251960" y="3383280"/>
            <a:ext cx="0" cy="0"/>
          </a:xfrm>
          <a:prstGeom prst="straightConnector1">
            <a:avLst/>
          </a:prstGeom>
          <a:noFill/>
          <a:ln cap="flat" cmpd="sng" w="12700">
            <a:solidFill>
              <a:srgbClr val="D4A843"/>
            </a:solidFill>
            <a:prstDash val="dash"/>
            <a:round/>
            <a:headEnd len="sm" w="sm" type="none"/>
            <a:tailEnd len="sm" w="sm" type="none"/>
          </a:ln>
        </p:spPr>
      </p:cxnSp>
      <p:sp>
        <p:nvSpPr>
          <p:cNvPr id="203" name="Google Shape;203;p5"/>
          <p:cNvSpPr/>
          <p:nvPr/>
        </p:nvSpPr>
        <p:spPr>
          <a:xfrm>
            <a:off x="5120655" y="4830253"/>
            <a:ext cx="3840600" cy="2742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D4A843"/>
              </a:buClr>
              <a:buSzPts val="900"/>
              <a:buFont typeface="Calibri"/>
              <a:buNone/>
            </a:pPr>
            <a:r>
              <a:rPr b="1" i="1" lang="en-US" sz="900" u="none" cap="none" strike="noStrike">
                <a:solidFill>
                  <a:srgbClr val="CC0099"/>
                </a:solidFill>
                <a:latin typeface="Gill Sans"/>
                <a:ea typeface="Gill Sans"/>
                <a:cs typeface="Gill Sans"/>
                <a:sym typeface="Gill Sans"/>
              </a:rPr>
              <a:t>Detailed questions per team on following slides →</a:t>
            </a:r>
            <a:endParaRPr b="0" i="0" sz="900" u="none" cap="none" strike="noStrike">
              <a:solidFill>
                <a:srgbClr val="CC0099"/>
              </a:solidFill>
              <a:latin typeface="Gill Sans"/>
              <a:ea typeface="Gill Sans"/>
              <a:cs typeface="Gill Sans"/>
              <a:sym typeface="Gill Sans"/>
            </a:endParaRPr>
          </a:p>
        </p:txBody>
      </p:sp>
      <p:cxnSp>
        <p:nvCxnSpPr>
          <p:cNvPr id="204" name="Google Shape;204;p5"/>
          <p:cNvCxnSpPr/>
          <p:nvPr/>
        </p:nvCxnSpPr>
        <p:spPr>
          <a:xfrm rot="10800000">
            <a:off x="4818890" y="1828800"/>
            <a:ext cx="621789" cy="730554"/>
          </a:xfrm>
          <a:prstGeom prst="straightConnector1">
            <a:avLst/>
          </a:prstGeom>
          <a:noFill/>
          <a:ln cap="flat" cmpd="sng" w="12700">
            <a:solidFill>
              <a:srgbClr val="D4A843"/>
            </a:solidFill>
            <a:prstDash val="dash"/>
            <a:round/>
            <a:headEnd len="sm" w="sm" type="none"/>
            <a:tailEnd len="sm" w="sm" type="none"/>
          </a:ln>
        </p:spPr>
      </p:cxnSp>
      <p:cxnSp>
        <p:nvCxnSpPr>
          <p:cNvPr id="205" name="Google Shape;205;p5"/>
          <p:cNvCxnSpPr/>
          <p:nvPr/>
        </p:nvCxnSpPr>
        <p:spPr>
          <a:xfrm rot="10800000">
            <a:off x="4156266" y="2642616"/>
            <a:ext cx="5868" cy="749808"/>
          </a:xfrm>
          <a:prstGeom prst="straightConnector1">
            <a:avLst/>
          </a:prstGeom>
          <a:noFill/>
          <a:ln cap="flat" cmpd="sng" w="12700">
            <a:solidFill>
              <a:srgbClr val="D4A843"/>
            </a:solidFill>
            <a:prstDash val="dash"/>
            <a:round/>
            <a:headEnd len="sm" w="sm" type="none"/>
            <a:tailEnd len="sm" w="sm" type="none"/>
          </a:ln>
        </p:spPr>
      </p:cxn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6"/>
          <p:cNvSpPr/>
          <p:nvPr/>
        </p:nvSpPr>
        <p:spPr>
          <a:xfrm>
            <a:off x="365750" y="137150"/>
            <a:ext cx="850200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B1D3A"/>
              </a:buClr>
              <a:buSzPts val="2400"/>
              <a:buFont typeface="Georgia"/>
              <a:buNone/>
            </a:pPr>
            <a:r>
              <a:rPr b="1" i="0" lang="en-US" sz="2400" u="none" cap="none" strike="noStrike">
                <a:solidFill>
                  <a:srgbClr val="CC0099"/>
                </a:solidFill>
                <a:latin typeface="Gill Sans"/>
                <a:ea typeface="Gill Sans"/>
                <a:cs typeface="Gill Sans"/>
                <a:sym typeface="Gill Sans"/>
              </a:rPr>
              <a:t>Key Questions for Data Collection and Prep in Detail</a:t>
            </a:r>
            <a:endParaRPr b="1" i="0" sz="2400" u="none" cap="none" strike="noStrike">
              <a:solidFill>
                <a:srgbClr val="CC0099"/>
              </a:solidFill>
              <a:latin typeface="Gill Sans"/>
              <a:ea typeface="Gill Sans"/>
              <a:cs typeface="Gill Sans"/>
              <a:sym typeface="Gill Sans"/>
            </a:endParaRPr>
          </a:p>
        </p:txBody>
      </p:sp>
      <p:sp>
        <p:nvSpPr>
          <p:cNvPr id="212" name="Google Shape;212;p6"/>
          <p:cNvSpPr/>
          <p:nvPr/>
        </p:nvSpPr>
        <p:spPr>
          <a:xfrm>
            <a:off x="365750" y="548650"/>
            <a:ext cx="83211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D6D7E"/>
              </a:buClr>
              <a:buSzPts val="1100"/>
              <a:buFont typeface="Calibri"/>
              <a:buNone/>
            </a:pPr>
            <a:r>
              <a:rPr b="0" i="1" lang="en-US" sz="1100" u="none" cap="none" strike="noStrike">
                <a:solidFill>
                  <a:srgbClr val="5D6D7E"/>
                </a:solidFill>
                <a:latin typeface="Gill Sans"/>
                <a:ea typeface="Gill Sans"/>
                <a:cs typeface="Gill Sans"/>
                <a:sym typeface="Gill Sans"/>
              </a:rPr>
              <a:t>Part 1: Ground Operations, Passenger Handling &amp; Infrastructure</a:t>
            </a:r>
            <a:endParaRPr b="0" i="0" sz="1100" u="none" cap="none" strike="noStrike">
              <a:solidFill>
                <a:schemeClr val="dk1"/>
              </a:solidFill>
              <a:latin typeface="Gill Sans"/>
              <a:ea typeface="Gill Sans"/>
              <a:cs typeface="Gill Sans"/>
              <a:sym typeface="Gill Sans"/>
            </a:endParaRPr>
          </a:p>
        </p:txBody>
      </p:sp>
      <p:sp>
        <p:nvSpPr>
          <p:cNvPr id="213" name="Google Shape;213;p6"/>
          <p:cNvSpPr/>
          <p:nvPr/>
        </p:nvSpPr>
        <p:spPr>
          <a:xfrm>
            <a:off x="365760" y="914400"/>
            <a:ext cx="4114800" cy="1755648"/>
          </a:xfrm>
          <a:prstGeom prst="rect">
            <a:avLst/>
          </a:prstGeom>
          <a:solidFill>
            <a:srgbClr val="FFFFFF"/>
          </a:solidFill>
          <a:ln cap="flat" cmpd="sng" w="9525">
            <a:solidFill>
              <a:srgbClr val="E8E8E8"/>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14" name="Google Shape;214;p6"/>
          <p:cNvSpPr/>
          <p:nvPr/>
        </p:nvSpPr>
        <p:spPr>
          <a:xfrm>
            <a:off x="365760" y="914400"/>
            <a:ext cx="4114800" cy="384048"/>
          </a:xfrm>
          <a:prstGeom prst="rect">
            <a:avLst/>
          </a:prstGeom>
          <a:solidFill>
            <a:srgbClr val="0B1D3A"/>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descr="preencoded.png" id="215" name="Google Shape;215;p6"/>
          <p:cNvPicPr preferRelativeResize="0"/>
          <p:nvPr/>
        </p:nvPicPr>
        <p:blipFill rotWithShape="1">
          <a:blip r:embed="rId3">
            <a:alphaModFix/>
          </a:blip>
          <a:srcRect b="0" l="0" r="0" t="0"/>
          <a:stretch/>
        </p:blipFill>
        <p:spPr>
          <a:xfrm>
            <a:off x="475488" y="987552"/>
            <a:ext cx="219456" cy="219456"/>
          </a:xfrm>
          <a:prstGeom prst="rect">
            <a:avLst/>
          </a:prstGeom>
          <a:noFill/>
          <a:ln>
            <a:noFill/>
          </a:ln>
        </p:spPr>
      </p:pic>
      <p:sp>
        <p:nvSpPr>
          <p:cNvPr id="216" name="Google Shape;216;p6"/>
          <p:cNvSpPr/>
          <p:nvPr/>
        </p:nvSpPr>
        <p:spPr>
          <a:xfrm>
            <a:off x="749808" y="941832"/>
            <a:ext cx="3566160"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150"/>
              <a:buFont typeface="Calibri"/>
              <a:buNone/>
            </a:pPr>
            <a:r>
              <a:rPr b="1" i="0" lang="en-US" sz="1150" u="none" cap="none" strike="noStrike">
                <a:solidFill>
                  <a:srgbClr val="FFFFFF"/>
                </a:solidFill>
                <a:latin typeface="Gill Sans"/>
                <a:ea typeface="Gill Sans"/>
                <a:cs typeface="Gill Sans"/>
                <a:sym typeface="Gill Sans"/>
              </a:rPr>
              <a:t>Project Team</a:t>
            </a:r>
            <a:endParaRPr b="0" i="0" sz="1150" u="none" cap="none" strike="noStrike">
              <a:solidFill>
                <a:schemeClr val="dk1"/>
              </a:solidFill>
              <a:latin typeface="Gill Sans"/>
              <a:ea typeface="Gill Sans"/>
              <a:cs typeface="Gill Sans"/>
              <a:sym typeface="Gill Sans"/>
            </a:endParaRPr>
          </a:p>
        </p:txBody>
      </p:sp>
      <p:sp>
        <p:nvSpPr>
          <p:cNvPr id="217" name="Google Shape;217;p6"/>
          <p:cNvSpPr/>
          <p:nvPr/>
        </p:nvSpPr>
        <p:spPr>
          <a:xfrm>
            <a:off x="438912" y="1371600"/>
            <a:ext cx="3968496" cy="210312"/>
          </a:xfrm>
          <a:prstGeom prst="rect">
            <a:avLst/>
          </a:prstGeom>
          <a:solidFill>
            <a:srgbClr val="EAF4F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18" name="Google Shape;218;p6"/>
          <p:cNvSpPr/>
          <p:nvPr/>
        </p:nvSpPr>
        <p:spPr>
          <a:xfrm>
            <a:off x="512064" y="1371600"/>
            <a:ext cx="3822192" cy="21031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C3E50"/>
              </a:buClr>
              <a:buSzPts val="900"/>
              <a:buFont typeface="Calibri"/>
              <a:buNone/>
            </a:pPr>
            <a:r>
              <a:rPr b="0" i="0" lang="en-US" sz="900" u="none" cap="none" strike="noStrike">
                <a:solidFill>
                  <a:srgbClr val="2C3E50"/>
                </a:solidFill>
                <a:latin typeface="Gill Sans"/>
                <a:ea typeface="Gill Sans"/>
                <a:cs typeface="Gill Sans"/>
                <a:sym typeface="Gill Sans"/>
              </a:rPr>
              <a:t>What is the design hour capacity this layout must handle?</a:t>
            </a:r>
            <a:endParaRPr b="0" i="0" sz="900" u="none" cap="none" strike="noStrike">
              <a:solidFill>
                <a:schemeClr val="dk1"/>
              </a:solidFill>
              <a:latin typeface="Gill Sans"/>
              <a:ea typeface="Gill Sans"/>
              <a:cs typeface="Gill Sans"/>
              <a:sym typeface="Gill Sans"/>
            </a:endParaRPr>
          </a:p>
        </p:txBody>
      </p:sp>
      <p:sp>
        <p:nvSpPr>
          <p:cNvPr id="219" name="Google Shape;219;p6"/>
          <p:cNvSpPr/>
          <p:nvPr/>
        </p:nvSpPr>
        <p:spPr>
          <a:xfrm>
            <a:off x="438912" y="1591056"/>
            <a:ext cx="3968496" cy="210312"/>
          </a:xfrm>
          <a:prstGeom prst="rect">
            <a:avLst/>
          </a:pr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20" name="Google Shape;220;p6"/>
          <p:cNvSpPr/>
          <p:nvPr/>
        </p:nvSpPr>
        <p:spPr>
          <a:xfrm>
            <a:off x="512064" y="1591056"/>
            <a:ext cx="3822192"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C3E50"/>
              </a:buClr>
              <a:buSzPts val="850"/>
              <a:buFont typeface="Calibri"/>
              <a:buNone/>
            </a:pPr>
            <a:r>
              <a:rPr b="0" i="0" lang="en-US" sz="850" u="none" cap="none" strike="noStrike">
                <a:solidFill>
                  <a:srgbClr val="2C3E50"/>
                </a:solidFill>
                <a:latin typeface="Gill Sans"/>
                <a:ea typeface="Gill Sans"/>
                <a:cs typeface="Gill Sans"/>
                <a:sym typeface="Gill Sans"/>
              </a:rPr>
              <a:t>What are the success criteria for our layout like the  max queue time, throughput space utilisation?</a:t>
            </a:r>
            <a:endParaRPr b="0" i="0" sz="850" u="none" cap="none" strike="noStrike">
              <a:solidFill>
                <a:schemeClr val="dk1"/>
              </a:solidFill>
              <a:latin typeface="Gill Sans"/>
              <a:ea typeface="Gill Sans"/>
              <a:cs typeface="Gill Sans"/>
              <a:sym typeface="Gill Sans"/>
            </a:endParaRPr>
          </a:p>
        </p:txBody>
      </p:sp>
      <p:sp>
        <p:nvSpPr>
          <p:cNvPr id="221" name="Google Shape;221;p6"/>
          <p:cNvSpPr/>
          <p:nvPr/>
        </p:nvSpPr>
        <p:spPr>
          <a:xfrm>
            <a:off x="438912" y="1810512"/>
            <a:ext cx="3968496" cy="210312"/>
          </a:xfrm>
          <a:prstGeom prst="rect">
            <a:avLst/>
          </a:prstGeom>
          <a:solidFill>
            <a:srgbClr val="EAF4F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22" name="Google Shape;222;p6"/>
          <p:cNvSpPr/>
          <p:nvPr/>
        </p:nvSpPr>
        <p:spPr>
          <a:xfrm>
            <a:off x="512064" y="1810512"/>
            <a:ext cx="3822192" cy="21031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C3E50"/>
              </a:buClr>
              <a:buSzPts val="900"/>
              <a:buFont typeface="Calibri"/>
              <a:buNone/>
            </a:pPr>
            <a:r>
              <a:rPr b="0" i="0" lang="en-US" sz="900" u="none" cap="none" strike="noStrike">
                <a:solidFill>
                  <a:srgbClr val="2C3E50"/>
                </a:solidFill>
                <a:latin typeface="Gill Sans"/>
                <a:ea typeface="Gill Sans"/>
                <a:cs typeface="Gill Sans"/>
                <a:sym typeface="Gill Sans"/>
              </a:rPr>
              <a:t>Are there any alternative layouts or phases to test in simulation?</a:t>
            </a:r>
            <a:endParaRPr b="0" i="0" sz="900" u="none" cap="none" strike="noStrike">
              <a:solidFill>
                <a:schemeClr val="dk1"/>
              </a:solidFill>
              <a:latin typeface="Gill Sans"/>
              <a:ea typeface="Gill Sans"/>
              <a:cs typeface="Gill Sans"/>
              <a:sym typeface="Gill Sans"/>
            </a:endParaRPr>
          </a:p>
        </p:txBody>
      </p:sp>
      <p:sp>
        <p:nvSpPr>
          <p:cNvPr id="223" name="Google Shape;223;p6"/>
          <p:cNvSpPr/>
          <p:nvPr/>
        </p:nvSpPr>
        <p:spPr>
          <a:xfrm>
            <a:off x="438912" y="2029968"/>
            <a:ext cx="3968496" cy="210312"/>
          </a:xfrm>
          <a:prstGeom prst="rect">
            <a:avLst/>
          </a:pr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24" name="Google Shape;224;p6"/>
          <p:cNvSpPr/>
          <p:nvPr/>
        </p:nvSpPr>
        <p:spPr>
          <a:xfrm>
            <a:off x="512064" y="2029968"/>
            <a:ext cx="3822192" cy="21031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C3E50"/>
              </a:buClr>
              <a:buSzPts val="900"/>
              <a:buFont typeface="Calibri"/>
              <a:buNone/>
            </a:pPr>
            <a:r>
              <a:rPr b="0" i="0" lang="en-US" sz="900" u="none" cap="none" strike="noStrike">
                <a:solidFill>
                  <a:srgbClr val="2C3E50"/>
                </a:solidFill>
                <a:latin typeface="Gill Sans"/>
                <a:ea typeface="Gill Sans"/>
                <a:cs typeface="Gill Sans"/>
                <a:sym typeface="Gill Sans"/>
              </a:rPr>
              <a:t>What is the target journey time from entry to landside exit?</a:t>
            </a:r>
            <a:endParaRPr b="0" i="0" sz="900" u="none" cap="none" strike="noStrike">
              <a:solidFill>
                <a:schemeClr val="dk1"/>
              </a:solidFill>
              <a:latin typeface="Gill Sans"/>
              <a:ea typeface="Gill Sans"/>
              <a:cs typeface="Gill Sans"/>
              <a:sym typeface="Gill Sans"/>
            </a:endParaRPr>
          </a:p>
        </p:txBody>
      </p:sp>
      <p:sp>
        <p:nvSpPr>
          <p:cNvPr id="225" name="Google Shape;225;p6"/>
          <p:cNvSpPr/>
          <p:nvPr/>
        </p:nvSpPr>
        <p:spPr>
          <a:xfrm>
            <a:off x="438912" y="2249424"/>
            <a:ext cx="3968496" cy="210312"/>
          </a:xfrm>
          <a:prstGeom prst="rect">
            <a:avLst/>
          </a:prstGeom>
          <a:solidFill>
            <a:srgbClr val="EAF4F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26" name="Google Shape;226;p6"/>
          <p:cNvSpPr/>
          <p:nvPr/>
        </p:nvSpPr>
        <p:spPr>
          <a:xfrm>
            <a:off x="512064" y="2249424"/>
            <a:ext cx="3822192" cy="21031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C3E50"/>
              </a:buClr>
              <a:buSzPts val="900"/>
              <a:buFont typeface="Calibri"/>
              <a:buNone/>
            </a:pPr>
            <a:r>
              <a:rPr b="0" i="0" lang="en-US" sz="900" u="none" cap="none" strike="noStrike">
                <a:solidFill>
                  <a:srgbClr val="2C3E50"/>
                </a:solidFill>
                <a:latin typeface="Gill Sans"/>
                <a:ea typeface="Gill Sans"/>
                <a:cs typeface="Gill Sans"/>
                <a:sym typeface="Gill Sans"/>
              </a:rPr>
              <a:t>Is there a budget for additional infrastructure if simulation shows shortfalls?</a:t>
            </a:r>
            <a:endParaRPr b="0" i="0" sz="900" u="none" cap="none" strike="noStrike">
              <a:solidFill>
                <a:schemeClr val="dk1"/>
              </a:solidFill>
              <a:latin typeface="Gill Sans"/>
              <a:ea typeface="Gill Sans"/>
              <a:cs typeface="Gill Sans"/>
              <a:sym typeface="Gill Sans"/>
            </a:endParaRPr>
          </a:p>
        </p:txBody>
      </p:sp>
      <p:sp>
        <p:nvSpPr>
          <p:cNvPr id="227" name="Google Shape;227;p6"/>
          <p:cNvSpPr/>
          <p:nvPr/>
        </p:nvSpPr>
        <p:spPr>
          <a:xfrm>
            <a:off x="4663440" y="914400"/>
            <a:ext cx="4114800" cy="1755648"/>
          </a:xfrm>
          <a:prstGeom prst="rect">
            <a:avLst/>
          </a:prstGeom>
          <a:solidFill>
            <a:srgbClr val="FFFFFF"/>
          </a:solidFill>
          <a:ln cap="flat" cmpd="sng" w="9525">
            <a:solidFill>
              <a:srgbClr val="E8E8E8"/>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28" name="Google Shape;228;p6"/>
          <p:cNvSpPr/>
          <p:nvPr/>
        </p:nvSpPr>
        <p:spPr>
          <a:xfrm>
            <a:off x="4663440" y="914400"/>
            <a:ext cx="4114800" cy="384048"/>
          </a:xfrm>
          <a:prstGeom prst="rect">
            <a:avLst/>
          </a:prstGeom>
          <a:solidFill>
            <a:srgbClr val="0E7C8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descr="preencoded.png" id="229" name="Google Shape;229;p6"/>
          <p:cNvPicPr preferRelativeResize="0"/>
          <p:nvPr/>
        </p:nvPicPr>
        <p:blipFill rotWithShape="1">
          <a:blip r:embed="rId4">
            <a:alphaModFix/>
          </a:blip>
          <a:srcRect b="0" l="0" r="0" t="0"/>
          <a:stretch/>
        </p:blipFill>
        <p:spPr>
          <a:xfrm>
            <a:off x="4773168" y="987552"/>
            <a:ext cx="219456" cy="219456"/>
          </a:xfrm>
          <a:prstGeom prst="rect">
            <a:avLst/>
          </a:prstGeom>
          <a:noFill/>
          <a:ln>
            <a:noFill/>
          </a:ln>
        </p:spPr>
      </p:pic>
      <p:sp>
        <p:nvSpPr>
          <p:cNvPr id="230" name="Google Shape;230;p6"/>
          <p:cNvSpPr/>
          <p:nvPr/>
        </p:nvSpPr>
        <p:spPr>
          <a:xfrm>
            <a:off x="5047488" y="941832"/>
            <a:ext cx="3566160"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150"/>
              <a:buFont typeface="Calibri"/>
              <a:buNone/>
            </a:pPr>
            <a:r>
              <a:rPr b="1" i="0" lang="en-US" sz="1150" u="none" cap="none" strike="noStrike">
                <a:solidFill>
                  <a:srgbClr val="FFFFFF"/>
                </a:solidFill>
                <a:latin typeface="Gill Sans"/>
                <a:ea typeface="Gill Sans"/>
                <a:cs typeface="Gill Sans"/>
                <a:sym typeface="Gill Sans"/>
              </a:rPr>
              <a:t>Operations / Dispatch</a:t>
            </a:r>
            <a:endParaRPr b="0" i="0" sz="1150" u="none" cap="none" strike="noStrike">
              <a:solidFill>
                <a:schemeClr val="dk1"/>
              </a:solidFill>
              <a:latin typeface="Gill Sans"/>
              <a:ea typeface="Gill Sans"/>
              <a:cs typeface="Gill Sans"/>
              <a:sym typeface="Gill Sans"/>
            </a:endParaRPr>
          </a:p>
        </p:txBody>
      </p:sp>
      <p:sp>
        <p:nvSpPr>
          <p:cNvPr id="231" name="Google Shape;231;p6"/>
          <p:cNvSpPr/>
          <p:nvPr/>
        </p:nvSpPr>
        <p:spPr>
          <a:xfrm>
            <a:off x="4736592" y="1371600"/>
            <a:ext cx="3968496" cy="210312"/>
          </a:xfrm>
          <a:prstGeom prst="rect">
            <a:avLst/>
          </a:prstGeom>
          <a:solidFill>
            <a:srgbClr val="EAF4F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32" name="Google Shape;232;p6"/>
          <p:cNvSpPr/>
          <p:nvPr/>
        </p:nvSpPr>
        <p:spPr>
          <a:xfrm>
            <a:off x="4809744" y="1371600"/>
            <a:ext cx="3822192" cy="21031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C3E50"/>
              </a:buClr>
              <a:buSzPts val="900"/>
              <a:buFont typeface="Calibri"/>
              <a:buNone/>
            </a:pPr>
            <a:r>
              <a:rPr b="0" i="0" lang="en-US" sz="900" u="none" cap="none" strike="noStrike">
                <a:solidFill>
                  <a:srgbClr val="2C3E50"/>
                </a:solidFill>
                <a:latin typeface="Gill Sans"/>
                <a:ea typeface="Gill Sans"/>
                <a:cs typeface="Gill Sans"/>
                <a:sym typeface="Gill Sans"/>
              </a:rPr>
              <a:t>What is the contact stand vs. remote stand split for international flights?</a:t>
            </a:r>
            <a:endParaRPr b="0" i="0" sz="900" u="none" cap="none" strike="noStrike">
              <a:solidFill>
                <a:schemeClr val="dk1"/>
              </a:solidFill>
              <a:latin typeface="Gill Sans"/>
              <a:ea typeface="Gill Sans"/>
              <a:cs typeface="Gill Sans"/>
              <a:sym typeface="Gill Sans"/>
            </a:endParaRPr>
          </a:p>
        </p:txBody>
      </p:sp>
      <p:sp>
        <p:nvSpPr>
          <p:cNvPr id="233" name="Google Shape;233;p6"/>
          <p:cNvSpPr/>
          <p:nvPr/>
        </p:nvSpPr>
        <p:spPr>
          <a:xfrm>
            <a:off x="4736592" y="1591056"/>
            <a:ext cx="3968496" cy="210312"/>
          </a:xfrm>
          <a:prstGeom prst="rect">
            <a:avLst/>
          </a:pr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34" name="Google Shape;234;p6"/>
          <p:cNvSpPr/>
          <p:nvPr/>
        </p:nvSpPr>
        <p:spPr>
          <a:xfrm>
            <a:off x="4809744" y="1591056"/>
            <a:ext cx="3822192" cy="21031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C3E50"/>
              </a:buClr>
              <a:buSzPts val="900"/>
              <a:buFont typeface="Calibri"/>
              <a:buNone/>
            </a:pPr>
            <a:r>
              <a:rPr b="0" i="0" lang="en-US" sz="900" u="none" cap="none" strike="noStrike">
                <a:solidFill>
                  <a:srgbClr val="2C3E50"/>
                </a:solidFill>
                <a:latin typeface="Gill Sans"/>
                <a:ea typeface="Gill Sans"/>
                <a:cs typeface="Gill Sans"/>
                <a:sym typeface="Gill Sans"/>
              </a:rPr>
              <a:t>How frequently do ramp staff shortages occur and what’s the typical delay?</a:t>
            </a:r>
            <a:endParaRPr b="0" i="0" sz="900" u="none" cap="none" strike="noStrike">
              <a:solidFill>
                <a:schemeClr val="dk1"/>
              </a:solidFill>
              <a:latin typeface="Gill Sans"/>
              <a:ea typeface="Gill Sans"/>
              <a:cs typeface="Gill Sans"/>
              <a:sym typeface="Gill Sans"/>
            </a:endParaRPr>
          </a:p>
        </p:txBody>
      </p:sp>
      <p:sp>
        <p:nvSpPr>
          <p:cNvPr id="235" name="Google Shape;235;p6"/>
          <p:cNvSpPr/>
          <p:nvPr/>
        </p:nvSpPr>
        <p:spPr>
          <a:xfrm>
            <a:off x="4736592" y="1810512"/>
            <a:ext cx="3968496" cy="210312"/>
          </a:xfrm>
          <a:prstGeom prst="rect">
            <a:avLst/>
          </a:prstGeom>
          <a:solidFill>
            <a:srgbClr val="EAF4F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36" name="Google Shape;236;p6"/>
          <p:cNvSpPr/>
          <p:nvPr/>
        </p:nvSpPr>
        <p:spPr>
          <a:xfrm>
            <a:off x="4809744" y="1810512"/>
            <a:ext cx="3822192" cy="21031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C3E50"/>
              </a:buClr>
              <a:buSzPts val="900"/>
              <a:buFont typeface="Calibri"/>
              <a:buNone/>
            </a:pPr>
            <a:r>
              <a:rPr b="0" i="0" lang="en-US" sz="900" u="none" cap="none" strike="noStrike">
                <a:solidFill>
                  <a:srgbClr val="2C3E50"/>
                </a:solidFill>
                <a:latin typeface="Gill Sans"/>
                <a:ea typeface="Gill Sans"/>
                <a:cs typeface="Gill Sans"/>
                <a:sym typeface="Gill Sans"/>
              </a:rPr>
              <a:t>What wind speed threshold stops cargo door ops? How many days/yr</a:t>
            </a:r>
            <a:endParaRPr b="0" i="0" sz="900" u="none" cap="none" strike="noStrike">
              <a:solidFill>
                <a:schemeClr val="dk1"/>
              </a:solidFill>
              <a:latin typeface="Gill Sans"/>
              <a:ea typeface="Gill Sans"/>
              <a:cs typeface="Gill Sans"/>
              <a:sym typeface="Gill Sans"/>
            </a:endParaRPr>
          </a:p>
        </p:txBody>
      </p:sp>
      <p:sp>
        <p:nvSpPr>
          <p:cNvPr id="237" name="Google Shape;237;p6"/>
          <p:cNvSpPr/>
          <p:nvPr/>
        </p:nvSpPr>
        <p:spPr>
          <a:xfrm>
            <a:off x="4736592" y="2029968"/>
            <a:ext cx="3968496" cy="210312"/>
          </a:xfrm>
          <a:prstGeom prst="rect">
            <a:avLst/>
          </a:pr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38" name="Google Shape;238;p6"/>
          <p:cNvSpPr/>
          <p:nvPr/>
        </p:nvSpPr>
        <p:spPr>
          <a:xfrm>
            <a:off x="4809744" y="2029968"/>
            <a:ext cx="3822192" cy="21031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C3E50"/>
              </a:buClr>
              <a:buSzPts val="900"/>
              <a:buFont typeface="Calibri"/>
              <a:buNone/>
            </a:pPr>
            <a:r>
              <a:rPr b="0" i="0" lang="en-US" sz="900" u="none" cap="none" strike="noStrike">
                <a:solidFill>
                  <a:srgbClr val="2C3E50"/>
                </a:solidFill>
                <a:latin typeface="Gill Sans"/>
                <a:ea typeface="Gill Sans"/>
                <a:cs typeface="Gill Sans"/>
                <a:sym typeface="Gill Sans"/>
              </a:rPr>
              <a:t>Which aircraft types have trim constraints on baggage offload?</a:t>
            </a:r>
            <a:endParaRPr b="0" i="0" sz="900" u="none" cap="none" strike="noStrike">
              <a:solidFill>
                <a:schemeClr val="dk1"/>
              </a:solidFill>
              <a:latin typeface="Gill Sans"/>
              <a:ea typeface="Gill Sans"/>
              <a:cs typeface="Gill Sans"/>
              <a:sym typeface="Gill Sans"/>
            </a:endParaRPr>
          </a:p>
        </p:txBody>
      </p:sp>
      <p:sp>
        <p:nvSpPr>
          <p:cNvPr id="239" name="Google Shape;239;p6"/>
          <p:cNvSpPr/>
          <p:nvPr/>
        </p:nvSpPr>
        <p:spPr>
          <a:xfrm>
            <a:off x="4736592" y="2249424"/>
            <a:ext cx="3968496" cy="210312"/>
          </a:xfrm>
          <a:prstGeom prst="rect">
            <a:avLst/>
          </a:prstGeom>
          <a:solidFill>
            <a:srgbClr val="EAF4F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40" name="Google Shape;240;p6"/>
          <p:cNvSpPr/>
          <p:nvPr/>
        </p:nvSpPr>
        <p:spPr>
          <a:xfrm>
            <a:off x="4809744" y="2249424"/>
            <a:ext cx="3822192" cy="21031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C3E50"/>
              </a:buClr>
              <a:buSzPts val="900"/>
              <a:buFont typeface="Calibri"/>
              <a:buNone/>
            </a:pPr>
            <a:r>
              <a:rPr b="0" i="0" lang="en-US" sz="900" u="none" cap="none" strike="noStrike">
                <a:solidFill>
                  <a:srgbClr val="2C3E50"/>
                </a:solidFill>
                <a:latin typeface="Gill Sans"/>
                <a:ea typeface="Gill Sans"/>
                <a:cs typeface="Gill Sans"/>
                <a:sym typeface="Gill Sans"/>
              </a:rPr>
              <a:t>What is the coach turnaround cycle like the load, transit, unload, return time?</a:t>
            </a:r>
            <a:endParaRPr b="0" i="0" sz="900" u="none" cap="none" strike="noStrike">
              <a:solidFill>
                <a:schemeClr val="dk1"/>
              </a:solidFill>
              <a:latin typeface="Gill Sans"/>
              <a:ea typeface="Gill Sans"/>
              <a:cs typeface="Gill Sans"/>
              <a:sym typeface="Gill Sans"/>
            </a:endParaRPr>
          </a:p>
        </p:txBody>
      </p:sp>
      <p:sp>
        <p:nvSpPr>
          <p:cNvPr id="241" name="Google Shape;241;p6"/>
          <p:cNvSpPr/>
          <p:nvPr/>
        </p:nvSpPr>
        <p:spPr>
          <a:xfrm>
            <a:off x="365760" y="2834640"/>
            <a:ext cx="4114800" cy="1554480"/>
          </a:xfrm>
          <a:prstGeom prst="rect">
            <a:avLst/>
          </a:prstGeom>
          <a:solidFill>
            <a:srgbClr val="FFFFFF"/>
          </a:solidFill>
          <a:ln cap="flat" cmpd="sng" w="9525">
            <a:solidFill>
              <a:srgbClr val="E8E8E8"/>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42" name="Google Shape;242;p6"/>
          <p:cNvSpPr/>
          <p:nvPr/>
        </p:nvSpPr>
        <p:spPr>
          <a:xfrm>
            <a:off x="365760" y="2834640"/>
            <a:ext cx="4114800" cy="384048"/>
          </a:xfrm>
          <a:prstGeom prst="rect">
            <a:avLst/>
          </a:prstGeom>
          <a:solidFill>
            <a:srgbClr val="143B6B"/>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descr="preencoded.png" id="243" name="Google Shape;243;p6"/>
          <p:cNvPicPr preferRelativeResize="0"/>
          <p:nvPr/>
        </p:nvPicPr>
        <p:blipFill rotWithShape="1">
          <a:blip r:embed="rId5">
            <a:alphaModFix/>
          </a:blip>
          <a:srcRect b="0" l="0" r="0" t="0"/>
          <a:stretch/>
        </p:blipFill>
        <p:spPr>
          <a:xfrm>
            <a:off x="475488" y="2907792"/>
            <a:ext cx="219456" cy="219456"/>
          </a:xfrm>
          <a:prstGeom prst="rect">
            <a:avLst/>
          </a:prstGeom>
          <a:noFill/>
          <a:ln>
            <a:noFill/>
          </a:ln>
        </p:spPr>
      </p:pic>
      <p:sp>
        <p:nvSpPr>
          <p:cNvPr id="244" name="Google Shape;244;p6"/>
          <p:cNvSpPr/>
          <p:nvPr/>
        </p:nvSpPr>
        <p:spPr>
          <a:xfrm>
            <a:off x="749808" y="2862072"/>
            <a:ext cx="3566160"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150"/>
              <a:buFont typeface="Calibri"/>
              <a:buNone/>
            </a:pPr>
            <a:r>
              <a:rPr b="1" i="0" lang="en-US" sz="1150" u="none" cap="none" strike="noStrike">
                <a:solidFill>
                  <a:srgbClr val="FFFFFF"/>
                </a:solidFill>
                <a:latin typeface="Gill Sans"/>
                <a:ea typeface="Gill Sans"/>
                <a:cs typeface="Gill Sans"/>
                <a:sym typeface="Gill Sans"/>
              </a:rPr>
              <a:t>Passenger Service / Front House</a:t>
            </a:r>
            <a:endParaRPr b="0" i="0" sz="1150" u="none" cap="none" strike="noStrike">
              <a:solidFill>
                <a:schemeClr val="dk1"/>
              </a:solidFill>
              <a:latin typeface="Gill Sans"/>
              <a:ea typeface="Gill Sans"/>
              <a:cs typeface="Gill Sans"/>
              <a:sym typeface="Gill Sans"/>
            </a:endParaRPr>
          </a:p>
        </p:txBody>
      </p:sp>
      <p:sp>
        <p:nvSpPr>
          <p:cNvPr id="245" name="Google Shape;245;p6"/>
          <p:cNvSpPr/>
          <p:nvPr/>
        </p:nvSpPr>
        <p:spPr>
          <a:xfrm>
            <a:off x="438912" y="3291840"/>
            <a:ext cx="3968496" cy="210312"/>
          </a:xfrm>
          <a:prstGeom prst="rect">
            <a:avLst/>
          </a:prstGeom>
          <a:solidFill>
            <a:srgbClr val="EAF4F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46" name="Google Shape;246;p6"/>
          <p:cNvSpPr/>
          <p:nvPr/>
        </p:nvSpPr>
        <p:spPr>
          <a:xfrm>
            <a:off x="512064" y="3291840"/>
            <a:ext cx="3822192" cy="21031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C3E50"/>
              </a:buClr>
              <a:buSzPts val="900"/>
              <a:buFont typeface="Calibri"/>
              <a:buNone/>
            </a:pPr>
            <a:r>
              <a:rPr b="0" i="0" lang="en-US" sz="900" u="none" cap="none" strike="noStrike">
                <a:solidFill>
                  <a:srgbClr val="2C3E50"/>
                </a:solidFill>
                <a:latin typeface="Gill Sans"/>
                <a:ea typeface="Gill Sans"/>
                <a:cs typeface="Gill Sans"/>
                <a:sym typeface="Gill Sans"/>
              </a:rPr>
              <a:t>What is typical deplaning time for a full narrow-body vs. wide-body aircraft?</a:t>
            </a:r>
            <a:endParaRPr b="0" i="0" sz="900" u="none" cap="none" strike="noStrike">
              <a:solidFill>
                <a:schemeClr val="dk1"/>
              </a:solidFill>
              <a:latin typeface="Gill Sans"/>
              <a:ea typeface="Gill Sans"/>
              <a:cs typeface="Gill Sans"/>
              <a:sym typeface="Gill Sans"/>
            </a:endParaRPr>
          </a:p>
        </p:txBody>
      </p:sp>
      <p:sp>
        <p:nvSpPr>
          <p:cNvPr id="247" name="Google Shape;247;p6"/>
          <p:cNvSpPr/>
          <p:nvPr/>
        </p:nvSpPr>
        <p:spPr>
          <a:xfrm>
            <a:off x="438912" y="3511296"/>
            <a:ext cx="3968496" cy="210312"/>
          </a:xfrm>
          <a:prstGeom prst="rect">
            <a:avLst/>
          </a:pr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48" name="Google Shape;248;p6"/>
          <p:cNvSpPr/>
          <p:nvPr/>
        </p:nvSpPr>
        <p:spPr>
          <a:xfrm>
            <a:off x="512064" y="3511296"/>
            <a:ext cx="3822192" cy="21031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C3E50"/>
              </a:buClr>
              <a:buSzPts val="900"/>
              <a:buFont typeface="Calibri"/>
              <a:buNone/>
            </a:pPr>
            <a:r>
              <a:rPr b="0" i="0" lang="en-US" sz="900" u="none" cap="none" strike="noStrike">
                <a:solidFill>
                  <a:srgbClr val="2C3E50"/>
                </a:solidFill>
                <a:latin typeface="Gill Sans"/>
                <a:ea typeface="Gill Sans"/>
                <a:cs typeface="Gill Sans"/>
                <a:sym typeface="Gill Sans"/>
              </a:rPr>
              <a:t>What’s the fallback process when an airbridge or stand entry door malfunctions?</a:t>
            </a:r>
            <a:endParaRPr b="0" i="0" sz="900" u="none" cap="none" strike="noStrike">
              <a:solidFill>
                <a:schemeClr val="dk1"/>
              </a:solidFill>
              <a:latin typeface="Gill Sans"/>
              <a:ea typeface="Gill Sans"/>
              <a:cs typeface="Gill Sans"/>
              <a:sym typeface="Gill Sans"/>
            </a:endParaRPr>
          </a:p>
        </p:txBody>
      </p:sp>
      <p:sp>
        <p:nvSpPr>
          <p:cNvPr id="249" name="Google Shape;249;p6"/>
          <p:cNvSpPr/>
          <p:nvPr/>
        </p:nvSpPr>
        <p:spPr>
          <a:xfrm>
            <a:off x="438912" y="3730752"/>
            <a:ext cx="3968496" cy="210312"/>
          </a:xfrm>
          <a:prstGeom prst="rect">
            <a:avLst/>
          </a:prstGeom>
          <a:solidFill>
            <a:srgbClr val="EAF4F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50" name="Google Shape;250;p6"/>
          <p:cNvSpPr/>
          <p:nvPr/>
        </p:nvSpPr>
        <p:spPr>
          <a:xfrm>
            <a:off x="512064" y="3730752"/>
            <a:ext cx="3822192" cy="21031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C3E50"/>
              </a:buClr>
              <a:buSzPts val="900"/>
              <a:buFont typeface="Calibri"/>
              <a:buNone/>
            </a:pPr>
            <a:r>
              <a:rPr b="0" i="0" lang="en-US" sz="900" u="none" cap="none" strike="noStrike">
                <a:solidFill>
                  <a:srgbClr val="2C3E50"/>
                </a:solidFill>
                <a:latin typeface="Gill Sans"/>
                <a:ea typeface="Gill Sans"/>
                <a:cs typeface="Gill Sans"/>
                <a:sym typeface="Gill Sans"/>
              </a:rPr>
              <a:t>Do families and groups typically stay together or split at immigration lanes?</a:t>
            </a:r>
            <a:endParaRPr b="0" i="0" sz="900" u="none" cap="none" strike="noStrike">
              <a:solidFill>
                <a:schemeClr val="dk1"/>
              </a:solidFill>
              <a:latin typeface="Gill Sans"/>
              <a:ea typeface="Gill Sans"/>
              <a:cs typeface="Gill Sans"/>
              <a:sym typeface="Gill Sans"/>
            </a:endParaRPr>
          </a:p>
        </p:txBody>
      </p:sp>
      <p:sp>
        <p:nvSpPr>
          <p:cNvPr id="251" name="Google Shape;251;p6"/>
          <p:cNvSpPr/>
          <p:nvPr/>
        </p:nvSpPr>
        <p:spPr>
          <a:xfrm>
            <a:off x="438912" y="3950208"/>
            <a:ext cx="3968496" cy="210312"/>
          </a:xfrm>
          <a:prstGeom prst="rect">
            <a:avLst/>
          </a:pr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52" name="Google Shape;252;p6"/>
          <p:cNvSpPr/>
          <p:nvPr/>
        </p:nvSpPr>
        <p:spPr>
          <a:xfrm>
            <a:off x="512064" y="3950208"/>
            <a:ext cx="3822192" cy="21031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C3E50"/>
              </a:buClr>
              <a:buSzPts val="900"/>
              <a:buFont typeface="Calibri"/>
              <a:buNone/>
            </a:pPr>
            <a:r>
              <a:rPr b="0" i="0" lang="en-US" sz="900" u="none" cap="none" strike="noStrike">
                <a:solidFill>
                  <a:srgbClr val="2C3E50"/>
                </a:solidFill>
                <a:latin typeface="Gill Sans"/>
                <a:ea typeface="Gill Sans"/>
                <a:cs typeface="Gill Sans"/>
                <a:sym typeface="Gill Sans"/>
              </a:rPr>
              <a:t>How many passenger service agents are available on shift at peak times?</a:t>
            </a:r>
            <a:endParaRPr b="0" i="0" sz="900" u="none" cap="none" strike="noStrike">
              <a:solidFill>
                <a:schemeClr val="dk1"/>
              </a:solidFill>
              <a:latin typeface="Gill Sans"/>
              <a:ea typeface="Gill Sans"/>
              <a:cs typeface="Gill Sans"/>
              <a:sym typeface="Gill Sans"/>
            </a:endParaRPr>
          </a:p>
        </p:txBody>
      </p:sp>
      <p:sp>
        <p:nvSpPr>
          <p:cNvPr id="253" name="Google Shape;253;p6"/>
          <p:cNvSpPr/>
          <p:nvPr/>
        </p:nvSpPr>
        <p:spPr>
          <a:xfrm>
            <a:off x="438912" y="4169664"/>
            <a:ext cx="3968496" cy="210312"/>
          </a:xfrm>
          <a:prstGeom prst="rect">
            <a:avLst/>
          </a:prstGeom>
          <a:solidFill>
            <a:srgbClr val="EAF4F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54" name="Google Shape;254;p6"/>
          <p:cNvSpPr/>
          <p:nvPr/>
        </p:nvSpPr>
        <p:spPr>
          <a:xfrm>
            <a:off x="512064" y="4169664"/>
            <a:ext cx="3822192" cy="21031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C3E50"/>
              </a:buClr>
              <a:buSzPts val="900"/>
              <a:buFont typeface="Calibri"/>
              <a:buNone/>
            </a:pPr>
            <a:r>
              <a:rPr b="0" i="0" lang="en-US" sz="900" u="none" cap="none" strike="noStrike">
                <a:solidFill>
                  <a:srgbClr val="2C3E50"/>
                </a:solidFill>
                <a:latin typeface="Gill Sans"/>
                <a:ea typeface="Gill Sans"/>
                <a:cs typeface="Gill Sans"/>
                <a:sym typeface="Gill Sans"/>
              </a:rPr>
              <a:t>What is the process for handling CTA passengers</a:t>
            </a:r>
            <a:endParaRPr b="0" i="0" sz="900" u="none" cap="none" strike="noStrike">
              <a:solidFill>
                <a:schemeClr val="dk1"/>
              </a:solidFill>
              <a:latin typeface="Gill Sans"/>
              <a:ea typeface="Gill Sans"/>
              <a:cs typeface="Gill Sans"/>
              <a:sym typeface="Gill Sans"/>
            </a:endParaRPr>
          </a:p>
        </p:txBody>
      </p:sp>
      <p:sp>
        <p:nvSpPr>
          <p:cNvPr id="255" name="Google Shape;255;p6"/>
          <p:cNvSpPr/>
          <p:nvPr/>
        </p:nvSpPr>
        <p:spPr>
          <a:xfrm>
            <a:off x="4663440" y="2834640"/>
            <a:ext cx="4114800" cy="1554480"/>
          </a:xfrm>
          <a:prstGeom prst="rect">
            <a:avLst/>
          </a:prstGeom>
          <a:solidFill>
            <a:srgbClr val="FFFFFF"/>
          </a:solidFill>
          <a:ln cap="flat" cmpd="sng" w="9525">
            <a:solidFill>
              <a:srgbClr val="E8E8E8"/>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56" name="Google Shape;256;p6"/>
          <p:cNvSpPr/>
          <p:nvPr/>
        </p:nvSpPr>
        <p:spPr>
          <a:xfrm>
            <a:off x="4663440" y="2834640"/>
            <a:ext cx="4114800" cy="384048"/>
          </a:xfrm>
          <a:prstGeom prst="rect">
            <a:avLst/>
          </a:prstGeom>
          <a:solidFill>
            <a:srgbClr val="1B9AAA"/>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descr="preencoded.png" id="257" name="Google Shape;257;p6"/>
          <p:cNvPicPr preferRelativeResize="0"/>
          <p:nvPr/>
        </p:nvPicPr>
        <p:blipFill rotWithShape="1">
          <a:blip r:embed="rId6">
            <a:alphaModFix/>
          </a:blip>
          <a:srcRect b="0" l="0" r="0" t="0"/>
          <a:stretch/>
        </p:blipFill>
        <p:spPr>
          <a:xfrm>
            <a:off x="4773168" y="2907792"/>
            <a:ext cx="219456" cy="219456"/>
          </a:xfrm>
          <a:prstGeom prst="rect">
            <a:avLst/>
          </a:prstGeom>
          <a:noFill/>
          <a:ln>
            <a:noFill/>
          </a:ln>
        </p:spPr>
      </p:pic>
      <p:sp>
        <p:nvSpPr>
          <p:cNvPr id="258" name="Google Shape;258;p6"/>
          <p:cNvSpPr/>
          <p:nvPr/>
        </p:nvSpPr>
        <p:spPr>
          <a:xfrm>
            <a:off x="5047488" y="2862072"/>
            <a:ext cx="3566160"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150"/>
              <a:buFont typeface="Calibri"/>
              <a:buNone/>
            </a:pPr>
            <a:r>
              <a:rPr b="1" i="0" lang="en-US" sz="1150" u="none" cap="none" strike="noStrike">
                <a:solidFill>
                  <a:srgbClr val="FFFFFF"/>
                </a:solidFill>
                <a:latin typeface="Gill Sans"/>
                <a:ea typeface="Gill Sans"/>
                <a:cs typeface="Gill Sans"/>
                <a:sym typeface="Gill Sans"/>
              </a:rPr>
              <a:t>Airside Operations / Baggage</a:t>
            </a:r>
            <a:endParaRPr b="0" i="0" sz="1150" u="none" cap="none" strike="noStrike">
              <a:solidFill>
                <a:schemeClr val="dk1"/>
              </a:solidFill>
              <a:latin typeface="Gill Sans"/>
              <a:ea typeface="Gill Sans"/>
              <a:cs typeface="Gill Sans"/>
              <a:sym typeface="Gill Sans"/>
            </a:endParaRPr>
          </a:p>
        </p:txBody>
      </p:sp>
      <p:sp>
        <p:nvSpPr>
          <p:cNvPr id="259" name="Google Shape;259;p6"/>
          <p:cNvSpPr/>
          <p:nvPr/>
        </p:nvSpPr>
        <p:spPr>
          <a:xfrm>
            <a:off x="4736592" y="3291840"/>
            <a:ext cx="3968496" cy="210312"/>
          </a:xfrm>
          <a:prstGeom prst="rect">
            <a:avLst/>
          </a:prstGeom>
          <a:solidFill>
            <a:srgbClr val="EAF4F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60" name="Google Shape;260;p6"/>
          <p:cNvSpPr/>
          <p:nvPr/>
        </p:nvSpPr>
        <p:spPr>
          <a:xfrm>
            <a:off x="4809744" y="3291840"/>
            <a:ext cx="3822192" cy="21031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C3E50"/>
              </a:buClr>
              <a:buSzPts val="900"/>
              <a:buFont typeface="Calibri"/>
              <a:buNone/>
            </a:pPr>
            <a:r>
              <a:rPr b="0" i="0" lang="en-US" sz="900" u="none" cap="none" strike="noStrike">
                <a:solidFill>
                  <a:srgbClr val="2C3E50"/>
                </a:solidFill>
                <a:latin typeface="Gill Sans"/>
                <a:ea typeface="Gill Sans"/>
                <a:cs typeface="Gill Sans"/>
                <a:sym typeface="Gill Sans"/>
              </a:rPr>
              <a:t>What is the avg time from aircraft arrival to first bag on belt? And last bag?</a:t>
            </a:r>
            <a:endParaRPr b="0" i="0" sz="900" u="none" cap="none" strike="noStrike">
              <a:solidFill>
                <a:schemeClr val="dk1"/>
              </a:solidFill>
              <a:latin typeface="Gill Sans"/>
              <a:ea typeface="Gill Sans"/>
              <a:cs typeface="Gill Sans"/>
              <a:sym typeface="Gill Sans"/>
            </a:endParaRPr>
          </a:p>
        </p:txBody>
      </p:sp>
      <p:sp>
        <p:nvSpPr>
          <p:cNvPr id="261" name="Google Shape;261;p6"/>
          <p:cNvSpPr/>
          <p:nvPr/>
        </p:nvSpPr>
        <p:spPr>
          <a:xfrm>
            <a:off x="4736592" y="3511296"/>
            <a:ext cx="3968496" cy="210312"/>
          </a:xfrm>
          <a:prstGeom prst="rect">
            <a:avLst/>
          </a:pr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62" name="Google Shape;262;p6"/>
          <p:cNvSpPr/>
          <p:nvPr/>
        </p:nvSpPr>
        <p:spPr>
          <a:xfrm>
            <a:off x="4809744" y="3511296"/>
            <a:ext cx="3822192" cy="21031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C3E50"/>
              </a:buClr>
              <a:buSzPts val="900"/>
              <a:buFont typeface="Calibri"/>
              <a:buNone/>
            </a:pPr>
            <a:r>
              <a:rPr b="0" i="0" lang="en-US" sz="900" u="none" cap="none" strike="noStrike">
                <a:solidFill>
                  <a:srgbClr val="2C3E50"/>
                </a:solidFill>
                <a:latin typeface="Gill Sans"/>
                <a:ea typeface="Gill Sans"/>
                <a:cs typeface="Gill Sans"/>
                <a:sym typeface="Gill Sans"/>
              </a:rPr>
              <a:t>How is belt allocation decided — by flight, by gate, by time, or manually?</a:t>
            </a:r>
            <a:endParaRPr b="0" i="0" sz="900" u="none" cap="none" strike="noStrike">
              <a:solidFill>
                <a:schemeClr val="dk1"/>
              </a:solidFill>
              <a:latin typeface="Gill Sans"/>
              <a:ea typeface="Gill Sans"/>
              <a:cs typeface="Gill Sans"/>
              <a:sym typeface="Gill Sans"/>
            </a:endParaRPr>
          </a:p>
        </p:txBody>
      </p:sp>
      <p:sp>
        <p:nvSpPr>
          <p:cNvPr id="263" name="Google Shape;263;p6"/>
          <p:cNvSpPr/>
          <p:nvPr/>
        </p:nvSpPr>
        <p:spPr>
          <a:xfrm>
            <a:off x="4736592" y="3730752"/>
            <a:ext cx="3968496" cy="210312"/>
          </a:xfrm>
          <a:prstGeom prst="rect">
            <a:avLst/>
          </a:prstGeom>
          <a:solidFill>
            <a:srgbClr val="EAF4F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64" name="Google Shape;264;p6"/>
          <p:cNvSpPr/>
          <p:nvPr/>
        </p:nvSpPr>
        <p:spPr>
          <a:xfrm>
            <a:off x="4809744" y="3730752"/>
            <a:ext cx="3822192" cy="21031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C3E50"/>
              </a:buClr>
              <a:buSzPts val="900"/>
              <a:buFont typeface="Calibri"/>
              <a:buNone/>
            </a:pPr>
            <a:r>
              <a:rPr b="0" i="0" lang="en-US" sz="900" u="none" cap="none" strike="noStrike">
                <a:solidFill>
                  <a:srgbClr val="2C3E50"/>
                </a:solidFill>
                <a:latin typeface="Gill Sans"/>
                <a:ea typeface="Gill Sans"/>
                <a:cs typeface="Gill Sans"/>
                <a:sym typeface="Gill Sans"/>
              </a:rPr>
              <a:t>What happens when a belt is still occupied by a previous flight’s bags?</a:t>
            </a:r>
            <a:endParaRPr b="0" i="0" sz="900" u="none" cap="none" strike="noStrike">
              <a:solidFill>
                <a:schemeClr val="dk1"/>
              </a:solidFill>
              <a:latin typeface="Gill Sans"/>
              <a:ea typeface="Gill Sans"/>
              <a:cs typeface="Gill Sans"/>
              <a:sym typeface="Gill Sans"/>
            </a:endParaRPr>
          </a:p>
        </p:txBody>
      </p:sp>
      <p:sp>
        <p:nvSpPr>
          <p:cNvPr id="265" name="Google Shape;265;p6"/>
          <p:cNvSpPr/>
          <p:nvPr/>
        </p:nvSpPr>
        <p:spPr>
          <a:xfrm>
            <a:off x="4736592" y="3950208"/>
            <a:ext cx="3968496" cy="210312"/>
          </a:xfrm>
          <a:prstGeom prst="rect">
            <a:avLst/>
          </a:pr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66" name="Google Shape;266;p6"/>
          <p:cNvSpPr/>
          <p:nvPr/>
        </p:nvSpPr>
        <p:spPr>
          <a:xfrm>
            <a:off x="4809744" y="3950208"/>
            <a:ext cx="3822192" cy="21031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C3E50"/>
              </a:buClr>
              <a:buSzPts val="900"/>
              <a:buFont typeface="Calibri"/>
              <a:buNone/>
            </a:pPr>
            <a:r>
              <a:rPr b="0" i="0" lang="en-US" sz="900" u="none" cap="none" strike="noStrike">
                <a:solidFill>
                  <a:srgbClr val="2C3E50"/>
                </a:solidFill>
                <a:latin typeface="Gill Sans"/>
                <a:ea typeface="Gill Sans"/>
                <a:cs typeface="Gill Sans"/>
                <a:sym typeface="Gill Sans"/>
              </a:rPr>
              <a:t>How much extra time does trim-constrained offload add to bag delivery?</a:t>
            </a:r>
            <a:endParaRPr b="0" i="0" sz="900" u="none" cap="none" strike="noStrike">
              <a:solidFill>
                <a:schemeClr val="dk1"/>
              </a:solidFill>
              <a:latin typeface="Gill Sans"/>
              <a:ea typeface="Gill Sans"/>
              <a:cs typeface="Gill Sans"/>
              <a:sym typeface="Gill Sans"/>
            </a:endParaRPr>
          </a:p>
        </p:txBody>
      </p:sp>
      <p:sp>
        <p:nvSpPr>
          <p:cNvPr id="267" name="Google Shape;267;p6"/>
          <p:cNvSpPr/>
          <p:nvPr/>
        </p:nvSpPr>
        <p:spPr>
          <a:xfrm>
            <a:off x="4736592" y="4169664"/>
            <a:ext cx="3968496" cy="210312"/>
          </a:xfrm>
          <a:prstGeom prst="rect">
            <a:avLst/>
          </a:prstGeom>
          <a:solidFill>
            <a:srgbClr val="EAF4F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68" name="Google Shape;268;p6"/>
          <p:cNvSpPr/>
          <p:nvPr/>
        </p:nvSpPr>
        <p:spPr>
          <a:xfrm>
            <a:off x="4809744" y="4169664"/>
            <a:ext cx="3822192" cy="21031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C3E50"/>
              </a:buClr>
              <a:buSzPts val="900"/>
              <a:buFont typeface="Calibri"/>
              <a:buNone/>
            </a:pPr>
            <a:r>
              <a:rPr b="0" i="0" lang="en-US" sz="900" u="none" cap="none" strike="noStrike">
                <a:solidFill>
                  <a:srgbClr val="2C3E50"/>
                </a:solidFill>
                <a:latin typeface="Gill Sans"/>
                <a:ea typeface="Gill Sans"/>
                <a:cs typeface="Gill Sans"/>
                <a:sym typeface="Gill Sans"/>
              </a:rPr>
              <a:t>What is the baggage trailer transit time from remote stands to reclaim?</a:t>
            </a:r>
            <a:endParaRPr b="0" i="0" sz="900" u="none" cap="none" strike="noStrike">
              <a:solidFill>
                <a:schemeClr val="dk1"/>
              </a:solidFill>
              <a:latin typeface="Gill Sans"/>
              <a:ea typeface="Gill Sans"/>
              <a:cs typeface="Gill Sans"/>
              <a:sym typeface="Gill Sans"/>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sp>
        <p:nvSpPr>
          <p:cNvPr id="274" name="Google Shape;274;p7"/>
          <p:cNvSpPr/>
          <p:nvPr/>
        </p:nvSpPr>
        <p:spPr>
          <a:xfrm>
            <a:off x="365750" y="137150"/>
            <a:ext cx="856890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B1D3A"/>
              </a:buClr>
              <a:buSzPts val="2400"/>
              <a:buFont typeface="Georgia"/>
              <a:buNone/>
            </a:pPr>
            <a:r>
              <a:rPr b="1" i="0" lang="en-US" sz="2400" u="none" cap="none" strike="noStrike">
                <a:solidFill>
                  <a:srgbClr val="CC0099"/>
                </a:solidFill>
                <a:latin typeface="Gill Sans"/>
                <a:ea typeface="Gill Sans"/>
                <a:cs typeface="Gill Sans"/>
                <a:sym typeface="Gill Sans"/>
              </a:rPr>
              <a:t>Key Questions for Data Collection and Prep in Detail</a:t>
            </a:r>
            <a:endParaRPr b="1" i="0" sz="2400" u="none" cap="none" strike="noStrike">
              <a:solidFill>
                <a:srgbClr val="CC0099"/>
              </a:solidFill>
              <a:latin typeface="Gill Sans"/>
              <a:ea typeface="Gill Sans"/>
              <a:cs typeface="Gill Sans"/>
              <a:sym typeface="Gill Sans"/>
            </a:endParaRPr>
          </a:p>
          <a:p>
            <a:pPr indent="0" lvl="0" marL="0" marR="0" rtl="0" algn="l">
              <a:lnSpc>
                <a:spcPct val="100000"/>
              </a:lnSpc>
              <a:spcBef>
                <a:spcPts val="0"/>
              </a:spcBef>
              <a:spcAft>
                <a:spcPts val="0"/>
              </a:spcAft>
              <a:buClr>
                <a:srgbClr val="0B1D3A"/>
              </a:buClr>
              <a:buSzPts val="2400"/>
              <a:buFont typeface="Georgia"/>
              <a:buNone/>
            </a:pPr>
            <a:r>
              <a:t/>
            </a:r>
            <a:endParaRPr b="1" i="0" sz="2400" u="none" cap="none" strike="noStrike">
              <a:solidFill>
                <a:srgbClr val="0B1D3A"/>
              </a:solidFill>
              <a:latin typeface="Gill Sans"/>
              <a:ea typeface="Gill Sans"/>
              <a:cs typeface="Gill Sans"/>
              <a:sym typeface="Gill Sans"/>
            </a:endParaRPr>
          </a:p>
        </p:txBody>
      </p:sp>
      <p:sp>
        <p:nvSpPr>
          <p:cNvPr id="275" name="Google Shape;275;p7"/>
          <p:cNvSpPr/>
          <p:nvPr/>
        </p:nvSpPr>
        <p:spPr>
          <a:xfrm>
            <a:off x="365750" y="548650"/>
            <a:ext cx="83211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D6D7E"/>
              </a:buClr>
              <a:buSzPts val="1100"/>
              <a:buFont typeface="Calibri"/>
              <a:buNone/>
            </a:pPr>
            <a:r>
              <a:rPr b="0" i="1" lang="en-US" sz="1100" u="none" cap="none" strike="noStrike">
                <a:solidFill>
                  <a:srgbClr val="5D6D7E"/>
                </a:solidFill>
                <a:latin typeface="Gill Sans"/>
                <a:ea typeface="Gill Sans"/>
                <a:cs typeface="Gill Sans"/>
                <a:sym typeface="Gill Sans"/>
              </a:rPr>
              <a:t>Part 2: Border Control, Special Assistance &amp; Data Availability</a:t>
            </a:r>
            <a:endParaRPr b="0" i="0" sz="1100" u="none" cap="none" strike="noStrike">
              <a:solidFill>
                <a:schemeClr val="dk1"/>
              </a:solidFill>
              <a:latin typeface="Gill Sans"/>
              <a:ea typeface="Gill Sans"/>
              <a:cs typeface="Gill Sans"/>
              <a:sym typeface="Gill Sans"/>
            </a:endParaRPr>
          </a:p>
        </p:txBody>
      </p:sp>
      <p:sp>
        <p:nvSpPr>
          <p:cNvPr id="276" name="Google Shape;276;p7"/>
          <p:cNvSpPr/>
          <p:nvPr/>
        </p:nvSpPr>
        <p:spPr>
          <a:xfrm>
            <a:off x="365760" y="914400"/>
            <a:ext cx="4114800" cy="1975104"/>
          </a:xfrm>
          <a:prstGeom prst="rect">
            <a:avLst/>
          </a:prstGeom>
          <a:solidFill>
            <a:srgbClr val="FFFFFF"/>
          </a:solidFill>
          <a:ln cap="flat" cmpd="sng" w="9525">
            <a:solidFill>
              <a:srgbClr val="E8E8E8"/>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chemeClr val="dk1"/>
              </a:solidFill>
              <a:latin typeface="Calibri"/>
              <a:ea typeface="Calibri"/>
              <a:cs typeface="Calibri"/>
              <a:sym typeface="Calibri"/>
            </a:endParaRPr>
          </a:p>
        </p:txBody>
      </p:sp>
      <p:sp>
        <p:nvSpPr>
          <p:cNvPr id="277" name="Google Shape;277;p7"/>
          <p:cNvSpPr/>
          <p:nvPr/>
        </p:nvSpPr>
        <p:spPr>
          <a:xfrm>
            <a:off x="365760" y="914400"/>
            <a:ext cx="4114800" cy="384048"/>
          </a:xfrm>
          <a:prstGeom prst="rect">
            <a:avLst/>
          </a:prstGeom>
          <a:solidFill>
            <a:srgbClr val="C0392B"/>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chemeClr val="dk1"/>
              </a:solidFill>
              <a:latin typeface="Calibri"/>
              <a:ea typeface="Calibri"/>
              <a:cs typeface="Calibri"/>
              <a:sym typeface="Calibri"/>
            </a:endParaRPr>
          </a:p>
        </p:txBody>
      </p:sp>
      <p:pic>
        <p:nvPicPr>
          <p:cNvPr descr="preencoded.png" id="278" name="Google Shape;278;p7"/>
          <p:cNvPicPr preferRelativeResize="0"/>
          <p:nvPr/>
        </p:nvPicPr>
        <p:blipFill rotWithShape="1">
          <a:blip r:embed="rId3">
            <a:alphaModFix/>
          </a:blip>
          <a:srcRect b="0" l="0" r="0" t="0"/>
          <a:stretch/>
        </p:blipFill>
        <p:spPr>
          <a:xfrm>
            <a:off x="475488" y="987552"/>
            <a:ext cx="219456" cy="219456"/>
          </a:xfrm>
          <a:prstGeom prst="rect">
            <a:avLst/>
          </a:prstGeom>
          <a:noFill/>
          <a:ln>
            <a:noFill/>
          </a:ln>
        </p:spPr>
      </p:pic>
      <p:sp>
        <p:nvSpPr>
          <p:cNvPr id="279" name="Google Shape;279;p7"/>
          <p:cNvSpPr/>
          <p:nvPr/>
        </p:nvSpPr>
        <p:spPr>
          <a:xfrm>
            <a:off x="749808" y="941832"/>
            <a:ext cx="3566160"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800"/>
              <a:buFont typeface="Calibri"/>
              <a:buNone/>
            </a:pPr>
            <a:r>
              <a:rPr b="1" i="0" lang="en-US" sz="800" u="none" cap="none" strike="noStrike">
                <a:solidFill>
                  <a:srgbClr val="FFFFFF"/>
                </a:solidFill>
                <a:latin typeface="Gill Sans"/>
                <a:ea typeface="Gill Sans"/>
                <a:cs typeface="Gill Sans"/>
                <a:sym typeface="Gill Sans"/>
              </a:rPr>
              <a:t>Border Force</a:t>
            </a:r>
            <a:endParaRPr b="0" i="0" sz="800" u="none" cap="none" strike="noStrike">
              <a:solidFill>
                <a:schemeClr val="dk1"/>
              </a:solidFill>
              <a:latin typeface="Gill Sans"/>
              <a:ea typeface="Gill Sans"/>
              <a:cs typeface="Gill Sans"/>
              <a:sym typeface="Gill Sans"/>
            </a:endParaRPr>
          </a:p>
        </p:txBody>
      </p:sp>
      <p:sp>
        <p:nvSpPr>
          <p:cNvPr id="280" name="Google Shape;280;p7"/>
          <p:cNvSpPr/>
          <p:nvPr/>
        </p:nvSpPr>
        <p:spPr>
          <a:xfrm>
            <a:off x="438912" y="1371600"/>
            <a:ext cx="3968496" cy="210312"/>
          </a:xfrm>
          <a:prstGeom prst="rect">
            <a:avLst/>
          </a:prstGeom>
          <a:solidFill>
            <a:srgbClr val="EAF4F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chemeClr val="dk1"/>
              </a:solidFill>
              <a:latin typeface="Calibri"/>
              <a:ea typeface="Calibri"/>
              <a:cs typeface="Calibri"/>
              <a:sym typeface="Calibri"/>
            </a:endParaRPr>
          </a:p>
        </p:txBody>
      </p:sp>
      <p:sp>
        <p:nvSpPr>
          <p:cNvPr id="281" name="Google Shape;281;p7"/>
          <p:cNvSpPr/>
          <p:nvPr/>
        </p:nvSpPr>
        <p:spPr>
          <a:xfrm>
            <a:off x="512064" y="1371600"/>
            <a:ext cx="3822192" cy="21031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C3E50"/>
              </a:buClr>
              <a:buSzPts val="800"/>
              <a:buFont typeface="Calibri"/>
              <a:buNone/>
            </a:pPr>
            <a:r>
              <a:rPr b="0" i="0" lang="en-US" sz="800" u="none" cap="none" strike="noStrike">
                <a:solidFill>
                  <a:srgbClr val="2C3E50"/>
                </a:solidFill>
                <a:latin typeface="Gill Sans"/>
                <a:ea typeface="Gill Sans"/>
                <a:cs typeface="Gill Sans"/>
                <a:sym typeface="Gill Sans"/>
              </a:rPr>
              <a:t>What are current avg processing times at  e gates vs manned desks by passport type?</a:t>
            </a:r>
            <a:endParaRPr b="0" i="0" sz="800" u="none" cap="none" strike="noStrike">
              <a:solidFill>
                <a:schemeClr val="dk1"/>
              </a:solidFill>
              <a:latin typeface="Gill Sans"/>
              <a:ea typeface="Gill Sans"/>
              <a:cs typeface="Gill Sans"/>
              <a:sym typeface="Gill Sans"/>
            </a:endParaRPr>
          </a:p>
        </p:txBody>
      </p:sp>
      <p:sp>
        <p:nvSpPr>
          <p:cNvPr id="282" name="Google Shape;282;p7"/>
          <p:cNvSpPr/>
          <p:nvPr/>
        </p:nvSpPr>
        <p:spPr>
          <a:xfrm>
            <a:off x="438912" y="1591056"/>
            <a:ext cx="3968496" cy="210312"/>
          </a:xfrm>
          <a:prstGeom prst="rect">
            <a:avLst/>
          </a:pr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chemeClr val="dk1"/>
              </a:solidFill>
              <a:latin typeface="Calibri"/>
              <a:ea typeface="Calibri"/>
              <a:cs typeface="Calibri"/>
              <a:sym typeface="Calibri"/>
            </a:endParaRPr>
          </a:p>
        </p:txBody>
      </p:sp>
      <p:sp>
        <p:nvSpPr>
          <p:cNvPr id="283" name="Google Shape;283;p7"/>
          <p:cNvSpPr/>
          <p:nvPr/>
        </p:nvSpPr>
        <p:spPr>
          <a:xfrm>
            <a:off x="512064" y="1591056"/>
            <a:ext cx="3822192"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C3E50"/>
              </a:buClr>
              <a:buSzPts val="800"/>
              <a:buFont typeface="Calibri"/>
              <a:buNone/>
            </a:pPr>
            <a:r>
              <a:rPr b="0" i="0" lang="en-US" sz="800" u="none" cap="none" strike="noStrike">
                <a:solidFill>
                  <a:srgbClr val="2C3E50"/>
                </a:solidFill>
                <a:latin typeface="Gill Sans"/>
                <a:ea typeface="Gill Sans"/>
                <a:cs typeface="Gill Sans"/>
                <a:sym typeface="Gill Sans"/>
              </a:rPr>
              <a:t>What nationalities are e gate eligible and what are the exceptions (like Tier 5 visa)?</a:t>
            </a:r>
            <a:endParaRPr b="0" i="0" sz="800" u="none" cap="none" strike="noStrike">
              <a:solidFill>
                <a:schemeClr val="dk1"/>
              </a:solidFill>
              <a:latin typeface="Gill Sans"/>
              <a:ea typeface="Gill Sans"/>
              <a:cs typeface="Gill Sans"/>
              <a:sym typeface="Gill Sans"/>
            </a:endParaRPr>
          </a:p>
        </p:txBody>
      </p:sp>
      <p:sp>
        <p:nvSpPr>
          <p:cNvPr id="284" name="Google Shape;284;p7"/>
          <p:cNvSpPr/>
          <p:nvPr/>
        </p:nvSpPr>
        <p:spPr>
          <a:xfrm>
            <a:off x="438912" y="1810512"/>
            <a:ext cx="3968496" cy="210312"/>
          </a:xfrm>
          <a:prstGeom prst="rect">
            <a:avLst/>
          </a:prstGeom>
          <a:solidFill>
            <a:srgbClr val="EAF4F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chemeClr val="dk1"/>
              </a:solidFill>
              <a:latin typeface="Calibri"/>
              <a:ea typeface="Calibri"/>
              <a:cs typeface="Calibri"/>
              <a:sym typeface="Calibri"/>
            </a:endParaRPr>
          </a:p>
        </p:txBody>
      </p:sp>
      <p:sp>
        <p:nvSpPr>
          <p:cNvPr id="285" name="Google Shape;285;p7"/>
          <p:cNvSpPr/>
          <p:nvPr/>
        </p:nvSpPr>
        <p:spPr>
          <a:xfrm>
            <a:off x="512064" y="1810512"/>
            <a:ext cx="3822192" cy="21031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C3E50"/>
              </a:buClr>
              <a:buSzPts val="800"/>
              <a:buFont typeface="Calibri"/>
              <a:buNone/>
            </a:pPr>
            <a:r>
              <a:rPr b="0" i="0" lang="en-US" sz="800" u="none" cap="none" strike="noStrike">
                <a:solidFill>
                  <a:srgbClr val="2C3E50"/>
                </a:solidFill>
                <a:latin typeface="Gill Sans"/>
                <a:ea typeface="Gill Sans"/>
                <a:cs typeface="Gill Sans"/>
                <a:sym typeface="Gill Sans"/>
              </a:rPr>
              <a:t>What is the deeper scrutiny / secondary referral rate and average duration?</a:t>
            </a:r>
            <a:endParaRPr b="0" i="0" sz="800" u="none" cap="none" strike="noStrike">
              <a:solidFill>
                <a:schemeClr val="dk1"/>
              </a:solidFill>
              <a:latin typeface="Gill Sans"/>
              <a:ea typeface="Gill Sans"/>
              <a:cs typeface="Gill Sans"/>
              <a:sym typeface="Gill Sans"/>
            </a:endParaRPr>
          </a:p>
        </p:txBody>
      </p:sp>
      <p:sp>
        <p:nvSpPr>
          <p:cNvPr id="286" name="Google Shape;286;p7"/>
          <p:cNvSpPr/>
          <p:nvPr/>
        </p:nvSpPr>
        <p:spPr>
          <a:xfrm>
            <a:off x="438912" y="2029968"/>
            <a:ext cx="3968496" cy="210312"/>
          </a:xfrm>
          <a:prstGeom prst="rect">
            <a:avLst/>
          </a:pr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chemeClr val="dk1"/>
              </a:solidFill>
              <a:latin typeface="Calibri"/>
              <a:ea typeface="Calibri"/>
              <a:cs typeface="Calibri"/>
              <a:sym typeface="Calibri"/>
            </a:endParaRPr>
          </a:p>
        </p:txBody>
      </p:sp>
      <p:sp>
        <p:nvSpPr>
          <p:cNvPr id="287" name="Google Shape;287;p7"/>
          <p:cNvSpPr/>
          <p:nvPr/>
        </p:nvSpPr>
        <p:spPr>
          <a:xfrm>
            <a:off x="512064" y="2029968"/>
            <a:ext cx="3822192" cy="21031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C3E50"/>
              </a:buClr>
              <a:buSzPts val="800"/>
              <a:buFont typeface="Calibri"/>
              <a:buNone/>
            </a:pPr>
            <a:r>
              <a:rPr b="0" i="0" lang="en-US" sz="800" u="none" cap="none" strike="noStrike">
                <a:solidFill>
                  <a:srgbClr val="2C3E50"/>
                </a:solidFill>
                <a:latin typeface="Gill Sans"/>
                <a:ea typeface="Gill Sans"/>
                <a:cs typeface="Gill Sans"/>
                <a:sym typeface="Gill Sans"/>
              </a:rPr>
              <a:t>How often do e gate system outages occur? What’s the fallback protocol?</a:t>
            </a:r>
            <a:endParaRPr b="0" i="0" sz="800" u="none" cap="none" strike="noStrike">
              <a:solidFill>
                <a:schemeClr val="dk1"/>
              </a:solidFill>
              <a:latin typeface="Gill Sans"/>
              <a:ea typeface="Gill Sans"/>
              <a:cs typeface="Gill Sans"/>
              <a:sym typeface="Gill Sans"/>
            </a:endParaRPr>
          </a:p>
        </p:txBody>
      </p:sp>
      <p:sp>
        <p:nvSpPr>
          <p:cNvPr id="288" name="Google Shape;288;p7"/>
          <p:cNvSpPr/>
          <p:nvPr/>
        </p:nvSpPr>
        <p:spPr>
          <a:xfrm>
            <a:off x="438912" y="2249424"/>
            <a:ext cx="3968496" cy="210312"/>
          </a:xfrm>
          <a:prstGeom prst="rect">
            <a:avLst/>
          </a:prstGeom>
          <a:solidFill>
            <a:srgbClr val="EAF4F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chemeClr val="dk1"/>
              </a:solidFill>
              <a:latin typeface="Calibri"/>
              <a:ea typeface="Calibri"/>
              <a:cs typeface="Calibri"/>
              <a:sym typeface="Calibri"/>
            </a:endParaRPr>
          </a:p>
        </p:txBody>
      </p:sp>
      <p:sp>
        <p:nvSpPr>
          <p:cNvPr id="289" name="Google Shape;289;p7"/>
          <p:cNvSpPr/>
          <p:nvPr/>
        </p:nvSpPr>
        <p:spPr>
          <a:xfrm>
            <a:off x="512064" y="2249424"/>
            <a:ext cx="3822192" cy="21031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C3E50"/>
              </a:buClr>
              <a:buSzPts val="800"/>
              <a:buFont typeface="Calibri"/>
              <a:buNone/>
            </a:pPr>
            <a:r>
              <a:rPr b="0" i="0" lang="en-US" sz="800" u="none" cap="none" strike="noStrike">
                <a:solidFill>
                  <a:srgbClr val="2C3E50"/>
                </a:solidFill>
                <a:latin typeface="Gill Sans"/>
                <a:ea typeface="Gill Sans"/>
                <a:cs typeface="Gill Sans"/>
                <a:sym typeface="Gill Sans"/>
              </a:rPr>
              <a:t>What % of passengers currently use e-gates vs. manned desks?</a:t>
            </a:r>
            <a:endParaRPr b="0" i="0" sz="800" u="none" cap="none" strike="noStrike">
              <a:solidFill>
                <a:schemeClr val="dk1"/>
              </a:solidFill>
              <a:latin typeface="Gill Sans"/>
              <a:ea typeface="Gill Sans"/>
              <a:cs typeface="Gill Sans"/>
              <a:sym typeface="Gill Sans"/>
            </a:endParaRPr>
          </a:p>
        </p:txBody>
      </p:sp>
      <p:sp>
        <p:nvSpPr>
          <p:cNvPr id="290" name="Google Shape;290;p7"/>
          <p:cNvSpPr/>
          <p:nvPr/>
        </p:nvSpPr>
        <p:spPr>
          <a:xfrm>
            <a:off x="438912" y="2468880"/>
            <a:ext cx="3968496" cy="210312"/>
          </a:xfrm>
          <a:prstGeom prst="rect">
            <a:avLst/>
          </a:pr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chemeClr val="dk1"/>
              </a:solidFill>
              <a:latin typeface="Calibri"/>
              <a:ea typeface="Calibri"/>
              <a:cs typeface="Calibri"/>
              <a:sym typeface="Calibri"/>
            </a:endParaRPr>
          </a:p>
        </p:txBody>
      </p:sp>
      <p:sp>
        <p:nvSpPr>
          <p:cNvPr id="291" name="Google Shape;291;p7"/>
          <p:cNvSpPr/>
          <p:nvPr/>
        </p:nvSpPr>
        <p:spPr>
          <a:xfrm>
            <a:off x="512064" y="2468880"/>
            <a:ext cx="3822192" cy="21031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C3E50"/>
              </a:buClr>
              <a:buSzPts val="800"/>
              <a:buFont typeface="Calibri"/>
              <a:buNone/>
            </a:pPr>
            <a:r>
              <a:rPr b="0" i="0" lang="en-US" sz="800" u="none" cap="none" strike="noStrike">
                <a:solidFill>
                  <a:srgbClr val="2C3E50"/>
                </a:solidFill>
                <a:latin typeface="Gill Sans"/>
                <a:ea typeface="Gill Sans"/>
                <a:cs typeface="Gill Sans"/>
                <a:sym typeface="Gill Sans"/>
              </a:rPr>
              <a:t>How is the special assistance lane staffed dedicated officer or shared?</a:t>
            </a:r>
            <a:endParaRPr b="0" i="0" sz="800" u="none" cap="none" strike="noStrike">
              <a:solidFill>
                <a:schemeClr val="dk1"/>
              </a:solidFill>
              <a:latin typeface="Gill Sans"/>
              <a:ea typeface="Gill Sans"/>
              <a:cs typeface="Gill Sans"/>
              <a:sym typeface="Gill Sans"/>
            </a:endParaRPr>
          </a:p>
        </p:txBody>
      </p:sp>
      <p:sp>
        <p:nvSpPr>
          <p:cNvPr id="292" name="Google Shape;292;p7"/>
          <p:cNvSpPr/>
          <p:nvPr/>
        </p:nvSpPr>
        <p:spPr>
          <a:xfrm>
            <a:off x="4663440" y="914400"/>
            <a:ext cx="4114800" cy="1975104"/>
          </a:xfrm>
          <a:prstGeom prst="rect">
            <a:avLst/>
          </a:prstGeom>
          <a:solidFill>
            <a:srgbClr val="FFFFFF"/>
          </a:solidFill>
          <a:ln cap="flat" cmpd="sng" w="9525">
            <a:solidFill>
              <a:srgbClr val="E8E8E8"/>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chemeClr val="dk1"/>
              </a:solidFill>
              <a:latin typeface="Calibri"/>
              <a:ea typeface="Calibri"/>
              <a:cs typeface="Calibri"/>
              <a:sym typeface="Calibri"/>
            </a:endParaRPr>
          </a:p>
        </p:txBody>
      </p:sp>
      <p:sp>
        <p:nvSpPr>
          <p:cNvPr id="293" name="Google Shape;293;p7"/>
          <p:cNvSpPr/>
          <p:nvPr/>
        </p:nvSpPr>
        <p:spPr>
          <a:xfrm>
            <a:off x="4663440" y="914400"/>
            <a:ext cx="4114800" cy="384048"/>
          </a:xfrm>
          <a:prstGeom prst="rect">
            <a:avLst/>
          </a:prstGeom>
          <a:solidFill>
            <a:srgbClr val="6C348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chemeClr val="dk1"/>
              </a:solidFill>
              <a:latin typeface="Calibri"/>
              <a:ea typeface="Calibri"/>
              <a:cs typeface="Calibri"/>
              <a:sym typeface="Calibri"/>
            </a:endParaRPr>
          </a:p>
        </p:txBody>
      </p:sp>
      <p:pic>
        <p:nvPicPr>
          <p:cNvPr descr="preencoded.png" id="294" name="Google Shape;294;p7"/>
          <p:cNvPicPr preferRelativeResize="0"/>
          <p:nvPr/>
        </p:nvPicPr>
        <p:blipFill rotWithShape="1">
          <a:blip r:embed="rId4">
            <a:alphaModFix/>
          </a:blip>
          <a:srcRect b="0" l="0" r="0" t="0"/>
          <a:stretch/>
        </p:blipFill>
        <p:spPr>
          <a:xfrm>
            <a:off x="4773168" y="987552"/>
            <a:ext cx="219456" cy="219456"/>
          </a:xfrm>
          <a:prstGeom prst="rect">
            <a:avLst/>
          </a:prstGeom>
          <a:noFill/>
          <a:ln>
            <a:noFill/>
          </a:ln>
        </p:spPr>
      </p:pic>
      <p:sp>
        <p:nvSpPr>
          <p:cNvPr id="295" name="Google Shape;295;p7"/>
          <p:cNvSpPr/>
          <p:nvPr/>
        </p:nvSpPr>
        <p:spPr>
          <a:xfrm>
            <a:off x="5047488" y="941832"/>
            <a:ext cx="3566160"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800"/>
              <a:buFont typeface="Calibri"/>
              <a:buNone/>
            </a:pPr>
            <a:r>
              <a:rPr b="1" i="0" lang="en-US" sz="800" u="none" cap="none" strike="noStrike">
                <a:solidFill>
                  <a:srgbClr val="FFFFFF"/>
                </a:solidFill>
                <a:latin typeface="Gill Sans"/>
                <a:ea typeface="Gill Sans"/>
                <a:cs typeface="Gill Sans"/>
                <a:sym typeface="Gill Sans"/>
              </a:rPr>
              <a:t>Special Assistance Team</a:t>
            </a:r>
            <a:endParaRPr b="0" i="0" sz="800" u="none" cap="none" strike="noStrike">
              <a:solidFill>
                <a:schemeClr val="dk1"/>
              </a:solidFill>
              <a:latin typeface="Gill Sans"/>
              <a:ea typeface="Gill Sans"/>
              <a:cs typeface="Gill Sans"/>
              <a:sym typeface="Gill Sans"/>
            </a:endParaRPr>
          </a:p>
        </p:txBody>
      </p:sp>
      <p:sp>
        <p:nvSpPr>
          <p:cNvPr id="296" name="Google Shape;296;p7"/>
          <p:cNvSpPr/>
          <p:nvPr/>
        </p:nvSpPr>
        <p:spPr>
          <a:xfrm>
            <a:off x="4736592" y="1371600"/>
            <a:ext cx="3968496" cy="210312"/>
          </a:xfrm>
          <a:prstGeom prst="rect">
            <a:avLst/>
          </a:prstGeom>
          <a:solidFill>
            <a:srgbClr val="EAF4F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chemeClr val="dk1"/>
              </a:solidFill>
              <a:latin typeface="Calibri"/>
              <a:ea typeface="Calibri"/>
              <a:cs typeface="Calibri"/>
              <a:sym typeface="Calibri"/>
            </a:endParaRPr>
          </a:p>
        </p:txBody>
      </p:sp>
      <p:sp>
        <p:nvSpPr>
          <p:cNvPr id="297" name="Google Shape;297;p7"/>
          <p:cNvSpPr/>
          <p:nvPr/>
        </p:nvSpPr>
        <p:spPr>
          <a:xfrm>
            <a:off x="4809744" y="1371600"/>
            <a:ext cx="3822192" cy="21031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C3E50"/>
              </a:buClr>
              <a:buSzPts val="800"/>
              <a:buFont typeface="Calibri"/>
              <a:buNone/>
            </a:pPr>
            <a:r>
              <a:rPr b="0" i="0" lang="en-US" sz="800" u="none" cap="none" strike="noStrike">
                <a:solidFill>
                  <a:srgbClr val="2C3E50"/>
                </a:solidFill>
                <a:latin typeface="Gill Sans"/>
                <a:ea typeface="Gill Sans"/>
                <a:cs typeface="Gill Sans"/>
                <a:sym typeface="Gill Sans"/>
              </a:rPr>
              <a:t>How many assistance agents are available per shift? Max simultaneous PRMs?</a:t>
            </a:r>
            <a:endParaRPr b="0" i="0" sz="800" u="none" cap="none" strike="noStrike">
              <a:solidFill>
                <a:schemeClr val="dk1"/>
              </a:solidFill>
              <a:latin typeface="Gill Sans"/>
              <a:ea typeface="Gill Sans"/>
              <a:cs typeface="Gill Sans"/>
              <a:sym typeface="Gill Sans"/>
            </a:endParaRPr>
          </a:p>
        </p:txBody>
      </p:sp>
      <p:sp>
        <p:nvSpPr>
          <p:cNvPr id="298" name="Google Shape;298;p7"/>
          <p:cNvSpPr/>
          <p:nvPr/>
        </p:nvSpPr>
        <p:spPr>
          <a:xfrm>
            <a:off x="4736592" y="1591056"/>
            <a:ext cx="3968496" cy="210312"/>
          </a:xfrm>
          <a:prstGeom prst="rect">
            <a:avLst/>
          </a:pr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chemeClr val="dk1"/>
              </a:solidFill>
              <a:latin typeface="Calibri"/>
              <a:ea typeface="Calibri"/>
              <a:cs typeface="Calibri"/>
              <a:sym typeface="Calibri"/>
            </a:endParaRPr>
          </a:p>
        </p:txBody>
      </p:sp>
      <p:sp>
        <p:nvSpPr>
          <p:cNvPr id="299" name="Google Shape;299;p7"/>
          <p:cNvSpPr/>
          <p:nvPr/>
        </p:nvSpPr>
        <p:spPr>
          <a:xfrm>
            <a:off x="4809744" y="1591056"/>
            <a:ext cx="3822192" cy="21031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C3E50"/>
              </a:buClr>
              <a:buSzPts val="800"/>
              <a:buFont typeface="Calibri"/>
              <a:buNone/>
            </a:pPr>
            <a:r>
              <a:rPr b="0" i="0" lang="en-US" sz="800" u="none" cap="none" strike="noStrike">
                <a:solidFill>
                  <a:srgbClr val="2C3E50"/>
                </a:solidFill>
                <a:latin typeface="Gill Sans"/>
                <a:ea typeface="Gill Sans"/>
                <a:cs typeface="Gill Sans"/>
                <a:sym typeface="Gill Sans"/>
              </a:rPr>
              <a:t>What is the avg escort time: aircraft to immigration (airbridge vs. ambulift)?</a:t>
            </a:r>
            <a:endParaRPr b="0" i="0" sz="800" u="none" cap="none" strike="noStrike">
              <a:solidFill>
                <a:schemeClr val="dk1"/>
              </a:solidFill>
              <a:latin typeface="Gill Sans"/>
              <a:ea typeface="Gill Sans"/>
              <a:cs typeface="Gill Sans"/>
              <a:sym typeface="Gill Sans"/>
            </a:endParaRPr>
          </a:p>
        </p:txBody>
      </p:sp>
      <p:sp>
        <p:nvSpPr>
          <p:cNvPr id="300" name="Google Shape;300;p7"/>
          <p:cNvSpPr/>
          <p:nvPr/>
        </p:nvSpPr>
        <p:spPr>
          <a:xfrm>
            <a:off x="4736592" y="1810512"/>
            <a:ext cx="3968496" cy="210312"/>
          </a:xfrm>
          <a:prstGeom prst="rect">
            <a:avLst/>
          </a:prstGeom>
          <a:solidFill>
            <a:srgbClr val="EAF4F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chemeClr val="dk1"/>
              </a:solidFill>
              <a:latin typeface="Calibri"/>
              <a:ea typeface="Calibri"/>
              <a:cs typeface="Calibri"/>
              <a:sym typeface="Calibri"/>
            </a:endParaRPr>
          </a:p>
        </p:txBody>
      </p:sp>
      <p:sp>
        <p:nvSpPr>
          <p:cNvPr id="301" name="Google Shape;301;p7"/>
          <p:cNvSpPr/>
          <p:nvPr/>
        </p:nvSpPr>
        <p:spPr>
          <a:xfrm>
            <a:off x="4809744" y="1810512"/>
            <a:ext cx="3822192" cy="21031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C3E50"/>
              </a:buClr>
              <a:buSzPts val="800"/>
              <a:buFont typeface="Calibri"/>
              <a:buNone/>
            </a:pPr>
            <a:r>
              <a:rPr b="0" i="0" lang="en-US" sz="800" u="none" cap="none" strike="noStrike">
                <a:solidFill>
                  <a:srgbClr val="2C3E50"/>
                </a:solidFill>
                <a:latin typeface="Gill Sans"/>
                <a:ea typeface="Gill Sans"/>
                <a:cs typeface="Gill Sans"/>
                <a:sym typeface="Gill Sans"/>
              </a:rPr>
              <a:t>How long does the ambulift process take  setup, loading, drive to terminal?</a:t>
            </a:r>
            <a:endParaRPr b="0" i="0" sz="800" u="none" cap="none" strike="noStrike">
              <a:solidFill>
                <a:schemeClr val="dk1"/>
              </a:solidFill>
              <a:latin typeface="Gill Sans"/>
              <a:ea typeface="Gill Sans"/>
              <a:cs typeface="Gill Sans"/>
              <a:sym typeface="Gill Sans"/>
            </a:endParaRPr>
          </a:p>
        </p:txBody>
      </p:sp>
      <p:sp>
        <p:nvSpPr>
          <p:cNvPr id="302" name="Google Shape;302;p7"/>
          <p:cNvSpPr/>
          <p:nvPr/>
        </p:nvSpPr>
        <p:spPr>
          <a:xfrm>
            <a:off x="4736592" y="2029968"/>
            <a:ext cx="3968496" cy="210312"/>
          </a:xfrm>
          <a:prstGeom prst="rect">
            <a:avLst/>
          </a:pr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chemeClr val="dk1"/>
              </a:solidFill>
              <a:latin typeface="Calibri"/>
              <a:ea typeface="Calibri"/>
              <a:cs typeface="Calibri"/>
              <a:sym typeface="Calibri"/>
            </a:endParaRPr>
          </a:p>
        </p:txBody>
      </p:sp>
      <p:sp>
        <p:nvSpPr>
          <p:cNvPr id="303" name="Google Shape;303;p7"/>
          <p:cNvSpPr/>
          <p:nvPr/>
        </p:nvSpPr>
        <p:spPr>
          <a:xfrm>
            <a:off x="4809744" y="2029968"/>
            <a:ext cx="3822192" cy="21031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C3E50"/>
              </a:buClr>
              <a:buSzPts val="800"/>
              <a:buFont typeface="Calibri"/>
              <a:buNone/>
            </a:pPr>
            <a:r>
              <a:rPr b="0" i="0" lang="en-US" sz="800" u="none" cap="none" strike="noStrike">
                <a:solidFill>
                  <a:srgbClr val="2C3E50"/>
                </a:solidFill>
                <a:latin typeface="Gill Sans"/>
                <a:ea typeface="Gill Sans"/>
                <a:cs typeface="Gill Sans"/>
                <a:sym typeface="Gill Sans"/>
              </a:rPr>
              <a:t>What happens when multiple PRM flights arrive at once ambulift queue?</a:t>
            </a:r>
            <a:endParaRPr b="0" i="0" sz="800" u="none" cap="none" strike="noStrike">
              <a:solidFill>
                <a:schemeClr val="dk1"/>
              </a:solidFill>
              <a:latin typeface="Gill Sans"/>
              <a:ea typeface="Gill Sans"/>
              <a:cs typeface="Gill Sans"/>
              <a:sym typeface="Gill Sans"/>
            </a:endParaRPr>
          </a:p>
        </p:txBody>
      </p:sp>
      <p:sp>
        <p:nvSpPr>
          <p:cNvPr id="304" name="Google Shape;304;p7"/>
          <p:cNvSpPr/>
          <p:nvPr/>
        </p:nvSpPr>
        <p:spPr>
          <a:xfrm>
            <a:off x="4736592" y="2249424"/>
            <a:ext cx="3968496" cy="210312"/>
          </a:xfrm>
          <a:prstGeom prst="rect">
            <a:avLst/>
          </a:prstGeom>
          <a:solidFill>
            <a:srgbClr val="EAF4F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chemeClr val="dk1"/>
              </a:solidFill>
              <a:latin typeface="Calibri"/>
              <a:ea typeface="Calibri"/>
              <a:cs typeface="Calibri"/>
              <a:sym typeface="Calibri"/>
            </a:endParaRPr>
          </a:p>
        </p:txBody>
      </p:sp>
      <p:sp>
        <p:nvSpPr>
          <p:cNvPr id="305" name="Google Shape;305;p7"/>
          <p:cNvSpPr/>
          <p:nvPr/>
        </p:nvSpPr>
        <p:spPr>
          <a:xfrm>
            <a:off x="4809744" y="2249424"/>
            <a:ext cx="3822192" cy="21031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C3E50"/>
              </a:buClr>
              <a:buSzPts val="800"/>
              <a:buFont typeface="Calibri"/>
              <a:buNone/>
            </a:pPr>
            <a:r>
              <a:rPr b="0" i="0" lang="en-US" sz="800" u="none" cap="none" strike="noStrike">
                <a:solidFill>
                  <a:srgbClr val="2C3E50"/>
                </a:solidFill>
                <a:latin typeface="Gill Sans"/>
                <a:ea typeface="Gill Sans"/>
                <a:cs typeface="Gill Sans"/>
                <a:sym typeface="Gill Sans"/>
              </a:rPr>
              <a:t>How many ambulifts are available at</a:t>
            </a:r>
            <a:endParaRPr b="0" i="0" sz="800" u="none" cap="none" strike="noStrike">
              <a:solidFill>
                <a:schemeClr val="dk1"/>
              </a:solidFill>
              <a:latin typeface="Gill Sans"/>
              <a:ea typeface="Gill Sans"/>
              <a:cs typeface="Gill Sans"/>
              <a:sym typeface="Gill Sans"/>
            </a:endParaRPr>
          </a:p>
        </p:txBody>
      </p:sp>
      <p:sp>
        <p:nvSpPr>
          <p:cNvPr id="306" name="Google Shape;306;p7"/>
          <p:cNvSpPr/>
          <p:nvPr/>
        </p:nvSpPr>
        <p:spPr>
          <a:xfrm>
            <a:off x="4736592" y="2468880"/>
            <a:ext cx="3968496" cy="210312"/>
          </a:xfrm>
          <a:prstGeom prst="rect">
            <a:avLst/>
          </a:pr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chemeClr val="dk1"/>
              </a:solidFill>
              <a:latin typeface="Calibri"/>
              <a:ea typeface="Calibri"/>
              <a:cs typeface="Calibri"/>
              <a:sym typeface="Calibri"/>
            </a:endParaRPr>
          </a:p>
        </p:txBody>
      </p:sp>
      <p:sp>
        <p:nvSpPr>
          <p:cNvPr id="307" name="Google Shape;307;p7"/>
          <p:cNvSpPr/>
          <p:nvPr/>
        </p:nvSpPr>
        <p:spPr>
          <a:xfrm>
            <a:off x="4809744" y="2468880"/>
            <a:ext cx="3822192" cy="21031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C3E50"/>
              </a:buClr>
              <a:buSzPts val="800"/>
              <a:buFont typeface="Calibri"/>
              <a:buNone/>
            </a:pPr>
            <a:r>
              <a:rPr b="0" i="0" lang="en-US" sz="800" u="none" cap="none" strike="noStrike">
                <a:solidFill>
                  <a:srgbClr val="2C3E50"/>
                </a:solidFill>
                <a:latin typeface="Gill Sans"/>
                <a:ea typeface="Gill Sans"/>
                <a:cs typeface="Gill Sans"/>
                <a:sym typeface="Gill Sans"/>
              </a:rPr>
              <a:t>Do unaccompanied minors follow the same special assistance flow?</a:t>
            </a:r>
            <a:endParaRPr b="0" i="0" sz="800" u="none" cap="none" strike="noStrike">
              <a:solidFill>
                <a:schemeClr val="dk1"/>
              </a:solidFill>
              <a:latin typeface="Gill Sans"/>
              <a:ea typeface="Gill Sans"/>
              <a:cs typeface="Gill Sans"/>
              <a:sym typeface="Gill Sans"/>
            </a:endParaRPr>
          </a:p>
        </p:txBody>
      </p:sp>
      <p:sp>
        <p:nvSpPr>
          <p:cNvPr id="308" name="Google Shape;308;p7"/>
          <p:cNvSpPr/>
          <p:nvPr/>
        </p:nvSpPr>
        <p:spPr>
          <a:xfrm>
            <a:off x="2587753" y="2993193"/>
            <a:ext cx="4443984" cy="1601667"/>
          </a:xfrm>
          <a:prstGeom prst="rect">
            <a:avLst/>
          </a:prstGeom>
          <a:solidFill>
            <a:srgbClr val="FFFFFF"/>
          </a:solidFill>
          <a:ln cap="flat" cmpd="sng" w="9525">
            <a:solidFill>
              <a:srgbClr val="E8E8E8"/>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chemeClr val="dk1"/>
              </a:solidFill>
              <a:latin typeface="Calibri"/>
              <a:ea typeface="Calibri"/>
              <a:cs typeface="Calibri"/>
              <a:sym typeface="Calibri"/>
            </a:endParaRPr>
          </a:p>
        </p:txBody>
      </p:sp>
      <p:sp>
        <p:nvSpPr>
          <p:cNvPr id="309" name="Google Shape;309;p7"/>
          <p:cNvSpPr/>
          <p:nvPr/>
        </p:nvSpPr>
        <p:spPr>
          <a:xfrm>
            <a:off x="2624328" y="3016519"/>
            <a:ext cx="4443984" cy="370332"/>
          </a:xfrm>
          <a:prstGeom prst="rect">
            <a:avLst/>
          </a:prstGeom>
          <a:solidFill>
            <a:srgbClr val="D4A84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800"/>
              <a:buFont typeface="Arial"/>
              <a:buNone/>
            </a:pPr>
            <a:r>
              <a:rPr b="1" i="0" lang="en-US" sz="800" u="none" cap="none" strike="noStrike">
                <a:solidFill>
                  <a:srgbClr val="FFFFFF"/>
                </a:solidFill>
                <a:latin typeface="Calibri"/>
                <a:ea typeface="Calibri"/>
                <a:cs typeface="Calibri"/>
                <a:sym typeface="Calibri"/>
              </a:rPr>
              <a:t>             Business Analytics Team</a:t>
            </a:r>
            <a:endParaRPr b="0" i="0" sz="800" u="none" cap="none" strike="noStrike">
              <a:solidFill>
                <a:schemeClr val="dk1"/>
              </a:solidFill>
              <a:latin typeface="Calibri"/>
              <a:ea typeface="Calibri"/>
              <a:cs typeface="Calibri"/>
              <a:sym typeface="Calibri"/>
            </a:endParaRPr>
          </a:p>
        </p:txBody>
      </p:sp>
      <p:pic>
        <p:nvPicPr>
          <p:cNvPr descr="preencoded.png" id="310" name="Google Shape;310;p7"/>
          <p:cNvPicPr preferRelativeResize="0"/>
          <p:nvPr/>
        </p:nvPicPr>
        <p:blipFill rotWithShape="1">
          <a:blip r:embed="rId5">
            <a:alphaModFix/>
          </a:blip>
          <a:srcRect b="0" l="0" r="0" t="0"/>
          <a:stretch/>
        </p:blipFill>
        <p:spPr>
          <a:xfrm>
            <a:off x="2679695" y="3046418"/>
            <a:ext cx="219456" cy="219456"/>
          </a:xfrm>
          <a:prstGeom prst="rect">
            <a:avLst/>
          </a:prstGeom>
          <a:noFill/>
          <a:ln>
            <a:noFill/>
          </a:ln>
        </p:spPr>
      </p:pic>
      <p:sp>
        <p:nvSpPr>
          <p:cNvPr id="311" name="Google Shape;311;p7"/>
          <p:cNvSpPr/>
          <p:nvPr/>
        </p:nvSpPr>
        <p:spPr>
          <a:xfrm>
            <a:off x="749808" y="3090672"/>
            <a:ext cx="7863840"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800"/>
              <a:buFont typeface="Calibri"/>
              <a:buNone/>
            </a:pPr>
            <a:r>
              <a:rPr b="1" i="0" lang="en-US" sz="800" u="none" cap="none" strike="noStrike">
                <a:solidFill>
                  <a:srgbClr val="FFFFFF"/>
                </a:solidFill>
                <a:latin typeface="Calibri"/>
                <a:ea typeface="Calibri"/>
                <a:cs typeface="Calibri"/>
                <a:sym typeface="Calibri"/>
              </a:rPr>
              <a:t>Business Analytics Team</a:t>
            </a:r>
            <a:endParaRPr b="0" i="0" sz="800" u="none" cap="none" strike="noStrike">
              <a:solidFill>
                <a:schemeClr val="dk1"/>
              </a:solidFill>
              <a:latin typeface="Calibri"/>
              <a:ea typeface="Calibri"/>
              <a:cs typeface="Calibri"/>
              <a:sym typeface="Calibri"/>
            </a:endParaRPr>
          </a:p>
        </p:txBody>
      </p:sp>
      <p:sp>
        <p:nvSpPr>
          <p:cNvPr id="312" name="Google Shape;312;p7"/>
          <p:cNvSpPr/>
          <p:nvPr/>
        </p:nvSpPr>
        <p:spPr>
          <a:xfrm>
            <a:off x="2660904" y="3450394"/>
            <a:ext cx="4370832" cy="210312"/>
          </a:xfrm>
          <a:prstGeom prst="rect">
            <a:avLst/>
          </a:prstGeom>
          <a:solidFill>
            <a:srgbClr val="EAF4F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chemeClr val="dk1"/>
              </a:solidFill>
              <a:latin typeface="Calibri"/>
              <a:ea typeface="Calibri"/>
              <a:cs typeface="Calibri"/>
              <a:sym typeface="Calibri"/>
            </a:endParaRPr>
          </a:p>
        </p:txBody>
      </p:sp>
      <p:sp>
        <p:nvSpPr>
          <p:cNvPr id="313" name="Google Shape;313;p7"/>
          <p:cNvSpPr/>
          <p:nvPr/>
        </p:nvSpPr>
        <p:spPr>
          <a:xfrm>
            <a:off x="2858354" y="3464110"/>
            <a:ext cx="8119872" cy="21031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C3E50"/>
              </a:buClr>
              <a:buSzPts val="800"/>
              <a:buFont typeface="Calibri"/>
              <a:buNone/>
            </a:pPr>
            <a:r>
              <a:rPr b="0" i="0" lang="en-US" sz="800" u="none" cap="none" strike="noStrike">
                <a:solidFill>
                  <a:srgbClr val="2C3E50"/>
                </a:solidFill>
                <a:latin typeface="Gill Sans"/>
                <a:ea typeface="Gill Sans"/>
                <a:cs typeface="Gill Sans"/>
                <a:sym typeface="Gill Sans"/>
              </a:rPr>
              <a:t>What historical flight schedule data is available (AODB, OAG) and how far back does it go?</a:t>
            </a:r>
            <a:endParaRPr b="0" i="0" sz="800" u="none" cap="none" strike="noStrike">
              <a:solidFill>
                <a:schemeClr val="dk1"/>
              </a:solidFill>
              <a:latin typeface="Gill Sans"/>
              <a:ea typeface="Gill Sans"/>
              <a:cs typeface="Gill Sans"/>
              <a:sym typeface="Gill Sans"/>
            </a:endParaRPr>
          </a:p>
        </p:txBody>
      </p:sp>
      <p:sp>
        <p:nvSpPr>
          <p:cNvPr id="314" name="Google Shape;314;p7"/>
          <p:cNvSpPr/>
          <p:nvPr/>
        </p:nvSpPr>
        <p:spPr>
          <a:xfrm>
            <a:off x="2697481" y="3675331"/>
            <a:ext cx="4334256" cy="210312"/>
          </a:xfrm>
          <a:prstGeom prst="rect">
            <a:avLst/>
          </a:pr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chemeClr val="dk1"/>
              </a:solidFill>
              <a:latin typeface="Calibri"/>
              <a:ea typeface="Calibri"/>
              <a:cs typeface="Calibri"/>
              <a:sym typeface="Calibri"/>
            </a:endParaRPr>
          </a:p>
        </p:txBody>
      </p:sp>
      <p:sp>
        <p:nvSpPr>
          <p:cNvPr id="315" name="Google Shape;315;p7"/>
          <p:cNvSpPr/>
          <p:nvPr/>
        </p:nvSpPr>
        <p:spPr>
          <a:xfrm>
            <a:off x="2858354" y="3695464"/>
            <a:ext cx="8119872" cy="21031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C3E50"/>
              </a:buClr>
              <a:buSzPts val="800"/>
              <a:buFont typeface="Calibri"/>
              <a:buNone/>
            </a:pPr>
            <a:r>
              <a:rPr b="0" i="0" lang="en-US" sz="800" u="none" cap="none" strike="noStrike">
                <a:solidFill>
                  <a:srgbClr val="2C3E50"/>
                </a:solidFill>
                <a:latin typeface="Gill Sans"/>
                <a:ea typeface="Gill Sans"/>
                <a:cs typeface="Gill Sans"/>
                <a:sym typeface="Gill Sans"/>
              </a:rPr>
              <a:t>Do we have passenger flow data from existing terminals like  sensors, Wi-Fi tracking, CCTV counts?</a:t>
            </a:r>
            <a:endParaRPr b="0" i="0" sz="800" u="none" cap="none" strike="noStrike">
              <a:solidFill>
                <a:schemeClr val="dk1"/>
              </a:solidFill>
              <a:latin typeface="Gill Sans"/>
              <a:ea typeface="Gill Sans"/>
              <a:cs typeface="Gill Sans"/>
              <a:sym typeface="Gill Sans"/>
            </a:endParaRPr>
          </a:p>
        </p:txBody>
      </p:sp>
      <p:sp>
        <p:nvSpPr>
          <p:cNvPr id="316" name="Google Shape;316;p7"/>
          <p:cNvSpPr/>
          <p:nvPr/>
        </p:nvSpPr>
        <p:spPr>
          <a:xfrm>
            <a:off x="2660904" y="3889306"/>
            <a:ext cx="4370832" cy="210312"/>
          </a:xfrm>
          <a:prstGeom prst="rect">
            <a:avLst/>
          </a:prstGeom>
          <a:solidFill>
            <a:srgbClr val="EAF4F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chemeClr val="dk1"/>
              </a:solidFill>
              <a:latin typeface="Calibri"/>
              <a:ea typeface="Calibri"/>
              <a:cs typeface="Calibri"/>
              <a:sym typeface="Calibri"/>
            </a:endParaRPr>
          </a:p>
        </p:txBody>
      </p:sp>
      <p:sp>
        <p:nvSpPr>
          <p:cNvPr id="317" name="Google Shape;317;p7"/>
          <p:cNvSpPr/>
          <p:nvPr/>
        </p:nvSpPr>
        <p:spPr>
          <a:xfrm>
            <a:off x="2858354" y="3896164"/>
            <a:ext cx="8119872" cy="21031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C3E50"/>
              </a:buClr>
              <a:buSzPts val="800"/>
              <a:buFont typeface="Calibri"/>
              <a:buNone/>
            </a:pPr>
            <a:r>
              <a:rPr b="0" i="0" lang="en-US" sz="800" u="none" cap="none" strike="noStrike">
                <a:solidFill>
                  <a:srgbClr val="2C3E50"/>
                </a:solidFill>
                <a:latin typeface="Gill Sans"/>
                <a:ea typeface="Gill Sans"/>
                <a:cs typeface="Gill Sans"/>
                <a:sym typeface="Gill Sans"/>
              </a:rPr>
              <a:t>Are there existing processing time distributions to calibrate e gate and manned desk service times?</a:t>
            </a:r>
            <a:endParaRPr b="0" i="0" sz="800" u="none" cap="none" strike="noStrike">
              <a:solidFill>
                <a:schemeClr val="dk1"/>
              </a:solidFill>
              <a:latin typeface="Gill Sans"/>
              <a:ea typeface="Gill Sans"/>
              <a:cs typeface="Gill Sans"/>
              <a:sym typeface="Gill Sans"/>
            </a:endParaRPr>
          </a:p>
        </p:txBody>
      </p:sp>
      <p:sp>
        <p:nvSpPr>
          <p:cNvPr id="318" name="Google Shape;318;p7"/>
          <p:cNvSpPr/>
          <p:nvPr/>
        </p:nvSpPr>
        <p:spPr>
          <a:xfrm>
            <a:off x="2660904" y="4109349"/>
            <a:ext cx="5844222" cy="210312"/>
          </a:xfrm>
          <a:prstGeom prst="rect">
            <a:avLst/>
          </a:pr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chemeClr val="dk1"/>
              </a:solidFill>
              <a:latin typeface="Calibri"/>
              <a:ea typeface="Calibri"/>
              <a:cs typeface="Calibri"/>
              <a:sym typeface="Calibri"/>
            </a:endParaRPr>
          </a:p>
        </p:txBody>
      </p:sp>
      <p:sp>
        <p:nvSpPr>
          <p:cNvPr id="319" name="Google Shape;319;p7"/>
          <p:cNvSpPr/>
          <p:nvPr/>
        </p:nvSpPr>
        <p:spPr>
          <a:xfrm>
            <a:off x="2858354" y="4118484"/>
            <a:ext cx="8119872" cy="21031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C3E50"/>
              </a:buClr>
              <a:buSzPts val="800"/>
              <a:buFont typeface="Calibri"/>
              <a:buNone/>
            </a:pPr>
            <a:r>
              <a:rPr b="0" i="0" lang="en-US" sz="800" u="none" cap="none" strike="noStrike">
                <a:solidFill>
                  <a:srgbClr val="2C3E50"/>
                </a:solidFill>
                <a:latin typeface="Gill Sans"/>
                <a:ea typeface="Gill Sans"/>
                <a:cs typeface="Gill Sans"/>
                <a:sym typeface="Gill Sans"/>
              </a:rPr>
              <a:t>Is there historical baggage delivery time data (first bag / last bag) by aircraft type?</a:t>
            </a:r>
            <a:endParaRPr b="0" i="0" sz="800" u="none" cap="none" strike="noStrike">
              <a:solidFill>
                <a:schemeClr val="dk1"/>
              </a:solidFill>
              <a:latin typeface="Gill Sans"/>
              <a:ea typeface="Gill Sans"/>
              <a:cs typeface="Gill Sans"/>
              <a:sym typeface="Gill Sans"/>
            </a:endParaRPr>
          </a:p>
        </p:txBody>
      </p:sp>
      <p:sp>
        <p:nvSpPr>
          <p:cNvPr id="320" name="Google Shape;320;p7"/>
          <p:cNvSpPr/>
          <p:nvPr/>
        </p:nvSpPr>
        <p:spPr>
          <a:xfrm>
            <a:off x="2660904" y="4328218"/>
            <a:ext cx="4370832" cy="210312"/>
          </a:xfrm>
          <a:prstGeom prst="rect">
            <a:avLst/>
          </a:prstGeom>
          <a:solidFill>
            <a:srgbClr val="EAF4F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chemeClr val="dk1"/>
              </a:solidFill>
              <a:latin typeface="Calibri"/>
              <a:ea typeface="Calibri"/>
              <a:cs typeface="Calibri"/>
              <a:sym typeface="Calibri"/>
            </a:endParaRPr>
          </a:p>
        </p:txBody>
      </p:sp>
      <p:sp>
        <p:nvSpPr>
          <p:cNvPr id="321" name="Google Shape;321;p7"/>
          <p:cNvSpPr/>
          <p:nvPr/>
        </p:nvSpPr>
        <p:spPr>
          <a:xfrm>
            <a:off x="2858354" y="4325112"/>
            <a:ext cx="8119872" cy="21031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C3E50"/>
              </a:buClr>
              <a:buSzPts val="800"/>
              <a:buFont typeface="Calibri"/>
              <a:buNone/>
            </a:pPr>
            <a:r>
              <a:rPr b="0" i="0" lang="en-US" sz="800" u="none" cap="none" strike="noStrike">
                <a:solidFill>
                  <a:srgbClr val="2C3E50"/>
                </a:solidFill>
                <a:latin typeface="Gill Sans"/>
                <a:ea typeface="Gill Sans"/>
                <a:cs typeface="Gill Sans"/>
                <a:sym typeface="Gill Sans"/>
              </a:rPr>
              <a:t>Do we have weather disruption records we can correlate with ramp delay data?</a:t>
            </a:r>
            <a:endParaRPr b="0" i="0" sz="800" u="none" cap="none" strike="noStrike">
              <a:solidFill>
                <a:schemeClr val="dk1"/>
              </a:solidFill>
              <a:latin typeface="Gill Sans"/>
              <a:ea typeface="Gill Sans"/>
              <a:cs typeface="Gill Sans"/>
              <a:sym typeface="Gill Sans"/>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6" name="Shape 326"/>
        <p:cNvGrpSpPr/>
        <p:nvPr/>
      </p:nvGrpSpPr>
      <p:grpSpPr>
        <a:xfrm>
          <a:off x="0" y="0"/>
          <a:ext cx="0" cy="0"/>
          <a:chOff x="0" y="0"/>
          <a:chExt cx="0" cy="0"/>
        </a:xfrm>
      </p:grpSpPr>
      <p:sp>
        <p:nvSpPr>
          <p:cNvPr id="327" name="Google Shape;327;p8"/>
          <p:cNvSpPr/>
          <p:nvPr/>
        </p:nvSpPr>
        <p:spPr>
          <a:xfrm>
            <a:off x="949875" y="181050"/>
            <a:ext cx="7325400" cy="411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979"/>
              <a:buFont typeface="Arial"/>
              <a:buNone/>
            </a:pPr>
            <a:r>
              <a:rPr b="1" i="0" lang="en-US" sz="1979" u="none" cap="none" strike="noStrike">
                <a:solidFill>
                  <a:srgbClr val="CC0099"/>
                </a:solidFill>
                <a:highlight>
                  <a:schemeClr val="lt1"/>
                </a:highlight>
                <a:latin typeface="Gill Sans"/>
                <a:ea typeface="Gill Sans"/>
                <a:cs typeface="Gill Sans"/>
                <a:sym typeface="Gill Sans"/>
              </a:rPr>
              <a:t>My Layout :</a:t>
            </a:r>
            <a:endParaRPr b="0" i="0" sz="1979" u="none" cap="none" strike="noStrike">
              <a:solidFill>
                <a:srgbClr val="CC0099"/>
              </a:solidFill>
              <a:highlight>
                <a:schemeClr val="lt1"/>
              </a:highlight>
              <a:latin typeface="Gill Sans"/>
              <a:ea typeface="Gill Sans"/>
              <a:cs typeface="Gill Sans"/>
              <a:sym typeface="Gill Sans"/>
            </a:endParaRPr>
          </a:p>
        </p:txBody>
      </p:sp>
      <p:sp>
        <p:nvSpPr>
          <p:cNvPr id="328" name="Google Shape;328;p8"/>
          <p:cNvSpPr/>
          <p:nvPr/>
        </p:nvSpPr>
        <p:spPr>
          <a:xfrm>
            <a:off x="949875" y="748275"/>
            <a:ext cx="5259900" cy="4140000"/>
          </a:xfrm>
          <a:prstGeom prst="rect">
            <a:avLst/>
          </a:prstGeom>
          <a:solidFill>
            <a:srgbClr val="F8F9FA"/>
          </a:solidFill>
          <a:ln cap="flat" cmpd="sng" w="12700">
            <a:solidFill>
              <a:srgbClr val="BDC3C7"/>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20"/>
              <a:buFont typeface="Arial"/>
              <a:buNone/>
            </a:pPr>
            <a:r>
              <a:t/>
            </a:r>
            <a:endParaRPr b="0" i="0" sz="1620" u="none" cap="none" strike="noStrike">
              <a:solidFill>
                <a:schemeClr val="dk1"/>
              </a:solidFill>
              <a:latin typeface="Calibri"/>
              <a:ea typeface="Calibri"/>
              <a:cs typeface="Calibri"/>
              <a:sym typeface="Calibri"/>
            </a:endParaRPr>
          </a:p>
        </p:txBody>
      </p:sp>
      <p:sp>
        <p:nvSpPr>
          <p:cNvPr id="329" name="Google Shape;329;p8"/>
          <p:cNvSpPr/>
          <p:nvPr/>
        </p:nvSpPr>
        <p:spPr>
          <a:xfrm>
            <a:off x="786384" y="757123"/>
            <a:ext cx="5431536" cy="20574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765"/>
              <a:buFont typeface="Arial"/>
              <a:buNone/>
            </a:pPr>
            <a:r>
              <a:rPr b="1" i="0" lang="en-US" sz="765" u="none" cap="none" strike="noStrike">
                <a:solidFill>
                  <a:srgbClr val="2C3E50"/>
                </a:solidFill>
                <a:latin typeface="Gill Sans"/>
                <a:ea typeface="Gill Sans"/>
                <a:cs typeface="Gill Sans"/>
                <a:sym typeface="Gill Sans"/>
              </a:rPr>
              <a:t>Landside arrivals area for passengers</a:t>
            </a:r>
            <a:endParaRPr b="0" i="0" sz="765" u="none" cap="none" strike="noStrike">
              <a:solidFill>
                <a:schemeClr val="dk1"/>
              </a:solidFill>
              <a:latin typeface="Gill Sans"/>
              <a:ea typeface="Gill Sans"/>
              <a:cs typeface="Gill Sans"/>
              <a:sym typeface="Gill Sans"/>
            </a:endParaRPr>
          </a:p>
        </p:txBody>
      </p:sp>
      <p:sp>
        <p:nvSpPr>
          <p:cNvPr id="330" name="Google Shape;330;p8"/>
          <p:cNvSpPr/>
          <p:nvPr/>
        </p:nvSpPr>
        <p:spPr>
          <a:xfrm>
            <a:off x="6236833" y="757122"/>
            <a:ext cx="2057400" cy="4003197"/>
          </a:xfrm>
          <a:prstGeom prst="rect">
            <a:avLst/>
          </a:prstGeom>
          <a:solidFill>
            <a:srgbClr val="FADBD8"/>
          </a:solidFill>
          <a:ln cap="flat" cmpd="sng" w="12700">
            <a:solidFill>
              <a:srgbClr val="F5B7B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20"/>
              <a:buFont typeface="Arial"/>
              <a:buNone/>
            </a:pPr>
            <a:r>
              <a:t/>
            </a:r>
            <a:endParaRPr b="0" i="0" sz="1620" u="none" cap="none" strike="noStrike">
              <a:solidFill>
                <a:schemeClr val="dk1"/>
              </a:solidFill>
              <a:latin typeface="Calibri"/>
              <a:ea typeface="Calibri"/>
              <a:cs typeface="Calibri"/>
              <a:sym typeface="Calibri"/>
            </a:endParaRPr>
          </a:p>
        </p:txBody>
      </p:sp>
      <p:sp>
        <p:nvSpPr>
          <p:cNvPr id="331" name="Google Shape;331;p8"/>
          <p:cNvSpPr/>
          <p:nvPr/>
        </p:nvSpPr>
        <p:spPr>
          <a:xfrm>
            <a:off x="6300216" y="757123"/>
            <a:ext cx="2057400" cy="20574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765"/>
              <a:buFont typeface="Arial"/>
              <a:buNone/>
            </a:pPr>
            <a:r>
              <a:rPr b="1" i="0" lang="en-US" sz="765" u="none" cap="none" strike="noStrike">
                <a:solidFill>
                  <a:srgbClr val="C0392B"/>
                </a:solidFill>
                <a:latin typeface="Gill Sans"/>
                <a:ea typeface="Gill Sans"/>
                <a:cs typeface="Gill Sans"/>
                <a:sym typeface="Gill Sans"/>
              </a:rPr>
              <a:t>Airside (staff only area)</a:t>
            </a:r>
            <a:endParaRPr b="0" i="0" sz="765" u="none" cap="none" strike="noStrike">
              <a:solidFill>
                <a:schemeClr val="dk1"/>
              </a:solidFill>
              <a:latin typeface="Gill Sans"/>
              <a:ea typeface="Gill Sans"/>
              <a:cs typeface="Gill Sans"/>
              <a:sym typeface="Gill Sans"/>
            </a:endParaRPr>
          </a:p>
        </p:txBody>
      </p:sp>
      <p:sp>
        <p:nvSpPr>
          <p:cNvPr id="332" name="Google Shape;332;p8"/>
          <p:cNvSpPr/>
          <p:nvPr/>
        </p:nvSpPr>
        <p:spPr>
          <a:xfrm>
            <a:off x="816830" y="1133601"/>
            <a:ext cx="905256" cy="24688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675"/>
              <a:buFont typeface="Arial"/>
              <a:buNone/>
            </a:pPr>
            <a:r>
              <a:t/>
            </a:r>
            <a:endParaRPr b="0" i="0" sz="675" u="none" cap="none" strike="noStrike">
              <a:solidFill>
                <a:schemeClr val="dk1"/>
              </a:solidFill>
              <a:latin typeface="Calibri"/>
              <a:ea typeface="Calibri"/>
              <a:cs typeface="Calibri"/>
              <a:sym typeface="Calibri"/>
            </a:endParaRPr>
          </a:p>
        </p:txBody>
      </p:sp>
      <p:sp>
        <p:nvSpPr>
          <p:cNvPr id="333" name="Google Shape;333;p8"/>
          <p:cNvSpPr/>
          <p:nvPr/>
        </p:nvSpPr>
        <p:spPr>
          <a:xfrm>
            <a:off x="1007238" y="1338701"/>
            <a:ext cx="536233" cy="6965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480"/>
              <a:buFont typeface="Arial"/>
              <a:buNone/>
            </a:pPr>
            <a:r>
              <a:t/>
            </a:r>
            <a:endParaRPr b="0" i="0" sz="480" u="none" cap="none" strike="noStrike">
              <a:solidFill>
                <a:schemeClr val="dk1"/>
              </a:solidFill>
              <a:latin typeface="Calibri"/>
              <a:ea typeface="Calibri"/>
              <a:cs typeface="Calibri"/>
              <a:sym typeface="Calibri"/>
            </a:endParaRPr>
          </a:p>
        </p:txBody>
      </p:sp>
      <p:sp>
        <p:nvSpPr>
          <p:cNvPr id="334" name="Google Shape;334;p8"/>
          <p:cNvSpPr/>
          <p:nvPr/>
        </p:nvSpPr>
        <p:spPr>
          <a:xfrm>
            <a:off x="1033128" y="1078074"/>
            <a:ext cx="1152000" cy="246900"/>
          </a:xfrm>
          <a:prstGeom prst="rect">
            <a:avLst/>
          </a:prstGeom>
          <a:solidFill>
            <a:srgbClr val="CC0099"/>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675"/>
              <a:buFont typeface="Arial"/>
              <a:buNone/>
            </a:pPr>
            <a:r>
              <a:rPr b="1" i="0" lang="en-US" sz="675" u="none" cap="none" strike="noStrike">
                <a:solidFill>
                  <a:srgbClr val="FFFFFF"/>
                </a:solidFill>
                <a:latin typeface="Gill Sans"/>
                <a:ea typeface="Gill Sans"/>
                <a:cs typeface="Gill Sans"/>
                <a:sym typeface="Gill Sans"/>
              </a:rPr>
              <a:t>Entry to hall (Walk-ins)</a:t>
            </a:r>
            <a:endParaRPr b="0" i="0" sz="675" u="none" cap="none" strike="noStrike">
              <a:solidFill>
                <a:schemeClr val="dk1"/>
              </a:solidFill>
              <a:latin typeface="Gill Sans"/>
              <a:ea typeface="Gill Sans"/>
              <a:cs typeface="Gill Sans"/>
              <a:sym typeface="Gill Sans"/>
            </a:endParaRPr>
          </a:p>
        </p:txBody>
      </p:sp>
      <p:sp>
        <p:nvSpPr>
          <p:cNvPr id="335" name="Google Shape;335;p8"/>
          <p:cNvSpPr/>
          <p:nvPr/>
        </p:nvSpPr>
        <p:spPr>
          <a:xfrm>
            <a:off x="3312871" y="1097783"/>
            <a:ext cx="1234440" cy="246888"/>
          </a:xfrm>
          <a:prstGeom prst="rect">
            <a:avLst/>
          </a:prstGeom>
          <a:solidFill>
            <a:srgbClr val="CC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20"/>
              <a:buFont typeface="Arial"/>
              <a:buNone/>
            </a:pPr>
            <a:r>
              <a:t/>
            </a:r>
            <a:endParaRPr b="0" i="0" sz="1620" u="none" cap="none" strike="noStrike">
              <a:solidFill>
                <a:schemeClr val="dk1"/>
              </a:solidFill>
              <a:latin typeface="Calibri"/>
              <a:ea typeface="Calibri"/>
              <a:cs typeface="Calibri"/>
              <a:sym typeface="Calibri"/>
            </a:endParaRPr>
          </a:p>
        </p:txBody>
      </p:sp>
      <p:sp>
        <p:nvSpPr>
          <p:cNvPr id="336" name="Google Shape;336;p8"/>
          <p:cNvSpPr/>
          <p:nvPr/>
        </p:nvSpPr>
        <p:spPr>
          <a:xfrm>
            <a:off x="3419856" y="1093007"/>
            <a:ext cx="1028700" cy="276984"/>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675"/>
              <a:buFont typeface="Arial"/>
              <a:buNone/>
            </a:pPr>
            <a:r>
              <a:rPr b="1" i="0" lang="en-US" sz="675" u="none" cap="none" strike="noStrike">
                <a:solidFill>
                  <a:srgbClr val="FFFFFF"/>
                </a:solidFill>
                <a:latin typeface="Gill Sans"/>
                <a:ea typeface="Gill Sans"/>
                <a:cs typeface="Gill Sans"/>
                <a:sym typeface="Gill Sans"/>
              </a:rPr>
              <a:t>Entry to hall (From Coaches)</a:t>
            </a:r>
            <a:endParaRPr b="0" i="0" sz="675" u="none" cap="none" strike="noStrike">
              <a:solidFill>
                <a:schemeClr val="dk1"/>
              </a:solidFill>
              <a:latin typeface="Gill Sans"/>
              <a:ea typeface="Gill Sans"/>
              <a:cs typeface="Gill Sans"/>
              <a:sym typeface="Gill Sans"/>
            </a:endParaRPr>
          </a:p>
        </p:txBody>
      </p:sp>
      <p:sp>
        <p:nvSpPr>
          <p:cNvPr id="337" name="Google Shape;337;p8"/>
          <p:cNvSpPr/>
          <p:nvPr/>
        </p:nvSpPr>
        <p:spPr>
          <a:xfrm>
            <a:off x="3419856" y="1275588"/>
            <a:ext cx="1234440" cy="123444"/>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585"/>
              <a:buFont typeface="Arial"/>
              <a:buNone/>
            </a:pPr>
            <a:r>
              <a:t/>
            </a:r>
            <a:endParaRPr b="0" i="0" sz="585" u="none" cap="none" strike="noStrike">
              <a:solidFill>
                <a:schemeClr val="dk1"/>
              </a:solidFill>
              <a:latin typeface="Calibri"/>
              <a:ea typeface="Calibri"/>
              <a:cs typeface="Calibri"/>
              <a:sym typeface="Calibri"/>
            </a:endParaRPr>
          </a:p>
        </p:txBody>
      </p:sp>
      <p:sp>
        <p:nvSpPr>
          <p:cNvPr id="338" name="Google Shape;338;p8"/>
          <p:cNvSpPr/>
          <p:nvPr/>
        </p:nvSpPr>
        <p:spPr>
          <a:xfrm>
            <a:off x="957970" y="1266228"/>
            <a:ext cx="246888" cy="25511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630"/>
              <a:buFont typeface="Arial"/>
              <a:buNone/>
            </a:pPr>
            <a:r>
              <a:rPr b="0" i="0" lang="en-US" sz="630" u="none" cap="none" strike="noStrike">
                <a:solidFill>
                  <a:srgbClr val="0E7C86"/>
                </a:solidFill>
                <a:latin typeface="Calibri"/>
                <a:ea typeface="Calibri"/>
                <a:cs typeface="Calibri"/>
                <a:sym typeface="Calibri"/>
              </a:rPr>
              <a:t>▼</a:t>
            </a:r>
            <a:endParaRPr b="0" i="0" sz="630" u="none" cap="none" strike="noStrike">
              <a:solidFill>
                <a:schemeClr val="dk1"/>
              </a:solidFill>
              <a:latin typeface="Calibri"/>
              <a:ea typeface="Calibri"/>
              <a:cs typeface="Calibri"/>
              <a:sym typeface="Calibri"/>
            </a:endParaRPr>
          </a:p>
        </p:txBody>
      </p:sp>
      <p:sp>
        <p:nvSpPr>
          <p:cNvPr id="339" name="Google Shape;339;p8"/>
          <p:cNvSpPr/>
          <p:nvPr/>
        </p:nvSpPr>
        <p:spPr>
          <a:xfrm>
            <a:off x="3714886" y="1275496"/>
            <a:ext cx="246888" cy="24688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630"/>
              <a:buFont typeface="Arial"/>
              <a:buNone/>
            </a:pPr>
            <a:r>
              <a:rPr b="0" i="0" lang="en-US" sz="630" u="none" cap="none" strike="noStrike">
                <a:solidFill>
                  <a:srgbClr val="0E7C86"/>
                </a:solidFill>
                <a:latin typeface="Calibri"/>
                <a:ea typeface="Calibri"/>
                <a:cs typeface="Calibri"/>
                <a:sym typeface="Calibri"/>
              </a:rPr>
              <a:t>▼</a:t>
            </a:r>
            <a:endParaRPr b="0" i="0" sz="630" u="none" cap="none" strike="noStrike">
              <a:solidFill>
                <a:schemeClr val="dk1"/>
              </a:solidFill>
              <a:latin typeface="Calibri"/>
              <a:ea typeface="Calibri"/>
              <a:cs typeface="Calibri"/>
              <a:sym typeface="Calibri"/>
            </a:endParaRPr>
          </a:p>
        </p:txBody>
      </p:sp>
      <p:sp>
        <p:nvSpPr>
          <p:cNvPr id="340" name="Google Shape;340;p8"/>
          <p:cNvSpPr/>
          <p:nvPr/>
        </p:nvSpPr>
        <p:spPr>
          <a:xfrm>
            <a:off x="1057960" y="1522476"/>
            <a:ext cx="427940" cy="16459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585"/>
              <a:buFont typeface="Arial"/>
              <a:buNone/>
            </a:pPr>
            <a:r>
              <a:t/>
            </a:r>
            <a:endParaRPr b="0" i="0" sz="585" u="none" cap="none" strike="noStrike">
              <a:solidFill>
                <a:schemeClr val="dk1"/>
              </a:solidFill>
              <a:latin typeface="Calibri"/>
              <a:ea typeface="Calibri"/>
              <a:cs typeface="Calibri"/>
              <a:sym typeface="Calibri"/>
            </a:endParaRPr>
          </a:p>
        </p:txBody>
      </p:sp>
      <p:sp>
        <p:nvSpPr>
          <p:cNvPr id="341" name="Google Shape;341;p8"/>
          <p:cNvSpPr/>
          <p:nvPr/>
        </p:nvSpPr>
        <p:spPr>
          <a:xfrm>
            <a:off x="1321308" y="1399032"/>
            <a:ext cx="246888" cy="123444"/>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630"/>
              <a:buFont typeface="Arial"/>
              <a:buNone/>
            </a:pPr>
            <a:r>
              <a:t/>
            </a:r>
            <a:endParaRPr b="0" i="0" sz="630" u="none" cap="none" strike="noStrike">
              <a:solidFill>
                <a:schemeClr val="dk1"/>
              </a:solidFill>
              <a:latin typeface="Calibri"/>
              <a:ea typeface="Calibri"/>
              <a:cs typeface="Calibri"/>
              <a:sym typeface="Calibri"/>
            </a:endParaRPr>
          </a:p>
        </p:txBody>
      </p:sp>
      <p:sp>
        <p:nvSpPr>
          <p:cNvPr id="342" name="Google Shape;342;p8"/>
          <p:cNvSpPr/>
          <p:nvPr/>
        </p:nvSpPr>
        <p:spPr>
          <a:xfrm>
            <a:off x="1071352" y="3609222"/>
            <a:ext cx="246888" cy="123444"/>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630"/>
              <a:buFont typeface="Arial"/>
              <a:buNone/>
            </a:pPr>
            <a:r>
              <a:t/>
            </a:r>
            <a:endParaRPr b="0" i="0" sz="630" u="none" cap="none" strike="noStrike">
              <a:solidFill>
                <a:schemeClr val="dk1"/>
              </a:solidFill>
              <a:latin typeface="Calibri"/>
              <a:ea typeface="Calibri"/>
              <a:cs typeface="Calibri"/>
              <a:sym typeface="Calibri"/>
            </a:endParaRPr>
          </a:p>
        </p:txBody>
      </p:sp>
      <p:sp>
        <p:nvSpPr>
          <p:cNvPr id="343" name="Google Shape;343;p8"/>
          <p:cNvSpPr/>
          <p:nvPr/>
        </p:nvSpPr>
        <p:spPr>
          <a:xfrm>
            <a:off x="914400" y="3496700"/>
            <a:ext cx="682230" cy="132283"/>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dk1"/>
              </a:solidFill>
              <a:latin typeface="Calibri"/>
              <a:ea typeface="Calibri"/>
              <a:cs typeface="Calibri"/>
              <a:sym typeface="Calibri"/>
            </a:endParaRPr>
          </a:p>
        </p:txBody>
      </p:sp>
      <p:sp>
        <p:nvSpPr>
          <p:cNvPr id="344" name="Google Shape;344;p8"/>
          <p:cNvSpPr/>
          <p:nvPr/>
        </p:nvSpPr>
        <p:spPr>
          <a:xfrm>
            <a:off x="957968" y="1440179"/>
            <a:ext cx="5259953" cy="1588313"/>
          </a:xfrm>
          <a:prstGeom prst="rect">
            <a:avLst/>
          </a:prstGeom>
          <a:solidFill>
            <a:srgbClr val="DAE8FC"/>
          </a:solidFill>
          <a:ln cap="flat" cmpd="sng" w="12700">
            <a:solidFill>
              <a:srgbClr val="85B1D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20"/>
              <a:buFont typeface="Arial"/>
              <a:buNone/>
            </a:pPr>
            <a:r>
              <a:t/>
            </a:r>
            <a:endParaRPr b="0" i="0" sz="1620" u="none" cap="none" strike="noStrike">
              <a:solidFill>
                <a:schemeClr val="dk1"/>
              </a:solidFill>
              <a:latin typeface="Calibri"/>
              <a:ea typeface="Calibri"/>
              <a:cs typeface="Calibri"/>
              <a:sym typeface="Calibri"/>
            </a:endParaRPr>
          </a:p>
        </p:txBody>
      </p:sp>
      <p:sp>
        <p:nvSpPr>
          <p:cNvPr id="345" name="Google Shape;345;p8"/>
          <p:cNvSpPr/>
          <p:nvPr/>
        </p:nvSpPr>
        <p:spPr>
          <a:xfrm>
            <a:off x="1568196" y="1456639"/>
            <a:ext cx="4526280" cy="181051"/>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810"/>
              <a:buFont typeface="Arial"/>
              <a:buNone/>
            </a:pPr>
            <a:r>
              <a:rPr b="1" i="0" lang="en-US" sz="810" u="none" cap="none" strike="noStrike">
                <a:solidFill>
                  <a:srgbClr val="143B6B"/>
                </a:solidFill>
                <a:latin typeface="Calibri"/>
                <a:ea typeface="Calibri"/>
                <a:cs typeface="Calibri"/>
                <a:sym typeface="Calibri"/>
              </a:rPr>
              <a:t>New immigration hall</a:t>
            </a:r>
            <a:endParaRPr b="0" i="0" sz="810" u="none" cap="none" strike="noStrike">
              <a:solidFill>
                <a:schemeClr val="dk1"/>
              </a:solidFill>
              <a:latin typeface="Calibri"/>
              <a:ea typeface="Calibri"/>
              <a:cs typeface="Calibri"/>
              <a:sym typeface="Calibri"/>
            </a:endParaRPr>
          </a:p>
        </p:txBody>
      </p:sp>
      <p:sp>
        <p:nvSpPr>
          <p:cNvPr id="346" name="Google Shape;346;p8"/>
          <p:cNvSpPr/>
          <p:nvPr/>
        </p:nvSpPr>
        <p:spPr>
          <a:xfrm>
            <a:off x="949975" y="1682150"/>
            <a:ext cx="5259900" cy="724200"/>
          </a:xfrm>
          <a:prstGeom prst="rect">
            <a:avLst/>
          </a:prstGeom>
          <a:solidFill>
            <a:srgbClr val="FFFFFF"/>
          </a:solidFill>
          <a:ln cap="flat" cmpd="sng" w="9525">
            <a:solidFill>
              <a:srgbClr val="AAB7C0"/>
            </a:solidFill>
            <a:prstDash val="dash"/>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20"/>
              <a:buFont typeface="Arial"/>
              <a:buNone/>
            </a:pPr>
            <a:r>
              <a:t/>
            </a:r>
            <a:endParaRPr b="0" i="0" sz="1620" u="none" cap="none" strike="noStrike">
              <a:solidFill>
                <a:schemeClr val="dk1"/>
              </a:solidFill>
              <a:latin typeface="Calibri"/>
              <a:ea typeface="Calibri"/>
              <a:cs typeface="Calibri"/>
              <a:sym typeface="Calibri"/>
            </a:endParaRPr>
          </a:p>
        </p:txBody>
      </p:sp>
      <p:sp>
        <p:nvSpPr>
          <p:cNvPr id="347" name="Google Shape;347;p8"/>
          <p:cNvSpPr/>
          <p:nvPr/>
        </p:nvSpPr>
        <p:spPr>
          <a:xfrm>
            <a:off x="1615109" y="1975605"/>
            <a:ext cx="2693400" cy="1317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500"/>
              <a:buFont typeface="Arial"/>
              <a:buNone/>
            </a:pPr>
            <a:r>
              <a:rPr b="0" i="0" lang="en-US" sz="500" u="none" cap="none" strike="noStrike">
                <a:solidFill>
                  <a:schemeClr val="dk1"/>
                </a:solidFill>
                <a:latin typeface="Calibri"/>
                <a:ea typeface="Calibri"/>
                <a:cs typeface="Calibri"/>
                <a:sym typeface="Calibri"/>
              </a:rPr>
              <a:t>Long Serpentine queue marshalling with rope and stanchion</a:t>
            </a:r>
            <a:endParaRPr b="0" i="0" sz="500" u="none" cap="none" strike="noStrike">
              <a:solidFill>
                <a:schemeClr val="dk1"/>
              </a:solidFill>
              <a:latin typeface="Calibri"/>
              <a:ea typeface="Calibri"/>
              <a:cs typeface="Calibri"/>
              <a:sym typeface="Calibri"/>
            </a:endParaRPr>
          </a:p>
        </p:txBody>
      </p:sp>
      <p:sp>
        <p:nvSpPr>
          <p:cNvPr id="348" name="Google Shape;348;p8"/>
          <p:cNvSpPr/>
          <p:nvPr/>
        </p:nvSpPr>
        <p:spPr>
          <a:xfrm>
            <a:off x="1737933" y="1802275"/>
            <a:ext cx="1552500" cy="115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585"/>
              <a:buFont typeface="Arial"/>
              <a:buNone/>
            </a:pPr>
            <a:r>
              <a:rPr b="1" i="0" lang="en-US" sz="585" u="none" cap="none" strike="noStrike">
                <a:solidFill>
                  <a:srgbClr val="0E7C86"/>
                </a:solidFill>
                <a:latin typeface="Gill Sans"/>
                <a:ea typeface="Gill Sans"/>
                <a:cs typeface="Gill Sans"/>
                <a:sym typeface="Gill Sans"/>
              </a:rPr>
              <a:t>Eligible Passports queue		</a:t>
            </a:r>
            <a:endParaRPr b="0" i="0" sz="585" u="none" cap="none" strike="noStrike">
              <a:solidFill>
                <a:schemeClr val="dk1"/>
              </a:solidFill>
              <a:latin typeface="Gill Sans"/>
              <a:ea typeface="Gill Sans"/>
              <a:cs typeface="Gill Sans"/>
              <a:sym typeface="Gill Sans"/>
            </a:endParaRPr>
          </a:p>
        </p:txBody>
      </p:sp>
      <p:cxnSp>
        <p:nvCxnSpPr>
          <p:cNvPr id="349" name="Google Shape;349;p8"/>
          <p:cNvCxnSpPr/>
          <p:nvPr/>
        </p:nvCxnSpPr>
        <p:spPr>
          <a:xfrm>
            <a:off x="2950769" y="2024482"/>
            <a:ext cx="0" cy="0"/>
          </a:xfrm>
          <a:prstGeom prst="straightConnector1">
            <a:avLst/>
          </a:prstGeom>
          <a:noFill/>
          <a:ln cap="flat" cmpd="sng" w="9525">
            <a:solidFill>
              <a:srgbClr val="0E7C86"/>
            </a:solidFill>
            <a:prstDash val="solid"/>
            <a:round/>
            <a:headEnd len="sm" w="sm" type="none"/>
            <a:tailEnd len="sm" w="sm" type="none"/>
          </a:ln>
        </p:spPr>
      </p:cxnSp>
      <p:cxnSp>
        <p:nvCxnSpPr>
          <p:cNvPr id="350" name="Google Shape;350;p8"/>
          <p:cNvCxnSpPr/>
          <p:nvPr/>
        </p:nvCxnSpPr>
        <p:spPr>
          <a:xfrm>
            <a:off x="2950769" y="2205533"/>
            <a:ext cx="0" cy="0"/>
          </a:xfrm>
          <a:prstGeom prst="straightConnector1">
            <a:avLst/>
          </a:prstGeom>
          <a:noFill/>
          <a:ln cap="flat" cmpd="sng" w="9525">
            <a:solidFill>
              <a:srgbClr val="0E7C86"/>
            </a:solidFill>
            <a:prstDash val="solid"/>
            <a:round/>
            <a:headEnd len="sm" w="sm" type="none"/>
            <a:tailEnd len="sm" w="sm" type="none"/>
          </a:ln>
        </p:spPr>
      </p:cxnSp>
      <p:sp>
        <p:nvSpPr>
          <p:cNvPr id="351" name="Google Shape;351;p8"/>
          <p:cNvSpPr/>
          <p:nvPr/>
        </p:nvSpPr>
        <p:spPr>
          <a:xfrm>
            <a:off x="3090672" y="1802283"/>
            <a:ext cx="1316736" cy="115214"/>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585"/>
              <a:buFont typeface="Arial"/>
              <a:buNone/>
            </a:pPr>
            <a:r>
              <a:rPr b="1" i="0" lang="en-US" sz="585" u="none" cap="none" strike="noStrike">
                <a:solidFill>
                  <a:srgbClr val="7D3C98"/>
                </a:solidFill>
                <a:latin typeface="Gill Sans"/>
                <a:ea typeface="Gill Sans"/>
                <a:cs typeface="Gill Sans"/>
                <a:sym typeface="Gill Sans"/>
              </a:rPr>
              <a:t>All other Passports queue</a:t>
            </a:r>
            <a:endParaRPr b="0" i="0" sz="585" u="none" cap="none" strike="noStrike">
              <a:solidFill>
                <a:schemeClr val="dk1"/>
              </a:solidFill>
              <a:latin typeface="Gill Sans"/>
              <a:ea typeface="Gill Sans"/>
              <a:cs typeface="Gill Sans"/>
              <a:sym typeface="Gill Sans"/>
            </a:endParaRPr>
          </a:p>
        </p:txBody>
      </p:sp>
      <p:cxnSp>
        <p:nvCxnSpPr>
          <p:cNvPr id="352" name="Google Shape;352;p8"/>
          <p:cNvCxnSpPr/>
          <p:nvPr/>
        </p:nvCxnSpPr>
        <p:spPr>
          <a:xfrm>
            <a:off x="4308653" y="2024482"/>
            <a:ext cx="0" cy="0"/>
          </a:xfrm>
          <a:prstGeom prst="straightConnector1">
            <a:avLst/>
          </a:prstGeom>
          <a:noFill/>
          <a:ln cap="flat" cmpd="sng" w="9525">
            <a:solidFill>
              <a:srgbClr val="7D3C98"/>
            </a:solidFill>
            <a:prstDash val="solid"/>
            <a:round/>
            <a:headEnd len="sm" w="sm" type="none"/>
            <a:tailEnd len="sm" w="sm" type="none"/>
          </a:ln>
        </p:spPr>
      </p:cxnSp>
      <p:cxnSp>
        <p:nvCxnSpPr>
          <p:cNvPr id="353" name="Google Shape;353;p8"/>
          <p:cNvCxnSpPr/>
          <p:nvPr/>
        </p:nvCxnSpPr>
        <p:spPr>
          <a:xfrm>
            <a:off x="4308653" y="2205533"/>
            <a:ext cx="0" cy="0"/>
          </a:xfrm>
          <a:prstGeom prst="straightConnector1">
            <a:avLst/>
          </a:prstGeom>
          <a:noFill/>
          <a:ln cap="flat" cmpd="sng" w="9525">
            <a:solidFill>
              <a:srgbClr val="7D3C98"/>
            </a:solidFill>
            <a:prstDash val="solid"/>
            <a:round/>
            <a:headEnd len="sm" w="sm" type="none"/>
            <a:tailEnd len="sm" w="sm" type="none"/>
          </a:ln>
        </p:spPr>
      </p:cxnSp>
      <p:sp>
        <p:nvSpPr>
          <p:cNvPr id="354" name="Google Shape;354;p8"/>
          <p:cNvSpPr/>
          <p:nvPr/>
        </p:nvSpPr>
        <p:spPr>
          <a:xfrm>
            <a:off x="4614935" y="1807514"/>
            <a:ext cx="1399032" cy="115214"/>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585"/>
              <a:buFont typeface="Arial"/>
              <a:buNone/>
            </a:pPr>
            <a:r>
              <a:rPr b="1" i="0" lang="en-US" sz="585" u="none" cap="none" strike="noStrike">
                <a:solidFill>
                  <a:srgbClr val="CB4F7F"/>
                </a:solidFill>
                <a:latin typeface="Gill Sans"/>
                <a:ea typeface="Gill Sans"/>
                <a:cs typeface="Gill Sans"/>
                <a:sym typeface="Gill Sans"/>
              </a:rPr>
              <a:t>PRM/UM/Disability queue</a:t>
            </a:r>
            <a:endParaRPr b="0" i="0" sz="585" u="none" cap="none" strike="noStrike">
              <a:solidFill>
                <a:schemeClr val="dk1"/>
              </a:solidFill>
              <a:latin typeface="Gill Sans"/>
              <a:ea typeface="Gill Sans"/>
              <a:cs typeface="Gill Sans"/>
              <a:sym typeface="Gill Sans"/>
            </a:endParaRPr>
          </a:p>
        </p:txBody>
      </p:sp>
      <p:cxnSp>
        <p:nvCxnSpPr>
          <p:cNvPr id="355" name="Google Shape;355;p8"/>
          <p:cNvCxnSpPr/>
          <p:nvPr/>
        </p:nvCxnSpPr>
        <p:spPr>
          <a:xfrm>
            <a:off x="4904508" y="2010944"/>
            <a:ext cx="860783" cy="5308"/>
          </a:xfrm>
          <a:prstGeom prst="straightConnector1">
            <a:avLst/>
          </a:prstGeom>
          <a:noFill/>
          <a:ln cap="flat" cmpd="sng" w="9525">
            <a:solidFill>
              <a:srgbClr val="CB4F7F"/>
            </a:solidFill>
            <a:prstDash val="solid"/>
            <a:round/>
            <a:headEnd len="sm" w="sm" type="none"/>
            <a:tailEnd len="sm" w="sm" type="none"/>
          </a:ln>
        </p:spPr>
      </p:cxnSp>
      <p:cxnSp>
        <p:nvCxnSpPr>
          <p:cNvPr id="356" name="Google Shape;356;p8"/>
          <p:cNvCxnSpPr/>
          <p:nvPr/>
        </p:nvCxnSpPr>
        <p:spPr>
          <a:xfrm>
            <a:off x="5765292" y="2106778"/>
            <a:ext cx="0" cy="0"/>
          </a:xfrm>
          <a:prstGeom prst="straightConnector1">
            <a:avLst/>
          </a:prstGeom>
          <a:noFill/>
          <a:ln cap="flat" cmpd="sng" w="9525">
            <a:solidFill>
              <a:srgbClr val="CB4F7F"/>
            </a:solidFill>
            <a:prstDash val="solid"/>
            <a:round/>
            <a:headEnd len="sm" w="sm" type="none"/>
            <a:tailEnd len="sm" w="sm" type="none"/>
          </a:ln>
        </p:spPr>
      </p:cxnSp>
      <p:cxnSp>
        <p:nvCxnSpPr>
          <p:cNvPr id="357" name="Google Shape;357;p8"/>
          <p:cNvCxnSpPr/>
          <p:nvPr/>
        </p:nvCxnSpPr>
        <p:spPr>
          <a:xfrm>
            <a:off x="5236626" y="2189074"/>
            <a:ext cx="528666" cy="750"/>
          </a:xfrm>
          <a:prstGeom prst="straightConnector1">
            <a:avLst/>
          </a:prstGeom>
          <a:noFill/>
          <a:ln cap="flat" cmpd="sng" w="9525">
            <a:solidFill>
              <a:srgbClr val="CB4F7F"/>
            </a:solidFill>
            <a:prstDash val="solid"/>
            <a:round/>
            <a:headEnd len="sm" w="sm" type="none"/>
            <a:tailEnd len="sm" w="sm" type="none"/>
          </a:ln>
        </p:spPr>
      </p:cxnSp>
      <p:sp>
        <p:nvSpPr>
          <p:cNvPr id="358" name="Google Shape;358;p8"/>
          <p:cNvSpPr/>
          <p:nvPr/>
        </p:nvSpPr>
        <p:spPr>
          <a:xfrm rot="2788673">
            <a:off x="2477071" y="2223272"/>
            <a:ext cx="205624" cy="10716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540"/>
              <a:buFont typeface="Arial"/>
              <a:buNone/>
            </a:pPr>
            <a:r>
              <a:rPr b="0" i="0" lang="en-US" sz="540" u="none" cap="none" strike="noStrike">
                <a:solidFill>
                  <a:srgbClr val="0E7C86"/>
                </a:solidFill>
                <a:latin typeface="Calibri"/>
                <a:ea typeface="Calibri"/>
                <a:cs typeface="Calibri"/>
                <a:sym typeface="Calibri"/>
              </a:rPr>
              <a:t>▼</a:t>
            </a:r>
            <a:endParaRPr b="0" i="0" sz="540" u="none" cap="none" strike="noStrike">
              <a:solidFill>
                <a:schemeClr val="dk1"/>
              </a:solidFill>
              <a:latin typeface="Calibri"/>
              <a:ea typeface="Calibri"/>
              <a:cs typeface="Calibri"/>
              <a:sym typeface="Calibri"/>
            </a:endParaRPr>
          </a:p>
        </p:txBody>
      </p:sp>
      <p:sp>
        <p:nvSpPr>
          <p:cNvPr id="359" name="Google Shape;359;p8"/>
          <p:cNvSpPr/>
          <p:nvPr/>
        </p:nvSpPr>
        <p:spPr>
          <a:xfrm rot="-2959028">
            <a:off x="2750418" y="2236155"/>
            <a:ext cx="205715" cy="8021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540"/>
              <a:buFont typeface="Arial"/>
              <a:buNone/>
            </a:pPr>
            <a:r>
              <a:rPr b="0" i="0" lang="en-US" sz="540" u="none" cap="none" strike="noStrike">
                <a:solidFill>
                  <a:srgbClr val="7D3C98"/>
                </a:solidFill>
                <a:latin typeface="Calibri"/>
                <a:ea typeface="Calibri"/>
                <a:cs typeface="Calibri"/>
                <a:sym typeface="Calibri"/>
              </a:rPr>
              <a:t>▼</a:t>
            </a:r>
            <a:endParaRPr b="0" i="0" sz="540" u="none" cap="none" strike="noStrike">
              <a:solidFill>
                <a:schemeClr val="dk1"/>
              </a:solidFill>
              <a:latin typeface="Calibri"/>
              <a:ea typeface="Calibri"/>
              <a:cs typeface="Calibri"/>
              <a:sym typeface="Calibri"/>
            </a:endParaRPr>
          </a:p>
        </p:txBody>
      </p:sp>
      <p:sp>
        <p:nvSpPr>
          <p:cNvPr id="360" name="Google Shape;360;p8"/>
          <p:cNvSpPr/>
          <p:nvPr/>
        </p:nvSpPr>
        <p:spPr>
          <a:xfrm>
            <a:off x="5148072" y="2283191"/>
            <a:ext cx="205740" cy="106985"/>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540"/>
              <a:buFont typeface="Arial"/>
              <a:buNone/>
            </a:pPr>
            <a:r>
              <a:rPr b="0" i="0" lang="en-US" sz="540" u="none" cap="none" strike="noStrike">
                <a:solidFill>
                  <a:srgbClr val="CB4F7F"/>
                </a:solidFill>
                <a:latin typeface="Calibri"/>
                <a:ea typeface="Calibri"/>
                <a:cs typeface="Calibri"/>
                <a:sym typeface="Calibri"/>
              </a:rPr>
              <a:t>▼</a:t>
            </a:r>
            <a:endParaRPr b="0" i="0" sz="540" u="none" cap="none" strike="noStrike">
              <a:solidFill>
                <a:schemeClr val="dk1"/>
              </a:solidFill>
              <a:latin typeface="Calibri"/>
              <a:ea typeface="Calibri"/>
              <a:cs typeface="Calibri"/>
              <a:sym typeface="Calibri"/>
            </a:endParaRPr>
          </a:p>
        </p:txBody>
      </p:sp>
      <p:sp>
        <p:nvSpPr>
          <p:cNvPr id="361" name="Google Shape;361;p8"/>
          <p:cNvSpPr/>
          <p:nvPr/>
        </p:nvSpPr>
        <p:spPr>
          <a:xfrm>
            <a:off x="1112337" y="2459792"/>
            <a:ext cx="1357884" cy="312725"/>
          </a:xfrm>
          <a:prstGeom prst="rect">
            <a:avLst/>
          </a:prstGeom>
          <a:solidFill>
            <a:srgbClr val="0E7C8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20"/>
              <a:buFont typeface="Arial"/>
              <a:buNone/>
            </a:pPr>
            <a:r>
              <a:t/>
            </a:r>
            <a:endParaRPr b="0" i="0" sz="1620" u="none" cap="none" strike="noStrike">
              <a:solidFill>
                <a:schemeClr val="dk1"/>
              </a:solidFill>
              <a:latin typeface="Calibri"/>
              <a:ea typeface="Calibri"/>
              <a:cs typeface="Calibri"/>
              <a:sym typeface="Calibri"/>
            </a:endParaRPr>
          </a:p>
        </p:txBody>
      </p:sp>
      <p:sp>
        <p:nvSpPr>
          <p:cNvPr id="362" name="Google Shape;362;p8"/>
          <p:cNvSpPr/>
          <p:nvPr/>
        </p:nvSpPr>
        <p:spPr>
          <a:xfrm>
            <a:off x="1035690" y="2464205"/>
            <a:ext cx="1357800" cy="181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675"/>
              <a:buFont typeface="Arial"/>
              <a:buNone/>
            </a:pPr>
            <a:r>
              <a:rPr b="1" i="0" lang="en-US" sz="675" u="none" cap="none" strike="noStrike">
                <a:solidFill>
                  <a:srgbClr val="FFFFFF"/>
                </a:solidFill>
                <a:latin typeface="Gill Sans"/>
                <a:ea typeface="Gill Sans"/>
                <a:cs typeface="Gill Sans"/>
                <a:sym typeface="Gill Sans"/>
              </a:rPr>
              <a:t>Passport control (e-gates)</a:t>
            </a:r>
            <a:endParaRPr b="0" i="0" sz="675" u="none" cap="none" strike="noStrike">
              <a:solidFill>
                <a:schemeClr val="dk1"/>
              </a:solidFill>
              <a:latin typeface="Gill Sans"/>
              <a:ea typeface="Gill Sans"/>
              <a:cs typeface="Gill Sans"/>
              <a:sym typeface="Gill Sans"/>
            </a:endParaRPr>
          </a:p>
        </p:txBody>
      </p:sp>
      <p:sp>
        <p:nvSpPr>
          <p:cNvPr id="363" name="Google Shape;363;p8"/>
          <p:cNvSpPr/>
          <p:nvPr/>
        </p:nvSpPr>
        <p:spPr>
          <a:xfrm>
            <a:off x="1081348" y="2608175"/>
            <a:ext cx="1357884" cy="131674"/>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585"/>
              <a:buFont typeface="Arial"/>
              <a:buNone/>
            </a:pPr>
            <a:r>
              <a:rPr b="0" i="0" lang="en-US" sz="585" u="none" cap="none" strike="noStrike">
                <a:solidFill>
                  <a:srgbClr val="D0ECE7"/>
                </a:solidFill>
                <a:latin typeface="Gill Sans"/>
                <a:ea typeface="Gill Sans"/>
                <a:cs typeface="Gill Sans"/>
                <a:sym typeface="Gill Sans"/>
              </a:rPr>
              <a:t>eligible biometric passports</a:t>
            </a:r>
            <a:endParaRPr b="0" i="0" sz="585" u="none" cap="none" strike="noStrike">
              <a:solidFill>
                <a:schemeClr val="dk1"/>
              </a:solidFill>
              <a:latin typeface="Gill Sans"/>
              <a:ea typeface="Gill Sans"/>
              <a:cs typeface="Gill Sans"/>
              <a:sym typeface="Gill Sans"/>
            </a:endParaRPr>
          </a:p>
        </p:txBody>
      </p:sp>
      <p:sp>
        <p:nvSpPr>
          <p:cNvPr id="364" name="Google Shape;364;p8"/>
          <p:cNvSpPr/>
          <p:nvPr/>
        </p:nvSpPr>
        <p:spPr>
          <a:xfrm>
            <a:off x="2611279" y="2450793"/>
            <a:ext cx="1625615" cy="312725"/>
          </a:xfrm>
          <a:prstGeom prst="rect">
            <a:avLst/>
          </a:prstGeom>
          <a:solidFill>
            <a:srgbClr val="7D3C9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20"/>
              <a:buFont typeface="Arial"/>
              <a:buNone/>
            </a:pPr>
            <a:r>
              <a:t/>
            </a:r>
            <a:endParaRPr b="0" i="0" sz="1620" u="none" cap="none" strike="noStrike">
              <a:solidFill>
                <a:schemeClr val="dk1"/>
              </a:solidFill>
              <a:latin typeface="Calibri"/>
              <a:ea typeface="Calibri"/>
              <a:cs typeface="Calibri"/>
              <a:sym typeface="Calibri"/>
            </a:endParaRPr>
          </a:p>
        </p:txBody>
      </p:sp>
      <p:sp>
        <p:nvSpPr>
          <p:cNvPr id="365" name="Google Shape;365;p8"/>
          <p:cNvSpPr/>
          <p:nvPr/>
        </p:nvSpPr>
        <p:spPr>
          <a:xfrm>
            <a:off x="2576751" y="2458611"/>
            <a:ext cx="1625614" cy="181051"/>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675"/>
              <a:buFont typeface="Arial"/>
              <a:buNone/>
            </a:pPr>
            <a:r>
              <a:rPr b="1" i="0" lang="en-US" sz="675" u="none" cap="none" strike="noStrike">
                <a:solidFill>
                  <a:srgbClr val="FFFFFF"/>
                </a:solidFill>
                <a:latin typeface="Gill Sans"/>
                <a:ea typeface="Gill Sans"/>
                <a:cs typeface="Gill Sans"/>
                <a:sym typeface="Gill Sans"/>
              </a:rPr>
              <a:t>Passport control (manned)</a:t>
            </a:r>
            <a:endParaRPr b="0" i="0" sz="675" u="none" cap="none" strike="noStrike">
              <a:solidFill>
                <a:schemeClr val="dk1"/>
              </a:solidFill>
              <a:latin typeface="Gill Sans"/>
              <a:ea typeface="Gill Sans"/>
              <a:cs typeface="Gill Sans"/>
              <a:sym typeface="Gill Sans"/>
            </a:endParaRPr>
          </a:p>
        </p:txBody>
      </p:sp>
      <p:sp>
        <p:nvSpPr>
          <p:cNvPr id="366" name="Google Shape;366;p8"/>
          <p:cNvSpPr/>
          <p:nvPr/>
        </p:nvSpPr>
        <p:spPr>
          <a:xfrm>
            <a:off x="2649510" y="2581123"/>
            <a:ext cx="1604076" cy="131674"/>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500"/>
              <a:buFont typeface="Arial"/>
              <a:buNone/>
            </a:pPr>
            <a:r>
              <a:rPr b="0" i="0" lang="en-US" sz="500" u="none" cap="none" strike="noStrike">
                <a:solidFill>
                  <a:srgbClr val="EBE0F5"/>
                </a:solidFill>
                <a:latin typeface="Calibri"/>
                <a:ea typeface="Calibri"/>
                <a:cs typeface="Calibri"/>
                <a:sym typeface="Calibri"/>
              </a:rPr>
              <a:t>All other passports + Eligible passports that needs stamping</a:t>
            </a:r>
            <a:endParaRPr b="0" i="0" sz="500" u="none" cap="none" strike="noStrike">
              <a:solidFill>
                <a:schemeClr val="dk1"/>
              </a:solidFill>
              <a:latin typeface="Calibri"/>
              <a:ea typeface="Calibri"/>
              <a:cs typeface="Calibri"/>
              <a:sym typeface="Calibri"/>
            </a:endParaRPr>
          </a:p>
        </p:txBody>
      </p:sp>
      <p:sp>
        <p:nvSpPr>
          <p:cNvPr id="367" name="Google Shape;367;p8"/>
          <p:cNvSpPr/>
          <p:nvPr/>
        </p:nvSpPr>
        <p:spPr>
          <a:xfrm>
            <a:off x="4941636" y="2456014"/>
            <a:ext cx="1029396" cy="325592"/>
          </a:xfrm>
          <a:prstGeom prst="rect">
            <a:avLst/>
          </a:prstGeom>
          <a:solidFill>
            <a:srgbClr val="CB4F7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20"/>
              <a:buFont typeface="Arial"/>
              <a:buNone/>
            </a:pPr>
            <a:r>
              <a:t/>
            </a:r>
            <a:endParaRPr b="0" i="0" sz="1620" u="none" cap="none" strike="noStrike">
              <a:solidFill>
                <a:schemeClr val="dk1"/>
              </a:solidFill>
              <a:latin typeface="Calibri"/>
              <a:ea typeface="Calibri"/>
              <a:cs typeface="Calibri"/>
              <a:sym typeface="Calibri"/>
            </a:endParaRPr>
          </a:p>
        </p:txBody>
      </p:sp>
      <p:sp>
        <p:nvSpPr>
          <p:cNvPr id="368" name="Google Shape;368;p8"/>
          <p:cNvSpPr/>
          <p:nvPr/>
        </p:nvSpPr>
        <p:spPr>
          <a:xfrm>
            <a:off x="4941636" y="2468880"/>
            <a:ext cx="1029396" cy="181051"/>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675"/>
              <a:buFont typeface="Arial"/>
              <a:buNone/>
            </a:pPr>
            <a:r>
              <a:rPr b="1" i="0" lang="en-US" sz="675" u="none" cap="none" strike="noStrike">
                <a:solidFill>
                  <a:srgbClr val="FFFFFF"/>
                </a:solidFill>
                <a:latin typeface="Gill Sans"/>
                <a:ea typeface="Gill Sans"/>
                <a:cs typeface="Gill Sans"/>
                <a:sym typeface="Gill Sans"/>
              </a:rPr>
              <a:t>Special assistance Manned Desk</a:t>
            </a:r>
            <a:endParaRPr b="0" i="0" sz="675" u="none" cap="none" strike="noStrike">
              <a:solidFill>
                <a:schemeClr val="dk1"/>
              </a:solidFill>
              <a:latin typeface="Gill Sans"/>
              <a:ea typeface="Gill Sans"/>
              <a:cs typeface="Gill Sans"/>
              <a:sym typeface="Gill Sans"/>
            </a:endParaRPr>
          </a:p>
        </p:txBody>
      </p:sp>
      <p:sp>
        <p:nvSpPr>
          <p:cNvPr id="369" name="Google Shape;369;p8"/>
          <p:cNvSpPr/>
          <p:nvPr/>
        </p:nvSpPr>
        <p:spPr>
          <a:xfrm>
            <a:off x="4941636" y="2633472"/>
            <a:ext cx="1029396" cy="131674"/>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585"/>
              <a:buFont typeface="Arial"/>
              <a:buNone/>
            </a:pPr>
            <a:r>
              <a:rPr b="0" i="0" lang="en-US" sz="585" u="none" cap="none" strike="noStrike">
                <a:solidFill>
                  <a:srgbClr val="FDECF2"/>
                </a:solidFill>
                <a:latin typeface="Calibri"/>
                <a:ea typeface="Calibri"/>
                <a:cs typeface="Calibri"/>
                <a:sym typeface="Calibri"/>
              </a:rPr>
              <a:t>PRM + escorts</a:t>
            </a:r>
            <a:endParaRPr b="0" i="0" sz="585" u="none" cap="none" strike="noStrike">
              <a:solidFill>
                <a:schemeClr val="dk1"/>
              </a:solidFill>
              <a:latin typeface="Calibri"/>
              <a:ea typeface="Calibri"/>
              <a:cs typeface="Calibri"/>
              <a:sym typeface="Calibri"/>
            </a:endParaRPr>
          </a:p>
        </p:txBody>
      </p:sp>
      <p:sp>
        <p:nvSpPr>
          <p:cNvPr id="370" name="Google Shape;370;p8"/>
          <p:cNvSpPr/>
          <p:nvPr/>
        </p:nvSpPr>
        <p:spPr>
          <a:xfrm>
            <a:off x="957975" y="2842900"/>
            <a:ext cx="5259900" cy="148200"/>
          </a:xfrm>
          <a:prstGeom prst="rect">
            <a:avLst/>
          </a:prstGeom>
          <a:solidFill>
            <a:srgbClr val="FFFFFF"/>
          </a:solidFill>
          <a:ln cap="flat" cmpd="sng" w="9525">
            <a:solidFill>
              <a:srgbClr val="AAB7C0"/>
            </a:solidFill>
            <a:prstDash val="dash"/>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20"/>
              <a:buFont typeface="Arial"/>
              <a:buNone/>
            </a:pPr>
            <a:r>
              <a:t/>
            </a:r>
            <a:endParaRPr b="0" i="0" sz="1620" u="none" cap="none" strike="noStrike">
              <a:solidFill>
                <a:schemeClr val="dk1"/>
              </a:solidFill>
              <a:latin typeface="Calibri"/>
              <a:ea typeface="Calibri"/>
              <a:cs typeface="Calibri"/>
              <a:sym typeface="Calibri"/>
            </a:endParaRPr>
          </a:p>
        </p:txBody>
      </p:sp>
      <p:sp>
        <p:nvSpPr>
          <p:cNvPr id="371" name="Google Shape;371;p8"/>
          <p:cNvSpPr/>
          <p:nvPr/>
        </p:nvSpPr>
        <p:spPr>
          <a:xfrm>
            <a:off x="957975" y="2830950"/>
            <a:ext cx="4609200" cy="148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585"/>
              <a:buFont typeface="Arial"/>
              <a:buNone/>
            </a:pPr>
            <a:r>
              <a:rPr b="0" i="0" lang="en-US" sz="585" u="none" cap="none" strike="noStrike">
                <a:solidFill>
                  <a:srgbClr val="5D6D7E"/>
                </a:solidFill>
                <a:latin typeface="Gill Sans"/>
                <a:ea typeface="Gill Sans"/>
                <a:cs typeface="Gill Sans"/>
                <a:sym typeface="Gill Sans"/>
              </a:rPr>
              <a:t>Digital signage on the ceiling that can show the routing guidance for passengers</a:t>
            </a:r>
            <a:endParaRPr b="0" i="0" sz="585" u="none" cap="none" strike="noStrike">
              <a:solidFill>
                <a:schemeClr val="dk1"/>
              </a:solidFill>
              <a:latin typeface="Gill Sans"/>
              <a:ea typeface="Gill Sans"/>
              <a:cs typeface="Gill Sans"/>
              <a:sym typeface="Gill Sans"/>
            </a:endParaRPr>
          </a:p>
        </p:txBody>
      </p:sp>
      <p:sp>
        <p:nvSpPr>
          <p:cNvPr id="372" name="Google Shape;372;p8"/>
          <p:cNvSpPr/>
          <p:nvPr/>
        </p:nvSpPr>
        <p:spPr>
          <a:xfrm>
            <a:off x="2243023" y="3028493"/>
            <a:ext cx="205740" cy="106985"/>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540"/>
              <a:buFont typeface="Arial"/>
              <a:buNone/>
            </a:pPr>
            <a:r>
              <a:rPr b="0" i="0" lang="en-US" sz="540" u="none" cap="none" strike="noStrike">
                <a:solidFill>
                  <a:srgbClr val="0E7C86"/>
                </a:solidFill>
                <a:latin typeface="Calibri"/>
                <a:ea typeface="Calibri"/>
                <a:cs typeface="Calibri"/>
                <a:sym typeface="Calibri"/>
              </a:rPr>
              <a:t>▼</a:t>
            </a:r>
            <a:endParaRPr b="0" i="0" sz="540" u="none" cap="none" strike="noStrike">
              <a:solidFill>
                <a:schemeClr val="dk1"/>
              </a:solidFill>
              <a:latin typeface="Calibri"/>
              <a:ea typeface="Calibri"/>
              <a:cs typeface="Calibri"/>
              <a:sym typeface="Calibri"/>
            </a:endParaRPr>
          </a:p>
        </p:txBody>
      </p:sp>
      <p:sp>
        <p:nvSpPr>
          <p:cNvPr id="373" name="Google Shape;373;p8"/>
          <p:cNvSpPr/>
          <p:nvPr/>
        </p:nvSpPr>
        <p:spPr>
          <a:xfrm>
            <a:off x="3724351" y="3028493"/>
            <a:ext cx="205740" cy="106985"/>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540"/>
              <a:buFont typeface="Arial"/>
              <a:buNone/>
            </a:pPr>
            <a:r>
              <a:rPr b="0" i="0" lang="en-US" sz="540" u="none" cap="none" strike="noStrike">
                <a:solidFill>
                  <a:srgbClr val="7D3C98"/>
                </a:solidFill>
                <a:latin typeface="Calibri"/>
                <a:ea typeface="Calibri"/>
                <a:cs typeface="Calibri"/>
                <a:sym typeface="Calibri"/>
              </a:rPr>
              <a:t>▼</a:t>
            </a:r>
            <a:endParaRPr b="0" i="0" sz="540" u="none" cap="none" strike="noStrike">
              <a:solidFill>
                <a:schemeClr val="dk1"/>
              </a:solidFill>
              <a:latin typeface="Calibri"/>
              <a:ea typeface="Calibri"/>
              <a:cs typeface="Calibri"/>
              <a:sym typeface="Calibri"/>
            </a:endParaRPr>
          </a:p>
        </p:txBody>
      </p:sp>
      <p:sp>
        <p:nvSpPr>
          <p:cNvPr id="374" name="Google Shape;374;p8"/>
          <p:cNvSpPr/>
          <p:nvPr/>
        </p:nvSpPr>
        <p:spPr>
          <a:xfrm>
            <a:off x="5189220" y="3028493"/>
            <a:ext cx="205740" cy="106985"/>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540"/>
              <a:buFont typeface="Arial"/>
              <a:buNone/>
            </a:pPr>
            <a:r>
              <a:rPr b="0" i="0" lang="en-US" sz="540" u="none" cap="none" strike="noStrike">
                <a:solidFill>
                  <a:srgbClr val="CB4F7F"/>
                </a:solidFill>
                <a:latin typeface="Calibri"/>
                <a:ea typeface="Calibri"/>
                <a:cs typeface="Calibri"/>
                <a:sym typeface="Calibri"/>
              </a:rPr>
              <a:t>▼</a:t>
            </a:r>
            <a:endParaRPr b="0" i="0" sz="540" u="none" cap="none" strike="noStrike">
              <a:solidFill>
                <a:schemeClr val="dk1"/>
              </a:solidFill>
              <a:latin typeface="Calibri"/>
              <a:ea typeface="Calibri"/>
              <a:cs typeface="Calibri"/>
              <a:sym typeface="Calibri"/>
            </a:endParaRPr>
          </a:p>
        </p:txBody>
      </p:sp>
      <p:cxnSp>
        <p:nvCxnSpPr>
          <p:cNvPr id="375" name="Google Shape;375;p8"/>
          <p:cNvCxnSpPr/>
          <p:nvPr/>
        </p:nvCxnSpPr>
        <p:spPr>
          <a:xfrm flipH="1">
            <a:off x="7123172" y="1440180"/>
            <a:ext cx="4" cy="599316"/>
          </a:xfrm>
          <a:prstGeom prst="straightConnector1">
            <a:avLst/>
          </a:prstGeom>
          <a:noFill/>
          <a:ln cap="flat" cmpd="sng" w="12700">
            <a:solidFill>
              <a:srgbClr val="CB4F7F"/>
            </a:solidFill>
            <a:prstDash val="dash"/>
            <a:round/>
            <a:headEnd len="sm" w="sm" type="none"/>
            <a:tailEnd len="sm" w="sm" type="none"/>
          </a:ln>
        </p:spPr>
      </p:cxnSp>
      <p:cxnSp>
        <p:nvCxnSpPr>
          <p:cNvPr id="376" name="Google Shape;376;p8"/>
          <p:cNvCxnSpPr/>
          <p:nvPr/>
        </p:nvCxnSpPr>
        <p:spPr>
          <a:xfrm>
            <a:off x="7123176" y="2625242"/>
            <a:ext cx="0" cy="0"/>
          </a:xfrm>
          <a:prstGeom prst="straightConnector1">
            <a:avLst/>
          </a:prstGeom>
          <a:noFill/>
          <a:ln cap="flat" cmpd="sng" w="12700">
            <a:solidFill>
              <a:srgbClr val="CB4F7F"/>
            </a:solidFill>
            <a:prstDash val="dash"/>
            <a:round/>
            <a:headEnd len="sm" w="sm" type="none"/>
            <a:tailEnd len="sm" w="sm" type="none"/>
          </a:ln>
        </p:spPr>
      </p:cxnSp>
      <p:sp>
        <p:nvSpPr>
          <p:cNvPr id="377" name="Google Shape;377;p8"/>
          <p:cNvSpPr/>
          <p:nvPr/>
        </p:nvSpPr>
        <p:spPr>
          <a:xfrm>
            <a:off x="5888736" y="2567635"/>
            <a:ext cx="164592" cy="123444"/>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540"/>
              <a:buFont typeface="Arial"/>
              <a:buNone/>
            </a:pPr>
            <a:r>
              <a:t/>
            </a:r>
            <a:endParaRPr b="0" i="0" sz="540" u="none" cap="none" strike="noStrike">
              <a:solidFill>
                <a:schemeClr val="dk1"/>
              </a:solidFill>
              <a:latin typeface="Calibri"/>
              <a:ea typeface="Calibri"/>
              <a:cs typeface="Calibri"/>
              <a:sym typeface="Calibri"/>
            </a:endParaRPr>
          </a:p>
        </p:txBody>
      </p:sp>
      <p:sp>
        <p:nvSpPr>
          <p:cNvPr id="378" name="Google Shape;378;p8"/>
          <p:cNvSpPr/>
          <p:nvPr/>
        </p:nvSpPr>
        <p:spPr>
          <a:xfrm>
            <a:off x="7179776" y="1798073"/>
            <a:ext cx="1028700" cy="325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585"/>
              <a:buFont typeface="Arial"/>
              <a:buNone/>
            </a:pPr>
            <a:r>
              <a:rPr b="1" i="1" lang="en-US" sz="585" u="none" cap="none" strike="noStrike">
                <a:solidFill>
                  <a:srgbClr val="CB4F7F"/>
                </a:solidFill>
                <a:latin typeface="Times New Roman"/>
                <a:ea typeface="Times New Roman"/>
                <a:cs typeface="Times New Roman"/>
                <a:sym typeface="Times New Roman"/>
              </a:rPr>
              <a:t>PRM (WCHC/WCHS) escort</a:t>
            </a:r>
            <a:endParaRPr b="0" i="0" sz="585"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585"/>
              <a:buFont typeface="Arial"/>
              <a:buNone/>
            </a:pPr>
            <a:r>
              <a:rPr b="1" i="1" lang="en-US" sz="585" u="none" cap="none" strike="noStrike">
                <a:solidFill>
                  <a:srgbClr val="CB4F7F"/>
                </a:solidFill>
                <a:latin typeface="Times New Roman"/>
                <a:ea typeface="Times New Roman"/>
                <a:cs typeface="Times New Roman"/>
                <a:sym typeface="Times New Roman"/>
              </a:rPr>
              <a:t>via ambulift from aircraft stand</a:t>
            </a:r>
            <a:endParaRPr b="0" i="0" sz="585" u="none" cap="none" strike="noStrike">
              <a:solidFill>
                <a:schemeClr val="dk1"/>
              </a:solidFill>
              <a:latin typeface="Times New Roman"/>
              <a:ea typeface="Times New Roman"/>
              <a:cs typeface="Times New Roman"/>
              <a:sym typeface="Times New Roman"/>
            </a:endParaRPr>
          </a:p>
        </p:txBody>
      </p:sp>
      <p:sp>
        <p:nvSpPr>
          <p:cNvPr id="379" name="Google Shape;379;p8"/>
          <p:cNvSpPr/>
          <p:nvPr/>
        </p:nvSpPr>
        <p:spPr>
          <a:xfrm>
            <a:off x="1007274" y="3229595"/>
            <a:ext cx="5184648" cy="230429"/>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675"/>
              <a:buFont typeface="Arial"/>
              <a:buNone/>
            </a:pPr>
            <a:r>
              <a:t/>
            </a:r>
            <a:endParaRPr b="0" i="0" sz="675" u="none" cap="none" strike="noStrike">
              <a:solidFill>
                <a:schemeClr val="dk1"/>
              </a:solidFill>
              <a:latin typeface="Calibri"/>
              <a:ea typeface="Calibri"/>
              <a:cs typeface="Calibri"/>
              <a:sym typeface="Calibri"/>
            </a:endParaRPr>
          </a:p>
        </p:txBody>
      </p:sp>
      <p:sp>
        <p:nvSpPr>
          <p:cNvPr id="380" name="Google Shape;380;p8"/>
          <p:cNvSpPr/>
          <p:nvPr/>
        </p:nvSpPr>
        <p:spPr>
          <a:xfrm>
            <a:off x="3394642" y="3468860"/>
            <a:ext cx="246888" cy="123444"/>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720"/>
              <a:buFont typeface="Arial"/>
              <a:buNone/>
            </a:pPr>
            <a:r>
              <a:rPr b="0" i="0" lang="en-US" sz="720" u="none" cap="none" strike="noStrike">
                <a:solidFill>
                  <a:srgbClr val="2C3E50"/>
                </a:solidFill>
                <a:latin typeface="Calibri"/>
                <a:ea typeface="Calibri"/>
                <a:cs typeface="Calibri"/>
                <a:sym typeface="Calibri"/>
              </a:rPr>
              <a:t>▼</a:t>
            </a:r>
            <a:endParaRPr b="0" i="0" sz="720" u="none" cap="none" strike="noStrike">
              <a:solidFill>
                <a:schemeClr val="dk1"/>
              </a:solidFill>
              <a:latin typeface="Calibri"/>
              <a:ea typeface="Calibri"/>
              <a:cs typeface="Calibri"/>
              <a:sym typeface="Calibri"/>
            </a:endParaRPr>
          </a:p>
        </p:txBody>
      </p:sp>
      <p:sp>
        <p:nvSpPr>
          <p:cNvPr id="381" name="Google Shape;381;p8"/>
          <p:cNvSpPr/>
          <p:nvPr/>
        </p:nvSpPr>
        <p:spPr>
          <a:xfrm>
            <a:off x="957975" y="3588475"/>
            <a:ext cx="5259900" cy="1199400"/>
          </a:xfrm>
          <a:prstGeom prst="rect">
            <a:avLst/>
          </a:prstGeom>
          <a:solidFill>
            <a:srgbClr val="F0F0F0"/>
          </a:solidFill>
          <a:ln cap="flat" cmpd="sng" w="12700">
            <a:solidFill>
              <a:srgbClr val="BDC3C7"/>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20"/>
              <a:buFont typeface="Arial"/>
              <a:buNone/>
            </a:pPr>
            <a:r>
              <a:t/>
            </a:r>
            <a:endParaRPr b="0" i="0" sz="1620" u="none" cap="none" strike="noStrike">
              <a:solidFill>
                <a:schemeClr val="dk1"/>
              </a:solidFill>
              <a:latin typeface="Calibri"/>
              <a:ea typeface="Calibri"/>
              <a:cs typeface="Calibri"/>
              <a:sym typeface="Calibri"/>
            </a:endParaRPr>
          </a:p>
        </p:txBody>
      </p:sp>
      <p:sp>
        <p:nvSpPr>
          <p:cNvPr id="382" name="Google Shape;382;p8"/>
          <p:cNvSpPr/>
          <p:nvPr/>
        </p:nvSpPr>
        <p:spPr>
          <a:xfrm>
            <a:off x="1810206" y="3693513"/>
            <a:ext cx="3291840" cy="16459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765"/>
              <a:buFont typeface="Arial"/>
              <a:buNone/>
            </a:pPr>
            <a:r>
              <a:rPr b="1" i="0" lang="en-US" sz="765" u="none" cap="none" strike="noStrike">
                <a:solidFill>
                  <a:srgbClr val="2C3E50"/>
                </a:solidFill>
                <a:latin typeface="Calibri"/>
                <a:ea typeface="Calibri"/>
                <a:cs typeface="Calibri"/>
                <a:sym typeface="Calibri"/>
              </a:rPr>
              <a:t>Baggage reclaim hall</a:t>
            </a:r>
            <a:endParaRPr b="0" i="0" sz="765" u="none" cap="none" strike="noStrike">
              <a:solidFill>
                <a:schemeClr val="dk1"/>
              </a:solidFill>
              <a:latin typeface="Calibri"/>
              <a:ea typeface="Calibri"/>
              <a:cs typeface="Calibri"/>
              <a:sym typeface="Calibri"/>
            </a:endParaRPr>
          </a:p>
        </p:txBody>
      </p:sp>
      <p:sp>
        <p:nvSpPr>
          <p:cNvPr id="383" name="Google Shape;383;p8"/>
          <p:cNvSpPr/>
          <p:nvPr/>
        </p:nvSpPr>
        <p:spPr>
          <a:xfrm>
            <a:off x="3431243" y="3847159"/>
            <a:ext cx="2981569" cy="181051"/>
          </a:xfrm>
          <a:prstGeom prst="rect">
            <a:avLst/>
          </a:prstGeom>
          <a:solidFill>
            <a:srgbClr val="FFFFFF"/>
          </a:solidFill>
          <a:ln cap="flat" cmpd="sng" w="12700">
            <a:solidFill>
              <a:srgbClr val="2C3E5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20"/>
              <a:buFont typeface="Arial"/>
              <a:buNone/>
            </a:pPr>
            <a:r>
              <a:t/>
            </a:r>
            <a:endParaRPr b="0" i="0" sz="1620" u="none" cap="none" strike="noStrike">
              <a:solidFill>
                <a:schemeClr val="dk1"/>
              </a:solidFill>
              <a:latin typeface="Calibri"/>
              <a:ea typeface="Calibri"/>
              <a:cs typeface="Calibri"/>
              <a:sym typeface="Calibri"/>
            </a:endParaRPr>
          </a:p>
        </p:txBody>
      </p:sp>
      <p:sp>
        <p:nvSpPr>
          <p:cNvPr id="384" name="Google Shape;384;p8"/>
          <p:cNvSpPr/>
          <p:nvPr/>
        </p:nvSpPr>
        <p:spPr>
          <a:xfrm>
            <a:off x="3785115" y="3800518"/>
            <a:ext cx="2468880" cy="30324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675"/>
              <a:buFont typeface="Arial"/>
              <a:buNone/>
            </a:pPr>
            <a:r>
              <a:rPr b="1" i="0" lang="en-US" sz="675" u="none" cap="none" strike="noStrike">
                <a:solidFill>
                  <a:srgbClr val="2C3E50"/>
                </a:solidFill>
                <a:latin typeface="Gill Sans"/>
                <a:ea typeface="Gill Sans"/>
                <a:cs typeface="Gill Sans"/>
                <a:sym typeface="Gill Sans"/>
              </a:rPr>
              <a:t>Reclaim Belt 1</a:t>
            </a:r>
            <a:endParaRPr b="0" i="0" sz="675" u="none" cap="none" strike="noStrike">
              <a:solidFill>
                <a:schemeClr val="dk1"/>
              </a:solidFill>
              <a:latin typeface="Gill Sans"/>
              <a:ea typeface="Gill Sans"/>
              <a:cs typeface="Gill Sans"/>
              <a:sym typeface="Gill Sans"/>
            </a:endParaRPr>
          </a:p>
        </p:txBody>
      </p:sp>
      <p:sp>
        <p:nvSpPr>
          <p:cNvPr id="385" name="Google Shape;385;p8"/>
          <p:cNvSpPr/>
          <p:nvPr/>
        </p:nvSpPr>
        <p:spPr>
          <a:xfrm>
            <a:off x="3431244" y="4103758"/>
            <a:ext cx="2981568" cy="181051"/>
          </a:xfrm>
          <a:prstGeom prst="rect">
            <a:avLst/>
          </a:prstGeom>
          <a:solidFill>
            <a:srgbClr val="FFFFFF"/>
          </a:solidFill>
          <a:ln cap="flat" cmpd="sng" w="12700">
            <a:solidFill>
              <a:srgbClr val="2C3E5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20"/>
              <a:buFont typeface="Arial"/>
              <a:buNone/>
            </a:pPr>
            <a:r>
              <a:t/>
            </a:r>
            <a:endParaRPr b="0" i="0" sz="1620" u="none" cap="none" strike="noStrike">
              <a:solidFill>
                <a:schemeClr val="dk1"/>
              </a:solidFill>
              <a:latin typeface="Calibri"/>
              <a:ea typeface="Calibri"/>
              <a:cs typeface="Calibri"/>
              <a:sym typeface="Calibri"/>
            </a:endParaRPr>
          </a:p>
        </p:txBody>
      </p:sp>
      <p:sp>
        <p:nvSpPr>
          <p:cNvPr id="386" name="Google Shape;386;p8"/>
          <p:cNvSpPr/>
          <p:nvPr/>
        </p:nvSpPr>
        <p:spPr>
          <a:xfrm>
            <a:off x="3780732" y="4135442"/>
            <a:ext cx="2468880" cy="181051"/>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675"/>
              <a:buFont typeface="Arial"/>
              <a:buNone/>
            </a:pPr>
            <a:r>
              <a:rPr b="1" i="0" lang="en-US" sz="675" u="none" cap="none" strike="noStrike">
                <a:solidFill>
                  <a:srgbClr val="2C3E50"/>
                </a:solidFill>
                <a:latin typeface="Gill Sans"/>
                <a:ea typeface="Gill Sans"/>
                <a:cs typeface="Gill Sans"/>
                <a:sym typeface="Gill Sans"/>
              </a:rPr>
              <a:t>Reclaim Belt 2</a:t>
            </a:r>
            <a:endParaRPr b="0" i="0" sz="675" u="none" cap="none" strike="noStrike">
              <a:solidFill>
                <a:schemeClr val="dk1"/>
              </a:solidFill>
              <a:latin typeface="Gill Sans"/>
              <a:ea typeface="Gill Sans"/>
              <a:cs typeface="Gill Sans"/>
              <a:sym typeface="Gill Sans"/>
            </a:endParaRPr>
          </a:p>
        </p:txBody>
      </p:sp>
      <p:sp>
        <p:nvSpPr>
          <p:cNvPr id="387" name="Google Shape;387;p8"/>
          <p:cNvSpPr/>
          <p:nvPr/>
        </p:nvSpPr>
        <p:spPr>
          <a:xfrm>
            <a:off x="3433732" y="4370177"/>
            <a:ext cx="2981568" cy="181051"/>
          </a:xfrm>
          <a:prstGeom prst="rect">
            <a:avLst/>
          </a:prstGeom>
          <a:solidFill>
            <a:srgbClr val="D0ECE7"/>
          </a:solidFill>
          <a:ln cap="flat" cmpd="sng" w="12700">
            <a:solidFill>
              <a:srgbClr val="0E7C86"/>
            </a:solidFill>
            <a:prstDash val="dash"/>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20"/>
              <a:buFont typeface="Arial"/>
              <a:buNone/>
            </a:pPr>
            <a:r>
              <a:t/>
            </a:r>
            <a:endParaRPr b="0" i="0" sz="1620" u="none" cap="none" strike="noStrike">
              <a:solidFill>
                <a:schemeClr val="dk1"/>
              </a:solidFill>
              <a:latin typeface="Calibri"/>
              <a:ea typeface="Calibri"/>
              <a:cs typeface="Calibri"/>
              <a:sym typeface="Calibri"/>
            </a:endParaRPr>
          </a:p>
        </p:txBody>
      </p:sp>
      <p:sp>
        <p:nvSpPr>
          <p:cNvPr id="388" name="Google Shape;388;p8"/>
          <p:cNvSpPr/>
          <p:nvPr/>
        </p:nvSpPr>
        <p:spPr>
          <a:xfrm>
            <a:off x="3867606" y="4361047"/>
            <a:ext cx="2468880" cy="181051"/>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675"/>
              <a:buFont typeface="Arial"/>
              <a:buNone/>
            </a:pPr>
            <a:r>
              <a:rPr b="1" i="0" lang="en-US" sz="675" u="none" cap="none" strike="noStrike">
                <a:solidFill>
                  <a:srgbClr val="0E7C86"/>
                </a:solidFill>
                <a:latin typeface="Gill Sans"/>
                <a:ea typeface="Gill Sans"/>
                <a:cs typeface="Gill Sans"/>
                <a:sym typeface="Gill Sans"/>
              </a:rPr>
              <a:t>Reclaim Belt 3 (flexible only during peak times)</a:t>
            </a:r>
            <a:endParaRPr b="0" i="0" sz="675" u="none" cap="none" strike="noStrike">
              <a:solidFill>
                <a:schemeClr val="dk1"/>
              </a:solidFill>
              <a:latin typeface="Gill Sans"/>
              <a:ea typeface="Gill Sans"/>
              <a:cs typeface="Gill Sans"/>
              <a:sym typeface="Gill Sans"/>
            </a:endParaRPr>
          </a:p>
        </p:txBody>
      </p:sp>
      <p:sp>
        <p:nvSpPr>
          <p:cNvPr id="389" name="Google Shape;389;p8"/>
          <p:cNvSpPr/>
          <p:nvPr/>
        </p:nvSpPr>
        <p:spPr>
          <a:xfrm>
            <a:off x="979081" y="4559198"/>
            <a:ext cx="732801" cy="218807"/>
          </a:xfrm>
          <a:prstGeom prst="rect">
            <a:avLst/>
          </a:prstGeom>
          <a:solidFill>
            <a:srgbClr val="D5F5E3"/>
          </a:solidFill>
          <a:ln cap="flat" cmpd="sng" w="9525">
            <a:solidFill>
              <a:srgbClr val="27AE6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20"/>
              <a:buFont typeface="Arial"/>
              <a:buNone/>
            </a:pPr>
            <a:r>
              <a:t/>
            </a:r>
            <a:endParaRPr b="0" i="0" sz="1620" u="none" cap="none" strike="noStrike">
              <a:solidFill>
                <a:schemeClr val="dk1"/>
              </a:solidFill>
              <a:latin typeface="Calibri"/>
              <a:ea typeface="Calibri"/>
              <a:cs typeface="Calibri"/>
              <a:sym typeface="Calibri"/>
            </a:endParaRPr>
          </a:p>
        </p:txBody>
      </p:sp>
      <p:sp>
        <p:nvSpPr>
          <p:cNvPr id="390" name="Google Shape;390;p8"/>
          <p:cNvSpPr/>
          <p:nvPr/>
        </p:nvSpPr>
        <p:spPr>
          <a:xfrm>
            <a:off x="903195" y="4532804"/>
            <a:ext cx="905256" cy="263347"/>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585"/>
              <a:buFont typeface="Arial"/>
              <a:buNone/>
            </a:pPr>
            <a:r>
              <a:rPr b="1" i="0" lang="en-US" sz="585" u="none" cap="none" strike="noStrike">
                <a:solidFill>
                  <a:srgbClr val="27AE60"/>
                </a:solidFill>
                <a:latin typeface="Gill Sans"/>
                <a:ea typeface="Gill Sans"/>
                <a:cs typeface="Gill Sans"/>
                <a:sym typeface="Gill Sans"/>
              </a:rPr>
              <a:t>Trolley parking</a:t>
            </a:r>
            <a:endParaRPr b="0" i="0" sz="585" u="none" cap="none" strike="noStrike">
              <a:solidFill>
                <a:schemeClr val="dk1"/>
              </a:solidFill>
              <a:latin typeface="Gill Sans"/>
              <a:ea typeface="Gill Sans"/>
              <a:cs typeface="Gill Sans"/>
              <a:sym typeface="Gill Sans"/>
            </a:endParaRPr>
          </a:p>
          <a:p>
            <a:pPr indent="0" lvl="0" marL="0" marR="0" rtl="0" algn="ctr">
              <a:lnSpc>
                <a:spcPct val="100000"/>
              </a:lnSpc>
              <a:spcBef>
                <a:spcPts val="0"/>
              </a:spcBef>
              <a:spcAft>
                <a:spcPts val="0"/>
              </a:spcAft>
              <a:buClr>
                <a:srgbClr val="000000"/>
              </a:buClr>
              <a:buSzPts val="585"/>
              <a:buFont typeface="Arial"/>
              <a:buNone/>
            </a:pPr>
            <a:r>
              <a:t/>
            </a:r>
            <a:endParaRPr b="0" i="0" sz="585" u="none" cap="none" strike="noStrike">
              <a:solidFill>
                <a:schemeClr val="dk1"/>
              </a:solidFill>
              <a:latin typeface="Gill Sans"/>
              <a:ea typeface="Gill Sans"/>
              <a:cs typeface="Gill Sans"/>
              <a:sym typeface="Gill Sans"/>
            </a:endParaRPr>
          </a:p>
        </p:txBody>
      </p:sp>
      <p:sp>
        <p:nvSpPr>
          <p:cNvPr id="391" name="Google Shape;391;p8"/>
          <p:cNvSpPr/>
          <p:nvPr/>
        </p:nvSpPr>
        <p:spPr>
          <a:xfrm>
            <a:off x="6464808" y="3884371"/>
            <a:ext cx="1316736" cy="674827"/>
          </a:xfrm>
          <a:prstGeom prst="rect">
            <a:avLst/>
          </a:prstGeom>
          <a:solidFill>
            <a:srgbClr val="FADBD8"/>
          </a:solidFill>
          <a:ln cap="flat" cmpd="sng" w="12700">
            <a:solidFill>
              <a:srgbClr val="C0392B"/>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20"/>
              <a:buFont typeface="Arial"/>
              <a:buNone/>
            </a:pPr>
            <a:r>
              <a:t/>
            </a:r>
            <a:endParaRPr b="0" i="0" sz="1620" u="none" cap="none" strike="noStrike">
              <a:solidFill>
                <a:schemeClr val="dk1"/>
              </a:solidFill>
              <a:latin typeface="Calibri"/>
              <a:ea typeface="Calibri"/>
              <a:cs typeface="Calibri"/>
              <a:sym typeface="Calibri"/>
            </a:endParaRPr>
          </a:p>
        </p:txBody>
      </p:sp>
      <p:sp>
        <p:nvSpPr>
          <p:cNvPr id="392" name="Google Shape;392;p8"/>
          <p:cNvSpPr/>
          <p:nvPr/>
        </p:nvSpPr>
        <p:spPr>
          <a:xfrm>
            <a:off x="6464808" y="3884371"/>
            <a:ext cx="1316736" cy="674827"/>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675"/>
              <a:buFont typeface="Arial"/>
              <a:buNone/>
            </a:pPr>
            <a:r>
              <a:rPr b="1" i="0" lang="en-US" sz="675" u="none" cap="none" strike="noStrike">
                <a:solidFill>
                  <a:srgbClr val="C0392B"/>
                </a:solidFill>
                <a:latin typeface="Gill Sans"/>
                <a:ea typeface="Gill Sans"/>
                <a:cs typeface="Gill Sans"/>
                <a:sym typeface="Gill Sans"/>
              </a:rPr>
              <a:t>Baggage</a:t>
            </a:r>
            <a:endParaRPr b="0" i="0" sz="675" u="none" cap="none" strike="noStrike">
              <a:solidFill>
                <a:schemeClr val="dk1"/>
              </a:solidFill>
              <a:latin typeface="Gill Sans"/>
              <a:ea typeface="Gill Sans"/>
              <a:cs typeface="Gill Sans"/>
              <a:sym typeface="Gill Sans"/>
            </a:endParaRPr>
          </a:p>
          <a:p>
            <a:pPr indent="0" lvl="0" marL="0" marR="0" rtl="0" algn="ctr">
              <a:lnSpc>
                <a:spcPct val="100000"/>
              </a:lnSpc>
              <a:spcBef>
                <a:spcPts val="0"/>
              </a:spcBef>
              <a:spcAft>
                <a:spcPts val="0"/>
              </a:spcAft>
              <a:buClr>
                <a:srgbClr val="000000"/>
              </a:buClr>
              <a:buSzPts val="675"/>
              <a:buFont typeface="Arial"/>
              <a:buNone/>
            </a:pPr>
            <a:r>
              <a:rPr b="1" i="0" lang="en-US" sz="675" u="none" cap="none" strike="noStrike">
                <a:solidFill>
                  <a:srgbClr val="C0392B"/>
                </a:solidFill>
                <a:latin typeface="Gill Sans"/>
                <a:ea typeface="Gill Sans"/>
                <a:cs typeface="Gill Sans"/>
                <a:sym typeface="Gill Sans"/>
              </a:rPr>
              <a:t>offload</a:t>
            </a:r>
            <a:endParaRPr b="0" i="0" sz="675" u="none" cap="none" strike="noStrike">
              <a:solidFill>
                <a:schemeClr val="dk1"/>
              </a:solidFill>
              <a:latin typeface="Gill Sans"/>
              <a:ea typeface="Gill Sans"/>
              <a:cs typeface="Gill Sans"/>
              <a:sym typeface="Gill Sans"/>
            </a:endParaRPr>
          </a:p>
          <a:p>
            <a:pPr indent="0" lvl="0" marL="0" marR="0" rtl="0" algn="ctr">
              <a:lnSpc>
                <a:spcPct val="100000"/>
              </a:lnSpc>
              <a:spcBef>
                <a:spcPts val="0"/>
              </a:spcBef>
              <a:spcAft>
                <a:spcPts val="0"/>
              </a:spcAft>
              <a:buClr>
                <a:srgbClr val="000000"/>
              </a:buClr>
              <a:buSzPts val="675"/>
              <a:buFont typeface="Arial"/>
              <a:buNone/>
            </a:pPr>
            <a:r>
              <a:rPr b="1" i="0" lang="en-US" sz="675" u="none" cap="none" strike="noStrike">
                <a:solidFill>
                  <a:srgbClr val="C0392B"/>
                </a:solidFill>
                <a:latin typeface="Gill Sans"/>
                <a:ea typeface="Gill Sans"/>
                <a:cs typeface="Gill Sans"/>
                <a:sym typeface="Gill Sans"/>
              </a:rPr>
              <a:t>positions</a:t>
            </a:r>
            <a:endParaRPr b="0" i="0" sz="675" u="none" cap="none" strike="noStrike">
              <a:solidFill>
                <a:schemeClr val="dk1"/>
              </a:solidFill>
              <a:latin typeface="Gill Sans"/>
              <a:ea typeface="Gill Sans"/>
              <a:cs typeface="Gill Sans"/>
              <a:sym typeface="Gill Sans"/>
            </a:endParaRPr>
          </a:p>
        </p:txBody>
      </p:sp>
      <p:cxnSp>
        <p:nvCxnSpPr>
          <p:cNvPr id="393" name="Google Shape;393;p8"/>
          <p:cNvCxnSpPr/>
          <p:nvPr/>
        </p:nvCxnSpPr>
        <p:spPr>
          <a:xfrm>
            <a:off x="6464808" y="3999586"/>
            <a:ext cx="0" cy="0"/>
          </a:xfrm>
          <a:prstGeom prst="straightConnector1">
            <a:avLst/>
          </a:prstGeom>
          <a:noFill/>
          <a:ln cap="flat" cmpd="sng" w="9525">
            <a:solidFill>
              <a:srgbClr val="2C3E50"/>
            </a:solidFill>
            <a:prstDash val="solid"/>
            <a:round/>
            <a:headEnd len="sm" w="sm" type="none"/>
            <a:tailEnd len="sm" w="sm" type="none"/>
          </a:ln>
        </p:spPr>
      </p:cxnSp>
      <p:cxnSp>
        <p:nvCxnSpPr>
          <p:cNvPr id="394" name="Google Shape;394;p8"/>
          <p:cNvCxnSpPr/>
          <p:nvPr/>
        </p:nvCxnSpPr>
        <p:spPr>
          <a:xfrm>
            <a:off x="6464808" y="4221785"/>
            <a:ext cx="0" cy="0"/>
          </a:xfrm>
          <a:prstGeom prst="straightConnector1">
            <a:avLst/>
          </a:prstGeom>
          <a:noFill/>
          <a:ln cap="flat" cmpd="sng" w="9525">
            <a:solidFill>
              <a:srgbClr val="2C3E50"/>
            </a:solidFill>
            <a:prstDash val="solid"/>
            <a:round/>
            <a:headEnd len="sm" w="sm" type="none"/>
            <a:tailEnd len="sm" w="sm" type="none"/>
          </a:ln>
        </p:spPr>
      </p:cxnSp>
      <p:cxnSp>
        <p:nvCxnSpPr>
          <p:cNvPr id="395" name="Google Shape;395;p8"/>
          <p:cNvCxnSpPr/>
          <p:nvPr/>
        </p:nvCxnSpPr>
        <p:spPr>
          <a:xfrm>
            <a:off x="6464808" y="4443984"/>
            <a:ext cx="0" cy="0"/>
          </a:xfrm>
          <a:prstGeom prst="straightConnector1">
            <a:avLst/>
          </a:prstGeom>
          <a:noFill/>
          <a:ln cap="flat" cmpd="sng" w="9525">
            <a:solidFill>
              <a:srgbClr val="0E7C86"/>
            </a:solidFill>
            <a:prstDash val="dash"/>
            <a:round/>
            <a:headEnd len="sm" w="sm" type="none"/>
            <a:tailEnd len="sm" w="sm" type="none"/>
          </a:ln>
        </p:spPr>
      </p:cxnSp>
      <p:sp>
        <p:nvSpPr>
          <p:cNvPr id="396" name="Google Shape;396;p8"/>
          <p:cNvSpPr/>
          <p:nvPr/>
        </p:nvSpPr>
        <p:spPr>
          <a:xfrm>
            <a:off x="3312871" y="4796643"/>
            <a:ext cx="246888" cy="123444"/>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720"/>
              <a:buFont typeface="Arial"/>
              <a:buNone/>
            </a:pPr>
            <a:r>
              <a:rPr b="0" i="0" lang="en-US" sz="720" u="none" cap="none" strike="noStrike">
                <a:solidFill>
                  <a:srgbClr val="2C3E50"/>
                </a:solidFill>
                <a:latin typeface="Calibri"/>
                <a:ea typeface="Calibri"/>
                <a:cs typeface="Calibri"/>
                <a:sym typeface="Calibri"/>
              </a:rPr>
              <a:t>▼</a:t>
            </a:r>
            <a:endParaRPr b="0" i="0" sz="720" u="none" cap="none" strike="noStrike">
              <a:solidFill>
                <a:schemeClr val="dk1"/>
              </a:solidFill>
              <a:latin typeface="Calibri"/>
              <a:ea typeface="Calibri"/>
              <a:cs typeface="Calibri"/>
              <a:sym typeface="Calibri"/>
            </a:endParaRPr>
          </a:p>
        </p:txBody>
      </p:sp>
      <p:sp>
        <p:nvSpPr>
          <p:cNvPr id="397" name="Google Shape;397;p8"/>
          <p:cNvSpPr/>
          <p:nvPr/>
        </p:nvSpPr>
        <p:spPr>
          <a:xfrm>
            <a:off x="2350008" y="4897225"/>
            <a:ext cx="2304288" cy="16459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810"/>
              <a:buFont typeface="Arial"/>
              <a:buNone/>
            </a:pPr>
            <a:r>
              <a:rPr b="1" i="0" lang="en-US" sz="810" u="none" cap="none" strike="noStrike">
                <a:solidFill>
                  <a:srgbClr val="2C3E50"/>
                </a:solidFill>
                <a:latin typeface="Calibri"/>
                <a:ea typeface="Calibri"/>
                <a:cs typeface="Calibri"/>
                <a:sym typeface="Calibri"/>
              </a:rPr>
              <a:t>Exit baggage reclaim</a:t>
            </a:r>
            <a:endParaRPr b="0" i="0" sz="810" u="none" cap="none" strike="noStrike">
              <a:solidFill>
                <a:schemeClr val="dk1"/>
              </a:solidFill>
              <a:latin typeface="Calibri"/>
              <a:ea typeface="Calibri"/>
              <a:cs typeface="Calibri"/>
              <a:sym typeface="Calibri"/>
            </a:endParaRPr>
          </a:p>
        </p:txBody>
      </p:sp>
      <p:sp>
        <p:nvSpPr>
          <p:cNvPr id="398" name="Google Shape;398;p8"/>
          <p:cNvSpPr/>
          <p:nvPr/>
        </p:nvSpPr>
        <p:spPr>
          <a:xfrm>
            <a:off x="868680" y="4937760"/>
            <a:ext cx="3291840" cy="2057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720"/>
              <a:buFont typeface="Arial"/>
              <a:buNone/>
            </a:pPr>
            <a:r>
              <a:t/>
            </a:r>
            <a:endParaRPr b="0" i="0" sz="720" u="none" cap="none" strike="noStrike">
              <a:solidFill>
                <a:schemeClr val="dk1"/>
              </a:solidFill>
              <a:latin typeface="Calibri"/>
              <a:ea typeface="Calibri"/>
              <a:cs typeface="Calibri"/>
              <a:sym typeface="Calibri"/>
            </a:endParaRPr>
          </a:p>
        </p:txBody>
      </p:sp>
      <p:cxnSp>
        <p:nvCxnSpPr>
          <p:cNvPr id="399" name="Google Shape;399;p8"/>
          <p:cNvCxnSpPr/>
          <p:nvPr/>
        </p:nvCxnSpPr>
        <p:spPr>
          <a:xfrm flipH="1">
            <a:off x="5806433" y="2039496"/>
            <a:ext cx="1316737" cy="9675"/>
          </a:xfrm>
          <a:prstGeom prst="straightConnector1">
            <a:avLst/>
          </a:prstGeom>
          <a:noFill/>
          <a:ln cap="flat" cmpd="sng" w="12700">
            <a:solidFill>
              <a:srgbClr val="CB4F7F"/>
            </a:solidFill>
            <a:prstDash val="dash"/>
            <a:round/>
            <a:headEnd len="sm" w="sm" type="none"/>
            <a:tailEnd len="sm" w="sm" type="none"/>
          </a:ln>
        </p:spPr>
      </p:cxnSp>
      <p:cxnSp>
        <p:nvCxnSpPr>
          <p:cNvPr id="400" name="Google Shape;400;p8"/>
          <p:cNvCxnSpPr/>
          <p:nvPr/>
        </p:nvCxnSpPr>
        <p:spPr>
          <a:xfrm flipH="1" rot="10800000">
            <a:off x="1256700" y="1984088"/>
            <a:ext cx="1375800" cy="5100"/>
          </a:xfrm>
          <a:prstGeom prst="straightConnector1">
            <a:avLst/>
          </a:prstGeom>
          <a:noFill/>
          <a:ln cap="flat" cmpd="sng" w="9525">
            <a:solidFill>
              <a:schemeClr val="accent1"/>
            </a:solidFill>
            <a:prstDash val="solid"/>
            <a:miter lim="800000"/>
            <a:headEnd len="sm" w="sm" type="none"/>
            <a:tailEnd len="sm" w="sm" type="none"/>
          </a:ln>
        </p:spPr>
      </p:cxnSp>
      <p:cxnSp>
        <p:nvCxnSpPr>
          <p:cNvPr id="401" name="Google Shape;401;p8"/>
          <p:cNvCxnSpPr>
            <a:stCxn id="346" idx="1"/>
            <a:endCxn id="346" idx="1"/>
          </p:cNvCxnSpPr>
          <p:nvPr/>
        </p:nvCxnSpPr>
        <p:spPr>
          <a:xfrm>
            <a:off x="949975" y="2044250"/>
            <a:ext cx="0" cy="0"/>
          </a:xfrm>
          <a:prstGeom prst="straightConnector1">
            <a:avLst/>
          </a:prstGeom>
          <a:noFill/>
          <a:ln cap="flat" cmpd="sng" w="9525">
            <a:solidFill>
              <a:schemeClr val="accent1"/>
            </a:solidFill>
            <a:prstDash val="solid"/>
            <a:miter lim="800000"/>
            <a:headEnd len="sm" w="sm" type="none"/>
            <a:tailEnd len="sm" w="sm" type="none"/>
          </a:ln>
        </p:spPr>
      </p:cxnSp>
      <p:cxnSp>
        <p:nvCxnSpPr>
          <p:cNvPr id="402" name="Google Shape;402;p8"/>
          <p:cNvCxnSpPr>
            <a:stCxn id="346" idx="1"/>
            <a:endCxn id="346" idx="1"/>
          </p:cNvCxnSpPr>
          <p:nvPr/>
        </p:nvCxnSpPr>
        <p:spPr>
          <a:xfrm>
            <a:off x="949975" y="2044250"/>
            <a:ext cx="0" cy="0"/>
          </a:xfrm>
          <a:prstGeom prst="straightConnector1">
            <a:avLst/>
          </a:prstGeom>
          <a:noFill/>
          <a:ln cap="flat" cmpd="sng" w="9525">
            <a:solidFill>
              <a:schemeClr val="accent1"/>
            </a:solidFill>
            <a:prstDash val="solid"/>
            <a:miter lim="800000"/>
            <a:headEnd len="sm" w="sm" type="none"/>
            <a:tailEnd len="sm" w="sm" type="none"/>
          </a:ln>
        </p:spPr>
      </p:cxnSp>
      <p:cxnSp>
        <p:nvCxnSpPr>
          <p:cNvPr id="403" name="Google Shape;403;p8"/>
          <p:cNvCxnSpPr/>
          <p:nvPr/>
        </p:nvCxnSpPr>
        <p:spPr>
          <a:xfrm flipH="1" rot="10800000">
            <a:off x="1321303" y="2089103"/>
            <a:ext cx="2980200" cy="4800"/>
          </a:xfrm>
          <a:prstGeom prst="straightConnector1">
            <a:avLst/>
          </a:prstGeom>
          <a:noFill/>
          <a:ln cap="flat" cmpd="sng" w="9525">
            <a:solidFill>
              <a:schemeClr val="accent1"/>
            </a:solidFill>
            <a:prstDash val="solid"/>
            <a:miter lim="800000"/>
            <a:headEnd len="sm" w="sm" type="none"/>
            <a:tailEnd len="sm" w="sm" type="none"/>
          </a:ln>
        </p:spPr>
      </p:cxnSp>
      <p:cxnSp>
        <p:nvCxnSpPr>
          <p:cNvPr id="404" name="Google Shape;404;p8"/>
          <p:cNvCxnSpPr/>
          <p:nvPr/>
        </p:nvCxnSpPr>
        <p:spPr>
          <a:xfrm>
            <a:off x="1321300" y="2174213"/>
            <a:ext cx="1282800" cy="600"/>
          </a:xfrm>
          <a:prstGeom prst="straightConnector1">
            <a:avLst/>
          </a:prstGeom>
          <a:noFill/>
          <a:ln cap="flat" cmpd="sng" w="9525">
            <a:solidFill>
              <a:schemeClr val="accent1"/>
            </a:solidFill>
            <a:prstDash val="solid"/>
            <a:miter lim="800000"/>
            <a:headEnd len="sm" w="sm" type="none"/>
            <a:tailEnd len="sm" w="sm" type="none"/>
          </a:ln>
        </p:spPr>
      </p:cxnSp>
      <p:cxnSp>
        <p:nvCxnSpPr>
          <p:cNvPr id="405" name="Google Shape;405;p8"/>
          <p:cNvCxnSpPr/>
          <p:nvPr/>
        </p:nvCxnSpPr>
        <p:spPr>
          <a:xfrm>
            <a:off x="1257650" y="1976300"/>
            <a:ext cx="0" cy="184800"/>
          </a:xfrm>
          <a:prstGeom prst="straightConnector1">
            <a:avLst/>
          </a:prstGeom>
          <a:noFill/>
          <a:ln cap="flat" cmpd="sng" w="9525">
            <a:solidFill>
              <a:schemeClr val="accent1"/>
            </a:solidFill>
            <a:prstDash val="solid"/>
            <a:miter lim="800000"/>
            <a:headEnd len="sm" w="sm" type="none"/>
            <a:tailEnd len="sm" w="sm" type="none"/>
          </a:ln>
        </p:spPr>
      </p:cxnSp>
      <p:sp>
        <p:nvSpPr>
          <p:cNvPr id="406" name="Google Shape;406;p8"/>
          <p:cNvSpPr/>
          <p:nvPr/>
        </p:nvSpPr>
        <p:spPr>
          <a:xfrm>
            <a:off x="2637309" y="2193803"/>
            <a:ext cx="130200" cy="111000"/>
          </a:xfrm>
          <a:prstGeom prst="ellipse">
            <a:avLst/>
          </a:prstGeom>
          <a:solidFill>
            <a:schemeClr val="accent1"/>
          </a:solidFill>
          <a:ln cap="flat" cmpd="sng" w="12700">
            <a:solidFill>
              <a:srgbClr val="1C305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07" name="Google Shape;407;p8"/>
          <p:cNvSpPr txBox="1"/>
          <p:nvPr/>
        </p:nvSpPr>
        <p:spPr>
          <a:xfrm>
            <a:off x="2470234" y="2255118"/>
            <a:ext cx="528900" cy="153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00"/>
              <a:buFont typeface="Arial"/>
              <a:buNone/>
            </a:pPr>
            <a:r>
              <a:rPr b="0" i="0" lang="en-US" sz="400" u="none" cap="none" strike="noStrike">
                <a:solidFill>
                  <a:schemeClr val="dk1"/>
                </a:solidFill>
                <a:latin typeface="Calibri"/>
                <a:ea typeface="Calibri"/>
                <a:cs typeface="Calibri"/>
                <a:sym typeface="Calibri"/>
              </a:rPr>
              <a:t>Staff guiding pax</a:t>
            </a:r>
            <a:endParaRPr b="0" i="0" sz="1400" u="none" cap="none" strike="noStrike">
              <a:solidFill>
                <a:srgbClr val="000000"/>
              </a:solidFill>
              <a:latin typeface="Arial"/>
              <a:ea typeface="Arial"/>
              <a:cs typeface="Arial"/>
              <a:sym typeface="Arial"/>
            </a:endParaRPr>
          </a:p>
        </p:txBody>
      </p:sp>
      <p:cxnSp>
        <p:nvCxnSpPr>
          <p:cNvPr id="408" name="Google Shape;408;p8"/>
          <p:cNvCxnSpPr/>
          <p:nvPr/>
        </p:nvCxnSpPr>
        <p:spPr>
          <a:xfrm>
            <a:off x="4904508" y="2086440"/>
            <a:ext cx="860784" cy="14181"/>
          </a:xfrm>
          <a:prstGeom prst="straightConnector1">
            <a:avLst/>
          </a:prstGeom>
          <a:noFill/>
          <a:ln cap="flat" cmpd="sng" w="9525">
            <a:solidFill>
              <a:srgbClr val="CB4F7F"/>
            </a:solidFill>
            <a:prstDash val="solid"/>
            <a:round/>
            <a:headEnd len="sm" w="sm" type="none"/>
            <a:tailEnd len="sm" w="sm" type="none"/>
          </a:ln>
        </p:spPr>
      </p:cxnSp>
      <p:cxnSp>
        <p:nvCxnSpPr>
          <p:cNvPr id="409" name="Google Shape;409;p8"/>
          <p:cNvCxnSpPr/>
          <p:nvPr/>
        </p:nvCxnSpPr>
        <p:spPr>
          <a:xfrm rot="10800000">
            <a:off x="5763260" y="2106625"/>
            <a:ext cx="2030" cy="93600"/>
          </a:xfrm>
          <a:prstGeom prst="straightConnector1">
            <a:avLst/>
          </a:prstGeom>
          <a:noFill/>
          <a:ln cap="flat" cmpd="sng" w="9525">
            <a:solidFill>
              <a:srgbClr val="CB4F7F"/>
            </a:solidFill>
            <a:prstDash val="solid"/>
            <a:round/>
            <a:headEnd len="sm" w="sm" type="none"/>
            <a:tailEnd len="sm" w="sm" type="none"/>
          </a:ln>
        </p:spPr>
      </p:cxnSp>
      <p:cxnSp>
        <p:nvCxnSpPr>
          <p:cNvPr id="410" name="Google Shape;410;p8"/>
          <p:cNvCxnSpPr/>
          <p:nvPr/>
        </p:nvCxnSpPr>
        <p:spPr>
          <a:xfrm flipH="1" rot="10800000">
            <a:off x="4910639" y="1999181"/>
            <a:ext cx="1" cy="95155"/>
          </a:xfrm>
          <a:prstGeom prst="straightConnector1">
            <a:avLst/>
          </a:prstGeom>
          <a:noFill/>
          <a:ln cap="flat" cmpd="sng" w="9525">
            <a:solidFill>
              <a:srgbClr val="CB4F7F"/>
            </a:solidFill>
            <a:prstDash val="solid"/>
            <a:round/>
            <a:headEnd len="sm" w="sm" type="none"/>
            <a:tailEnd len="sm" w="sm" type="none"/>
          </a:ln>
        </p:spPr>
      </p:cxnSp>
      <p:cxnSp>
        <p:nvCxnSpPr>
          <p:cNvPr id="411" name="Google Shape;411;p8"/>
          <p:cNvCxnSpPr/>
          <p:nvPr/>
        </p:nvCxnSpPr>
        <p:spPr>
          <a:xfrm>
            <a:off x="4298730" y="1960826"/>
            <a:ext cx="0" cy="120153"/>
          </a:xfrm>
          <a:prstGeom prst="straightConnector1">
            <a:avLst/>
          </a:prstGeom>
          <a:noFill/>
          <a:ln cap="flat" cmpd="sng" w="9525">
            <a:solidFill>
              <a:schemeClr val="accent1"/>
            </a:solidFill>
            <a:prstDash val="solid"/>
            <a:miter lim="800000"/>
            <a:headEnd len="sm" w="sm" type="none"/>
            <a:tailEnd len="sm" w="sm" type="none"/>
          </a:ln>
        </p:spPr>
      </p:cxnSp>
      <p:sp>
        <p:nvSpPr>
          <p:cNvPr id="412" name="Google Shape;412;p8"/>
          <p:cNvSpPr/>
          <p:nvPr/>
        </p:nvSpPr>
        <p:spPr>
          <a:xfrm>
            <a:off x="949875" y="3135479"/>
            <a:ext cx="5286900" cy="354000"/>
          </a:xfrm>
          <a:prstGeom prst="rect">
            <a:avLst/>
          </a:prstGeom>
          <a:solidFill>
            <a:schemeClr val="dk1"/>
          </a:solidFill>
          <a:ln cap="flat" cmpd="sng" w="1905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800"/>
              <a:buFont typeface="Arial"/>
              <a:buNone/>
            </a:pPr>
            <a:r>
              <a:rPr b="1" i="0" lang="en-US" sz="800" u="none" cap="none" strike="noStrike">
                <a:solidFill>
                  <a:srgbClr val="E67E22"/>
                </a:solidFill>
                <a:latin typeface="Gill Sans"/>
                <a:ea typeface="Gill Sans"/>
                <a:cs typeface="Gill Sans"/>
                <a:sym typeface="Gill Sans"/>
              </a:rPr>
              <a:t>Buffer zone between the passport control and baggage reclaim</a:t>
            </a:r>
            <a:endParaRPr b="0" i="0" sz="800" u="none" cap="none" strike="noStrike">
              <a:solidFill>
                <a:schemeClr val="lt1"/>
              </a:solidFill>
              <a:latin typeface="Gill Sans"/>
              <a:ea typeface="Gill Sans"/>
              <a:cs typeface="Gill Sans"/>
              <a:sym typeface="Gill Sans"/>
            </a:endParaRPr>
          </a:p>
        </p:txBody>
      </p:sp>
      <p:sp>
        <p:nvSpPr>
          <p:cNvPr id="413" name="Google Shape;413;p8"/>
          <p:cNvSpPr txBox="1"/>
          <p:nvPr/>
        </p:nvSpPr>
        <p:spPr>
          <a:xfrm>
            <a:off x="1345481" y="592531"/>
            <a:ext cx="527328" cy="13849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00"/>
              <a:buFont typeface="Arial"/>
              <a:buNone/>
            </a:pPr>
            <a:r>
              <a:t/>
            </a:r>
            <a:endParaRPr b="0" i="0" sz="300" u="none" cap="none" strike="noStrike">
              <a:solidFill>
                <a:schemeClr val="dk1"/>
              </a:solidFill>
              <a:latin typeface="Calibri"/>
              <a:ea typeface="Calibri"/>
              <a:cs typeface="Calibri"/>
              <a:sym typeface="Calibri"/>
            </a:endParaRPr>
          </a:p>
        </p:txBody>
      </p:sp>
      <p:cxnSp>
        <p:nvCxnSpPr>
          <p:cNvPr id="414" name="Google Shape;414;p8"/>
          <p:cNvCxnSpPr/>
          <p:nvPr/>
        </p:nvCxnSpPr>
        <p:spPr>
          <a:xfrm flipH="1" rot="10800000">
            <a:off x="2922925" y="1968438"/>
            <a:ext cx="1375800" cy="5100"/>
          </a:xfrm>
          <a:prstGeom prst="straightConnector1">
            <a:avLst/>
          </a:prstGeom>
          <a:noFill/>
          <a:ln cap="flat" cmpd="sng" w="9525">
            <a:solidFill>
              <a:schemeClr val="accent1"/>
            </a:solidFill>
            <a:prstDash val="solid"/>
            <a:miter lim="800000"/>
            <a:headEnd len="sm" w="sm" type="none"/>
            <a:tailEnd len="sm" w="sm" type="none"/>
          </a:ln>
        </p:spPr>
      </p:cxn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9" name="Shape 419"/>
        <p:cNvGrpSpPr/>
        <p:nvPr/>
      </p:nvGrpSpPr>
      <p:grpSpPr>
        <a:xfrm>
          <a:off x="0" y="0"/>
          <a:ext cx="0" cy="0"/>
          <a:chOff x="0" y="0"/>
          <a:chExt cx="0" cy="0"/>
        </a:xfrm>
      </p:grpSpPr>
      <p:sp>
        <p:nvSpPr>
          <p:cNvPr id="420" name="Google Shape;420;p9"/>
          <p:cNvSpPr/>
          <p:nvPr/>
        </p:nvSpPr>
        <p:spPr>
          <a:xfrm>
            <a:off x="0" y="0"/>
            <a:ext cx="9144000" cy="54864"/>
          </a:xfrm>
          <a:prstGeom prst="rect">
            <a:avLst/>
          </a:prstGeom>
          <a:solidFill>
            <a:srgbClr val="D4A84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21" name="Google Shape;421;p9"/>
          <p:cNvSpPr/>
          <p:nvPr/>
        </p:nvSpPr>
        <p:spPr>
          <a:xfrm>
            <a:off x="365749" y="164600"/>
            <a:ext cx="8302800" cy="369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900"/>
              <a:buFont typeface="Arial"/>
              <a:buNone/>
            </a:pPr>
            <a:r>
              <a:rPr b="1" lang="en-US" sz="1900">
                <a:solidFill>
                  <a:srgbClr val="CC0099"/>
                </a:solidFill>
                <a:latin typeface="Gill Sans"/>
                <a:ea typeface="Gill Sans"/>
                <a:cs typeface="Gill Sans"/>
                <a:sym typeface="Gill Sans"/>
              </a:rPr>
              <a:t>W</a:t>
            </a:r>
            <a:r>
              <a:rPr b="1" i="0" lang="en-US" sz="1900" u="none" cap="none" strike="noStrike">
                <a:solidFill>
                  <a:srgbClr val="CC0099"/>
                </a:solidFill>
                <a:latin typeface="Gill Sans"/>
                <a:ea typeface="Gill Sans"/>
                <a:cs typeface="Gill Sans"/>
                <a:sym typeface="Gill Sans"/>
              </a:rPr>
              <a:t>hy </a:t>
            </a:r>
            <a:r>
              <a:rPr b="1" lang="en-US" sz="1900">
                <a:solidFill>
                  <a:srgbClr val="CC0099"/>
                </a:solidFill>
                <a:latin typeface="Gill Sans"/>
                <a:ea typeface="Gill Sans"/>
                <a:cs typeface="Gill Sans"/>
                <a:sym typeface="Gill Sans"/>
              </a:rPr>
              <a:t>this</a:t>
            </a:r>
            <a:r>
              <a:rPr b="1" i="0" lang="en-US" sz="1900" u="none" cap="none" strike="noStrike">
                <a:solidFill>
                  <a:srgbClr val="CC0099"/>
                </a:solidFill>
                <a:latin typeface="Gill Sans"/>
                <a:ea typeface="Gill Sans"/>
                <a:cs typeface="Gill Sans"/>
                <a:sym typeface="Gill Sans"/>
              </a:rPr>
              <a:t> could matter for a reliable simulation :</a:t>
            </a:r>
            <a:endParaRPr b="1" i="0" sz="1900" u="none" cap="none" strike="noStrike">
              <a:solidFill>
                <a:srgbClr val="CC0099"/>
              </a:solidFill>
              <a:latin typeface="Gill Sans"/>
              <a:ea typeface="Gill Sans"/>
              <a:cs typeface="Gill Sans"/>
              <a:sym typeface="Gill Sans"/>
            </a:endParaRPr>
          </a:p>
        </p:txBody>
      </p:sp>
      <p:sp>
        <p:nvSpPr>
          <p:cNvPr id="422" name="Google Shape;422;p9"/>
          <p:cNvSpPr/>
          <p:nvPr/>
        </p:nvSpPr>
        <p:spPr>
          <a:xfrm>
            <a:off x="457200" y="566928"/>
            <a:ext cx="8229600"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1"/>
              </a:buClr>
              <a:buSzPts val="1100"/>
              <a:buFont typeface="Calibri"/>
              <a:buNone/>
            </a:pPr>
            <a:r>
              <a:t/>
            </a:r>
            <a:endParaRPr b="0" i="0" sz="1100" u="none" cap="none" strike="noStrike">
              <a:solidFill>
                <a:schemeClr val="dk1"/>
              </a:solidFill>
              <a:latin typeface="Calibri"/>
              <a:ea typeface="Calibri"/>
              <a:cs typeface="Calibri"/>
              <a:sym typeface="Calibri"/>
            </a:endParaRPr>
          </a:p>
        </p:txBody>
      </p:sp>
      <p:sp>
        <p:nvSpPr>
          <p:cNvPr id="423" name="Google Shape;423;p9"/>
          <p:cNvSpPr/>
          <p:nvPr/>
        </p:nvSpPr>
        <p:spPr>
          <a:xfrm>
            <a:off x="640080" y="4754880"/>
            <a:ext cx="3657600" cy="32004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900"/>
              <a:buFont typeface="Calibri"/>
              <a:buNone/>
            </a:pPr>
            <a:r>
              <a:t/>
            </a:r>
            <a:endParaRPr b="0" i="0" sz="900" u="none" cap="none" strike="noStrike">
              <a:solidFill>
                <a:schemeClr val="dk1"/>
              </a:solidFill>
              <a:latin typeface="Calibri"/>
              <a:ea typeface="Calibri"/>
              <a:cs typeface="Calibri"/>
              <a:sym typeface="Calibri"/>
            </a:endParaRPr>
          </a:p>
        </p:txBody>
      </p:sp>
      <p:sp>
        <p:nvSpPr>
          <p:cNvPr id="424" name="Google Shape;424;p9"/>
          <p:cNvSpPr/>
          <p:nvPr/>
        </p:nvSpPr>
        <p:spPr>
          <a:xfrm>
            <a:off x="365760" y="896112"/>
            <a:ext cx="8686800" cy="292608"/>
          </a:xfrm>
          <a:prstGeom prst="rect">
            <a:avLst/>
          </a:prstGeom>
          <a:solidFill>
            <a:srgbClr val="0B1D3A"/>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25" name="Google Shape;425;p9"/>
          <p:cNvSpPr/>
          <p:nvPr/>
        </p:nvSpPr>
        <p:spPr>
          <a:xfrm>
            <a:off x="438912" y="896112"/>
            <a:ext cx="1938528" cy="29260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850"/>
              <a:buFont typeface="Calibri"/>
              <a:buNone/>
            </a:pPr>
            <a:r>
              <a:rPr b="1" i="0" lang="en-US" sz="850" u="none" cap="none" strike="noStrike">
                <a:solidFill>
                  <a:srgbClr val="FFFFFF"/>
                </a:solidFill>
                <a:latin typeface="Gill Sans"/>
                <a:ea typeface="Gill Sans"/>
                <a:cs typeface="Gill Sans"/>
                <a:sym typeface="Gill Sans"/>
              </a:rPr>
              <a:t>Change</a:t>
            </a:r>
            <a:endParaRPr b="0" i="0" sz="850" u="none" cap="none" strike="noStrike">
              <a:solidFill>
                <a:schemeClr val="dk1"/>
              </a:solidFill>
              <a:latin typeface="Gill Sans"/>
              <a:ea typeface="Gill Sans"/>
              <a:cs typeface="Gill Sans"/>
              <a:sym typeface="Gill Sans"/>
            </a:endParaRPr>
          </a:p>
        </p:txBody>
      </p:sp>
      <p:sp>
        <p:nvSpPr>
          <p:cNvPr id="426" name="Google Shape;426;p9"/>
          <p:cNvSpPr/>
          <p:nvPr/>
        </p:nvSpPr>
        <p:spPr>
          <a:xfrm>
            <a:off x="2450592" y="896112"/>
            <a:ext cx="2212848" cy="29260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850"/>
              <a:buFont typeface="Calibri"/>
              <a:buNone/>
            </a:pPr>
            <a:r>
              <a:rPr b="1" i="0" lang="en-US" sz="850" u="none" cap="none" strike="noStrike">
                <a:solidFill>
                  <a:srgbClr val="FFFFFF"/>
                </a:solidFill>
                <a:latin typeface="Gill Sans"/>
                <a:ea typeface="Gill Sans"/>
                <a:cs typeface="Gill Sans"/>
                <a:sym typeface="Gill Sans"/>
              </a:rPr>
              <a:t>Original layout</a:t>
            </a:r>
            <a:endParaRPr b="0" i="0" sz="850" u="none" cap="none" strike="noStrike">
              <a:solidFill>
                <a:schemeClr val="dk1"/>
              </a:solidFill>
              <a:latin typeface="Gill Sans"/>
              <a:ea typeface="Gill Sans"/>
              <a:cs typeface="Gill Sans"/>
              <a:sym typeface="Gill Sans"/>
            </a:endParaRPr>
          </a:p>
        </p:txBody>
      </p:sp>
      <p:sp>
        <p:nvSpPr>
          <p:cNvPr id="427" name="Google Shape;427;p9"/>
          <p:cNvSpPr/>
          <p:nvPr/>
        </p:nvSpPr>
        <p:spPr>
          <a:xfrm>
            <a:off x="4736592" y="896112"/>
            <a:ext cx="2212848" cy="29260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850"/>
              <a:buFont typeface="Calibri"/>
              <a:buNone/>
            </a:pPr>
            <a:r>
              <a:rPr b="1" i="0" lang="en-US" sz="850" u="none" cap="none" strike="noStrike">
                <a:solidFill>
                  <a:srgbClr val="FFFFFF"/>
                </a:solidFill>
                <a:latin typeface="Gill Sans"/>
                <a:ea typeface="Gill Sans"/>
                <a:cs typeface="Gill Sans"/>
                <a:sym typeface="Gill Sans"/>
              </a:rPr>
              <a:t>Improved layout</a:t>
            </a:r>
            <a:endParaRPr b="0" i="0" sz="850" u="none" cap="none" strike="noStrike">
              <a:solidFill>
                <a:schemeClr val="dk1"/>
              </a:solidFill>
              <a:latin typeface="Gill Sans"/>
              <a:ea typeface="Gill Sans"/>
              <a:cs typeface="Gill Sans"/>
              <a:sym typeface="Gill Sans"/>
            </a:endParaRPr>
          </a:p>
        </p:txBody>
      </p:sp>
      <p:sp>
        <p:nvSpPr>
          <p:cNvPr id="428" name="Google Shape;428;p9"/>
          <p:cNvSpPr/>
          <p:nvPr/>
        </p:nvSpPr>
        <p:spPr>
          <a:xfrm>
            <a:off x="7022592" y="896112"/>
            <a:ext cx="2029968" cy="29260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850"/>
              <a:buFont typeface="Calibri"/>
              <a:buNone/>
            </a:pPr>
            <a:r>
              <a:rPr b="1" i="0" lang="en-US" sz="850" u="none" cap="none" strike="noStrike">
                <a:solidFill>
                  <a:srgbClr val="FFFFFF"/>
                </a:solidFill>
                <a:latin typeface="Gill Sans"/>
                <a:ea typeface="Gill Sans"/>
                <a:cs typeface="Gill Sans"/>
                <a:sym typeface="Gill Sans"/>
              </a:rPr>
              <a:t>Simulation impact</a:t>
            </a:r>
            <a:endParaRPr b="0" i="0" sz="850" u="none" cap="none" strike="noStrike">
              <a:solidFill>
                <a:schemeClr val="dk1"/>
              </a:solidFill>
              <a:latin typeface="Gill Sans"/>
              <a:ea typeface="Gill Sans"/>
              <a:cs typeface="Gill Sans"/>
              <a:sym typeface="Gill Sans"/>
            </a:endParaRPr>
          </a:p>
        </p:txBody>
      </p:sp>
      <p:sp>
        <p:nvSpPr>
          <p:cNvPr id="429" name="Google Shape;429;p9"/>
          <p:cNvSpPr/>
          <p:nvPr/>
        </p:nvSpPr>
        <p:spPr>
          <a:xfrm>
            <a:off x="365760" y="1188720"/>
            <a:ext cx="8686800" cy="438912"/>
          </a:xfrm>
          <a:prstGeom prst="rect">
            <a:avLst/>
          </a:pr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30" name="Google Shape;430;p9"/>
          <p:cNvSpPr/>
          <p:nvPr/>
        </p:nvSpPr>
        <p:spPr>
          <a:xfrm>
            <a:off x="365760" y="1188720"/>
            <a:ext cx="36600" cy="438900"/>
          </a:xfrm>
          <a:prstGeom prst="rect">
            <a:avLst/>
          </a:pr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31" name="Google Shape;431;p9"/>
          <p:cNvSpPr/>
          <p:nvPr/>
        </p:nvSpPr>
        <p:spPr>
          <a:xfrm>
            <a:off x="475488" y="1188720"/>
            <a:ext cx="1828800" cy="43891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B1D3A"/>
              </a:buClr>
              <a:buSzPts val="750"/>
              <a:buFont typeface="Calibri"/>
              <a:buNone/>
            </a:pPr>
            <a:r>
              <a:rPr b="1" i="0" lang="en-US" sz="750" u="none" cap="none" strike="noStrike">
                <a:solidFill>
                  <a:srgbClr val="0B1D3A"/>
                </a:solidFill>
                <a:latin typeface="Gill Sans"/>
                <a:ea typeface="Gill Sans"/>
                <a:cs typeface="Gill Sans"/>
                <a:sym typeface="Gill Sans"/>
              </a:rPr>
              <a:t>Three immigration lanes instead of two</a:t>
            </a:r>
            <a:endParaRPr b="0" i="0" sz="750" u="none" cap="none" strike="noStrike">
              <a:solidFill>
                <a:schemeClr val="dk1"/>
              </a:solidFill>
              <a:latin typeface="Gill Sans"/>
              <a:ea typeface="Gill Sans"/>
              <a:cs typeface="Gill Sans"/>
              <a:sym typeface="Gill Sans"/>
            </a:endParaRPr>
          </a:p>
        </p:txBody>
      </p:sp>
      <p:sp>
        <p:nvSpPr>
          <p:cNvPr id="432" name="Google Shape;432;p9"/>
          <p:cNvSpPr/>
          <p:nvPr/>
        </p:nvSpPr>
        <p:spPr>
          <a:xfrm>
            <a:off x="2450592" y="1188720"/>
            <a:ext cx="2139696" cy="43891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0392B"/>
              </a:buClr>
              <a:buSzPts val="700"/>
              <a:buFont typeface="Calibri"/>
              <a:buNone/>
            </a:pPr>
            <a:r>
              <a:rPr b="0" i="0" lang="en-US" sz="700" u="none" cap="none" strike="noStrike">
                <a:solidFill>
                  <a:srgbClr val="C0392B"/>
                </a:solidFill>
                <a:latin typeface="Gill Sans"/>
                <a:ea typeface="Gill Sans"/>
                <a:cs typeface="Gill Sans"/>
                <a:sym typeface="Gill Sans"/>
              </a:rPr>
              <a:t>Two types: E-gates and manned desks</a:t>
            </a:r>
            <a:endParaRPr b="0" i="0" sz="700" u="none" cap="none" strike="noStrike">
              <a:solidFill>
                <a:schemeClr val="dk1"/>
              </a:solidFill>
              <a:latin typeface="Gill Sans"/>
              <a:ea typeface="Gill Sans"/>
              <a:cs typeface="Gill Sans"/>
              <a:sym typeface="Gill Sans"/>
            </a:endParaRPr>
          </a:p>
        </p:txBody>
      </p:sp>
      <p:sp>
        <p:nvSpPr>
          <p:cNvPr id="433" name="Google Shape;433;p9"/>
          <p:cNvSpPr/>
          <p:nvPr/>
        </p:nvSpPr>
        <p:spPr>
          <a:xfrm>
            <a:off x="4736592" y="1188720"/>
            <a:ext cx="2139696" cy="43891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7AE60"/>
              </a:buClr>
              <a:buSzPts val="700"/>
              <a:buFont typeface="Calibri"/>
              <a:buNone/>
            </a:pPr>
            <a:r>
              <a:rPr b="0" i="0" lang="en-US" sz="700" u="none" cap="none" strike="noStrike">
                <a:solidFill>
                  <a:srgbClr val="27AE60"/>
                </a:solidFill>
                <a:latin typeface="Gill Sans"/>
                <a:ea typeface="Gill Sans"/>
                <a:cs typeface="Gill Sans"/>
                <a:sym typeface="Gill Sans"/>
              </a:rPr>
              <a:t>Three lanes: E-gates, manned desks and special assistance (PRM/UM) desk.</a:t>
            </a:r>
            <a:endParaRPr b="0" i="0" sz="700" u="none" cap="none" strike="noStrike">
              <a:solidFill>
                <a:schemeClr val="dk1"/>
              </a:solidFill>
              <a:latin typeface="Gill Sans"/>
              <a:ea typeface="Gill Sans"/>
              <a:cs typeface="Gill Sans"/>
              <a:sym typeface="Gill Sans"/>
            </a:endParaRPr>
          </a:p>
        </p:txBody>
      </p:sp>
      <p:sp>
        <p:nvSpPr>
          <p:cNvPr id="434" name="Google Shape;434;p9"/>
          <p:cNvSpPr/>
          <p:nvPr/>
        </p:nvSpPr>
        <p:spPr>
          <a:xfrm>
            <a:off x="7022592" y="1188720"/>
            <a:ext cx="1956816" cy="43891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C3E50"/>
              </a:buClr>
              <a:buSzPts val="700"/>
              <a:buFont typeface="Calibri"/>
              <a:buNone/>
            </a:pPr>
            <a:r>
              <a:rPr b="0" i="1" lang="en-US" sz="700" u="none" cap="none" strike="noStrike">
                <a:solidFill>
                  <a:srgbClr val="2C3E50"/>
                </a:solidFill>
                <a:latin typeface="Gill Sans"/>
                <a:ea typeface="Gill Sans"/>
                <a:cs typeface="Gill Sans"/>
                <a:sym typeface="Gill Sans"/>
              </a:rPr>
              <a:t>This Enables accurate routing logic, passengers split across three channels each with different processing times</a:t>
            </a:r>
            <a:endParaRPr b="0" i="0" sz="700" u="none" cap="none" strike="noStrike">
              <a:solidFill>
                <a:schemeClr val="dk1"/>
              </a:solidFill>
              <a:latin typeface="Gill Sans"/>
              <a:ea typeface="Gill Sans"/>
              <a:cs typeface="Gill Sans"/>
              <a:sym typeface="Gill Sans"/>
            </a:endParaRPr>
          </a:p>
        </p:txBody>
      </p:sp>
      <p:sp>
        <p:nvSpPr>
          <p:cNvPr id="435" name="Google Shape;435;p9"/>
          <p:cNvSpPr/>
          <p:nvPr/>
        </p:nvSpPr>
        <p:spPr>
          <a:xfrm>
            <a:off x="365760" y="1627632"/>
            <a:ext cx="36576" cy="438912"/>
          </a:xfrm>
          <a:prstGeom prst="rect">
            <a:avLst/>
          </a:pr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36" name="Google Shape;436;p9"/>
          <p:cNvSpPr/>
          <p:nvPr/>
        </p:nvSpPr>
        <p:spPr>
          <a:xfrm>
            <a:off x="457200" y="2045970"/>
            <a:ext cx="1828800" cy="43891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B1D3A"/>
              </a:buClr>
              <a:buSzPts val="750"/>
              <a:buFont typeface="Calibri"/>
              <a:buNone/>
            </a:pPr>
            <a:r>
              <a:rPr b="1" i="0" lang="en-US" sz="750" u="none" cap="none" strike="noStrike">
                <a:solidFill>
                  <a:srgbClr val="0B1D3A"/>
                </a:solidFill>
                <a:latin typeface="Calibri"/>
                <a:ea typeface="Calibri"/>
                <a:cs typeface="Calibri"/>
                <a:sym typeface="Calibri"/>
              </a:rPr>
              <a:t>Serpentine queue with staff directed split</a:t>
            </a:r>
            <a:endParaRPr b="0" i="0" sz="750" u="none" cap="none" strike="noStrike">
              <a:solidFill>
                <a:schemeClr val="dk1"/>
              </a:solidFill>
              <a:latin typeface="Calibri"/>
              <a:ea typeface="Calibri"/>
              <a:cs typeface="Calibri"/>
              <a:sym typeface="Calibri"/>
            </a:endParaRPr>
          </a:p>
        </p:txBody>
      </p:sp>
      <p:sp>
        <p:nvSpPr>
          <p:cNvPr id="437" name="Google Shape;437;p9"/>
          <p:cNvSpPr/>
          <p:nvPr/>
        </p:nvSpPr>
        <p:spPr>
          <a:xfrm>
            <a:off x="2432304" y="2034541"/>
            <a:ext cx="2139696" cy="43891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0392B"/>
              </a:buClr>
              <a:buSzPts val="700"/>
              <a:buFont typeface="Calibri"/>
              <a:buNone/>
            </a:pPr>
            <a:r>
              <a:rPr b="0" i="0" lang="en-US" sz="700" u="none" cap="none" strike="noStrike">
                <a:solidFill>
                  <a:srgbClr val="C0392B"/>
                </a:solidFill>
                <a:latin typeface="Calibri"/>
                <a:ea typeface="Calibri"/>
                <a:cs typeface="Calibri"/>
                <a:sym typeface="Calibri"/>
              </a:rPr>
              <a:t>No queue management shown</a:t>
            </a:r>
            <a:endParaRPr b="0" i="0" sz="700" u="none" cap="none" strike="noStrike">
              <a:solidFill>
                <a:schemeClr val="dk1"/>
              </a:solidFill>
              <a:latin typeface="Calibri"/>
              <a:ea typeface="Calibri"/>
              <a:cs typeface="Calibri"/>
              <a:sym typeface="Calibri"/>
            </a:endParaRPr>
          </a:p>
        </p:txBody>
      </p:sp>
      <p:sp>
        <p:nvSpPr>
          <p:cNvPr id="438" name="Google Shape;438;p9"/>
          <p:cNvSpPr/>
          <p:nvPr/>
        </p:nvSpPr>
        <p:spPr>
          <a:xfrm>
            <a:off x="4736592" y="2041299"/>
            <a:ext cx="2139696" cy="43891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7AE60"/>
              </a:buClr>
              <a:buSzPts val="700"/>
              <a:buFont typeface="Calibri"/>
              <a:buNone/>
            </a:pPr>
            <a:r>
              <a:rPr b="0" i="0" lang="en-US" sz="700" u="none" cap="none" strike="noStrike">
                <a:solidFill>
                  <a:srgbClr val="27AE60"/>
                </a:solidFill>
                <a:latin typeface="Calibri"/>
                <a:ea typeface="Calibri"/>
                <a:cs typeface="Calibri"/>
                <a:sym typeface="Calibri"/>
              </a:rPr>
              <a:t>Shared serpentine entry that splits into e gate and manned queues with staff directing passengers at the decision point</a:t>
            </a:r>
            <a:endParaRPr b="0" i="0" sz="700" u="none" cap="none" strike="noStrike">
              <a:solidFill>
                <a:schemeClr val="dk1"/>
              </a:solidFill>
              <a:latin typeface="Calibri"/>
              <a:ea typeface="Calibri"/>
              <a:cs typeface="Calibri"/>
              <a:sym typeface="Calibri"/>
            </a:endParaRPr>
          </a:p>
        </p:txBody>
      </p:sp>
      <p:sp>
        <p:nvSpPr>
          <p:cNvPr id="439" name="Google Shape;439;p9"/>
          <p:cNvSpPr/>
          <p:nvPr/>
        </p:nvSpPr>
        <p:spPr>
          <a:xfrm>
            <a:off x="7013448" y="2009348"/>
            <a:ext cx="1956816" cy="43891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C3E50"/>
              </a:buClr>
              <a:buSzPts val="700"/>
              <a:buFont typeface="Calibri"/>
              <a:buNone/>
            </a:pPr>
            <a:r>
              <a:rPr b="0" i="1" lang="en-US" sz="700" u="none" cap="none" strike="noStrike">
                <a:solidFill>
                  <a:srgbClr val="2C3E50"/>
                </a:solidFill>
                <a:latin typeface="Calibri"/>
                <a:ea typeface="Calibri"/>
                <a:cs typeface="Calibri"/>
                <a:sym typeface="Calibri"/>
              </a:rPr>
              <a:t>Allows modelling of dynamic queue behaviour so staff can redirect passengers to balance load across lanes in real time</a:t>
            </a:r>
            <a:endParaRPr b="0" i="0" sz="700" u="none" cap="none" strike="noStrike">
              <a:solidFill>
                <a:schemeClr val="dk1"/>
              </a:solidFill>
              <a:latin typeface="Calibri"/>
              <a:ea typeface="Calibri"/>
              <a:cs typeface="Calibri"/>
              <a:sym typeface="Calibri"/>
            </a:endParaRPr>
          </a:p>
        </p:txBody>
      </p:sp>
      <p:sp>
        <p:nvSpPr>
          <p:cNvPr id="440" name="Google Shape;440;p9"/>
          <p:cNvSpPr/>
          <p:nvPr/>
        </p:nvSpPr>
        <p:spPr>
          <a:xfrm>
            <a:off x="365760" y="2066544"/>
            <a:ext cx="36576" cy="438912"/>
          </a:xfrm>
          <a:prstGeom prst="rect">
            <a:avLst/>
          </a:pr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41" name="Google Shape;441;p9"/>
          <p:cNvSpPr/>
          <p:nvPr/>
        </p:nvSpPr>
        <p:spPr>
          <a:xfrm>
            <a:off x="475488" y="2066544"/>
            <a:ext cx="1828800" cy="43891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1"/>
              </a:buClr>
              <a:buSzPts val="750"/>
              <a:buFont typeface="Calibri"/>
              <a:buNone/>
            </a:pPr>
            <a:r>
              <a:t/>
            </a:r>
            <a:endParaRPr b="0" i="0" sz="750" u="none" cap="none" strike="noStrike">
              <a:solidFill>
                <a:schemeClr val="dk1"/>
              </a:solidFill>
              <a:latin typeface="Gill Sans"/>
              <a:ea typeface="Gill Sans"/>
              <a:cs typeface="Gill Sans"/>
              <a:sym typeface="Gill Sans"/>
            </a:endParaRPr>
          </a:p>
        </p:txBody>
      </p:sp>
      <p:sp>
        <p:nvSpPr>
          <p:cNvPr id="442" name="Google Shape;442;p9"/>
          <p:cNvSpPr/>
          <p:nvPr/>
        </p:nvSpPr>
        <p:spPr>
          <a:xfrm>
            <a:off x="2450592" y="2066544"/>
            <a:ext cx="2139696" cy="43891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1"/>
              </a:buClr>
              <a:buSzPts val="700"/>
              <a:buFont typeface="Calibri"/>
              <a:buNone/>
            </a:pPr>
            <a:r>
              <a:t/>
            </a:r>
            <a:endParaRPr b="0" i="0" sz="700" u="none" cap="none" strike="noStrike">
              <a:solidFill>
                <a:schemeClr val="dk1"/>
              </a:solidFill>
              <a:latin typeface="Calibri"/>
              <a:ea typeface="Calibri"/>
              <a:cs typeface="Calibri"/>
              <a:sym typeface="Calibri"/>
            </a:endParaRPr>
          </a:p>
        </p:txBody>
      </p:sp>
      <p:sp>
        <p:nvSpPr>
          <p:cNvPr id="443" name="Google Shape;443;p9"/>
          <p:cNvSpPr/>
          <p:nvPr/>
        </p:nvSpPr>
        <p:spPr>
          <a:xfrm>
            <a:off x="4736592" y="2066544"/>
            <a:ext cx="2139696" cy="43891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1"/>
              </a:buClr>
              <a:buSzPts val="700"/>
              <a:buFont typeface="Calibri"/>
              <a:buNone/>
            </a:pPr>
            <a:r>
              <a:t/>
            </a:r>
            <a:endParaRPr b="0" i="0" sz="700" u="none" cap="none" strike="noStrike">
              <a:solidFill>
                <a:schemeClr val="dk1"/>
              </a:solidFill>
              <a:latin typeface="Calibri"/>
              <a:ea typeface="Calibri"/>
              <a:cs typeface="Calibri"/>
              <a:sym typeface="Calibri"/>
            </a:endParaRPr>
          </a:p>
        </p:txBody>
      </p:sp>
      <p:sp>
        <p:nvSpPr>
          <p:cNvPr id="444" name="Google Shape;444;p9"/>
          <p:cNvSpPr/>
          <p:nvPr/>
        </p:nvSpPr>
        <p:spPr>
          <a:xfrm>
            <a:off x="7022592" y="2066544"/>
            <a:ext cx="1956816" cy="43891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1"/>
              </a:buClr>
              <a:buSzPts val="700"/>
              <a:buFont typeface="Calibri"/>
              <a:buNone/>
            </a:pPr>
            <a:r>
              <a:t/>
            </a:r>
            <a:endParaRPr b="0" i="0" sz="700" u="none" cap="none" strike="noStrike">
              <a:solidFill>
                <a:schemeClr val="dk1"/>
              </a:solidFill>
              <a:latin typeface="Calibri"/>
              <a:ea typeface="Calibri"/>
              <a:cs typeface="Calibri"/>
              <a:sym typeface="Calibri"/>
            </a:endParaRPr>
          </a:p>
        </p:txBody>
      </p:sp>
      <p:sp>
        <p:nvSpPr>
          <p:cNvPr id="445" name="Google Shape;445;p9"/>
          <p:cNvSpPr/>
          <p:nvPr/>
        </p:nvSpPr>
        <p:spPr>
          <a:xfrm>
            <a:off x="365760" y="2505456"/>
            <a:ext cx="8686800" cy="438912"/>
          </a:xfrm>
          <a:prstGeom prst="rect">
            <a:avLst/>
          </a:prstGeom>
          <a:solidFill>
            <a:srgbClr val="EAF4F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46" name="Google Shape;446;p9"/>
          <p:cNvSpPr/>
          <p:nvPr/>
        </p:nvSpPr>
        <p:spPr>
          <a:xfrm>
            <a:off x="365760" y="2505456"/>
            <a:ext cx="36576" cy="438912"/>
          </a:xfrm>
          <a:prstGeom prst="rect">
            <a:avLst/>
          </a:pr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47" name="Google Shape;447;p9"/>
          <p:cNvSpPr/>
          <p:nvPr/>
        </p:nvSpPr>
        <p:spPr>
          <a:xfrm>
            <a:off x="475488" y="2505456"/>
            <a:ext cx="1828800" cy="43891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B1D3A"/>
              </a:buClr>
              <a:buSzPts val="750"/>
              <a:buFont typeface="Calibri"/>
              <a:buNone/>
            </a:pPr>
            <a:r>
              <a:rPr b="1" i="0" lang="en-US" sz="750" u="none" cap="none" strike="noStrike">
                <a:solidFill>
                  <a:srgbClr val="0B1D3A"/>
                </a:solidFill>
                <a:latin typeface="Gill Sans"/>
                <a:ea typeface="Gill Sans"/>
                <a:cs typeface="Gill Sans"/>
                <a:sym typeface="Gill Sans"/>
              </a:rPr>
              <a:t>PRM escort route from airside</a:t>
            </a:r>
            <a:endParaRPr b="0" i="0" sz="750" u="none" cap="none" strike="noStrike">
              <a:solidFill>
                <a:schemeClr val="dk1"/>
              </a:solidFill>
              <a:latin typeface="Gill Sans"/>
              <a:ea typeface="Gill Sans"/>
              <a:cs typeface="Gill Sans"/>
              <a:sym typeface="Gill Sans"/>
            </a:endParaRPr>
          </a:p>
        </p:txBody>
      </p:sp>
      <p:sp>
        <p:nvSpPr>
          <p:cNvPr id="448" name="Google Shape;448;p9"/>
          <p:cNvSpPr/>
          <p:nvPr/>
        </p:nvSpPr>
        <p:spPr>
          <a:xfrm>
            <a:off x="2450592" y="2505456"/>
            <a:ext cx="2139696" cy="43891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0392B"/>
              </a:buClr>
              <a:buSzPts val="700"/>
              <a:buFont typeface="Calibri"/>
              <a:buNone/>
            </a:pPr>
            <a:r>
              <a:rPr b="0" i="0" lang="en-US" sz="700" u="none" cap="none" strike="noStrike">
                <a:solidFill>
                  <a:srgbClr val="C0392B"/>
                </a:solidFill>
                <a:latin typeface="Gill Sans"/>
                <a:ea typeface="Gill Sans"/>
                <a:cs typeface="Gill Sans"/>
                <a:sym typeface="Gill Sans"/>
              </a:rPr>
              <a:t>No PRM flow shown</a:t>
            </a:r>
            <a:endParaRPr b="0" i="0" sz="700" u="none" cap="none" strike="noStrike">
              <a:solidFill>
                <a:schemeClr val="dk1"/>
              </a:solidFill>
              <a:latin typeface="Gill Sans"/>
              <a:ea typeface="Gill Sans"/>
              <a:cs typeface="Gill Sans"/>
              <a:sym typeface="Gill Sans"/>
            </a:endParaRPr>
          </a:p>
        </p:txBody>
      </p:sp>
      <p:sp>
        <p:nvSpPr>
          <p:cNvPr id="449" name="Google Shape;449;p9"/>
          <p:cNvSpPr/>
          <p:nvPr/>
        </p:nvSpPr>
        <p:spPr>
          <a:xfrm>
            <a:off x="4736592" y="2505456"/>
            <a:ext cx="2139696" cy="43891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7AE60"/>
              </a:buClr>
              <a:buSzPts val="700"/>
              <a:buFont typeface="Calibri"/>
              <a:buNone/>
            </a:pPr>
            <a:r>
              <a:rPr b="0" i="0" lang="en-US" sz="700" u="none" cap="none" strike="noStrike">
                <a:solidFill>
                  <a:srgbClr val="27AE60"/>
                </a:solidFill>
                <a:latin typeface="Gill Sans"/>
                <a:ea typeface="Gill Sans"/>
                <a:cs typeface="Gill Sans"/>
                <a:sym typeface="Gill Sans"/>
              </a:rPr>
              <a:t>Dedicated dashed route from airside via ambulift directly into the special assistance desk or also for PRM pax assisted with escorts via jetbridge would no need to be crossing other flows</a:t>
            </a:r>
            <a:endParaRPr b="0" i="0" sz="700" u="none" cap="none" strike="noStrike">
              <a:solidFill>
                <a:schemeClr val="dk1"/>
              </a:solidFill>
              <a:latin typeface="Gill Sans"/>
              <a:ea typeface="Gill Sans"/>
              <a:cs typeface="Gill Sans"/>
              <a:sym typeface="Gill Sans"/>
            </a:endParaRPr>
          </a:p>
        </p:txBody>
      </p:sp>
      <p:sp>
        <p:nvSpPr>
          <p:cNvPr id="450" name="Google Shape;450;p9"/>
          <p:cNvSpPr/>
          <p:nvPr/>
        </p:nvSpPr>
        <p:spPr>
          <a:xfrm>
            <a:off x="7022592" y="2505456"/>
            <a:ext cx="1956816" cy="43891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C3E50"/>
              </a:buClr>
              <a:buSzPts val="700"/>
              <a:buFont typeface="Calibri"/>
              <a:buNone/>
            </a:pPr>
            <a:r>
              <a:rPr b="0" i="1" lang="en-US" sz="700" u="none" cap="none" strike="noStrike">
                <a:solidFill>
                  <a:srgbClr val="2C3E50"/>
                </a:solidFill>
                <a:latin typeface="Gill Sans"/>
                <a:ea typeface="Gill Sans"/>
                <a:cs typeface="Gill Sans"/>
                <a:sym typeface="Gill Sans"/>
              </a:rPr>
              <a:t>PRM passengers are a separate entity type with their own resource agents, ambulifts</a:t>
            </a:r>
            <a:endParaRPr b="0" i="0" sz="700" u="none" cap="none" strike="noStrike">
              <a:solidFill>
                <a:schemeClr val="dk1"/>
              </a:solidFill>
              <a:latin typeface="Gill Sans"/>
              <a:ea typeface="Gill Sans"/>
              <a:cs typeface="Gill Sans"/>
              <a:sym typeface="Gill Sans"/>
            </a:endParaRPr>
          </a:p>
        </p:txBody>
      </p:sp>
      <p:sp>
        <p:nvSpPr>
          <p:cNvPr id="451" name="Google Shape;451;p9"/>
          <p:cNvSpPr/>
          <p:nvPr/>
        </p:nvSpPr>
        <p:spPr>
          <a:xfrm>
            <a:off x="365760" y="2944368"/>
            <a:ext cx="8686800" cy="438912"/>
          </a:xfrm>
          <a:prstGeom prst="rect">
            <a:avLst/>
          </a:pr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52" name="Google Shape;452;p9"/>
          <p:cNvSpPr/>
          <p:nvPr/>
        </p:nvSpPr>
        <p:spPr>
          <a:xfrm>
            <a:off x="365760" y="2944368"/>
            <a:ext cx="36576" cy="438912"/>
          </a:xfrm>
          <a:prstGeom prst="rect">
            <a:avLst/>
          </a:pr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53" name="Google Shape;453;p9"/>
          <p:cNvSpPr/>
          <p:nvPr/>
        </p:nvSpPr>
        <p:spPr>
          <a:xfrm>
            <a:off x="475488" y="2944368"/>
            <a:ext cx="1828800" cy="43891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B1D3A"/>
              </a:buClr>
              <a:buSzPts val="750"/>
              <a:buFont typeface="Calibri"/>
              <a:buNone/>
            </a:pPr>
            <a:r>
              <a:rPr b="1" i="0" lang="en-US" sz="750" u="none" cap="none" strike="noStrike">
                <a:solidFill>
                  <a:srgbClr val="0B1D3A"/>
                </a:solidFill>
                <a:latin typeface="Gill Sans"/>
                <a:ea typeface="Gill Sans"/>
                <a:cs typeface="Gill Sans"/>
                <a:sym typeface="Gill Sans"/>
              </a:rPr>
              <a:t>Buffer zone between immigration and reclaim</a:t>
            </a:r>
            <a:endParaRPr b="0" i="0" sz="750" u="none" cap="none" strike="noStrike">
              <a:solidFill>
                <a:schemeClr val="dk1"/>
              </a:solidFill>
              <a:latin typeface="Gill Sans"/>
              <a:ea typeface="Gill Sans"/>
              <a:cs typeface="Gill Sans"/>
              <a:sym typeface="Gill Sans"/>
            </a:endParaRPr>
          </a:p>
        </p:txBody>
      </p:sp>
      <p:sp>
        <p:nvSpPr>
          <p:cNvPr id="454" name="Google Shape;454;p9"/>
          <p:cNvSpPr/>
          <p:nvPr/>
        </p:nvSpPr>
        <p:spPr>
          <a:xfrm>
            <a:off x="2450592" y="2944368"/>
            <a:ext cx="2139696" cy="43891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0392B"/>
              </a:buClr>
              <a:buSzPts val="700"/>
              <a:buFont typeface="Calibri"/>
              <a:buNone/>
            </a:pPr>
            <a:r>
              <a:rPr b="0" i="0" lang="en-US" sz="700" u="none" cap="none" strike="noStrike">
                <a:solidFill>
                  <a:srgbClr val="C0392B"/>
                </a:solidFill>
                <a:latin typeface="Gill Sans"/>
                <a:ea typeface="Gill Sans"/>
                <a:cs typeface="Gill Sans"/>
                <a:sym typeface="Gill Sans"/>
              </a:rPr>
              <a:t>Single narrow corridor labelled 'To baggage reclaim'</a:t>
            </a:r>
            <a:endParaRPr b="0" i="0" sz="700" u="none" cap="none" strike="noStrike">
              <a:solidFill>
                <a:schemeClr val="dk1"/>
              </a:solidFill>
              <a:latin typeface="Gill Sans"/>
              <a:ea typeface="Gill Sans"/>
              <a:cs typeface="Gill Sans"/>
              <a:sym typeface="Gill Sans"/>
            </a:endParaRPr>
          </a:p>
        </p:txBody>
      </p:sp>
      <p:sp>
        <p:nvSpPr>
          <p:cNvPr id="455" name="Google Shape;455;p9"/>
          <p:cNvSpPr/>
          <p:nvPr/>
        </p:nvSpPr>
        <p:spPr>
          <a:xfrm>
            <a:off x="4736592" y="2944368"/>
            <a:ext cx="2139696" cy="43891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7AE60"/>
              </a:buClr>
              <a:buSzPts val="700"/>
              <a:buFont typeface="Calibri"/>
              <a:buNone/>
            </a:pPr>
            <a:r>
              <a:rPr b="0" i="0" lang="en-US" sz="700" u="none" cap="none" strike="noStrike">
                <a:solidFill>
                  <a:srgbClr val="27AE60"/>
                </a:solidFill>
                <a:latin typeface="Gill Sans"/>
                <a:ea typeface="Gill Sans"/>
                <a:cs typeface="Gill Sans"/>
                <a:sym typeface="Gill Sans"/>
              </a:rPr>
              <a:t>Dedicated transition zone that absorbs surges when all three lanes release passengers simultaneously</a:t>
            </a:r>
            <a:endParaRPr b="0" i="0" sz="700" u="none" cap="none" strike="noStrike">
              <a:solidFill>
                <a:schemeClr val="dk1"/>
              </a:solidFill>
              <a:latin typeface="Gill Sans"/>
              <a:ea typeface="Gill Sans"/>
              <a:cs typeface="Gill Sans"/>
              <a:sym typeface="Gill Sans"/>
            </a:endParaRPr>
          </a:p>
        </p:txBody>
      </p:sp>
      <p:sp>
        <p:nvSpPr>
          <p:cNvPr id="456" name="Google Shape;456;p9"/>
          <p:cNvSpPr/>
          <p:nvPr/>
        </p:nvSpPr>
        <p:spPr>
          <a:xfrm>
            <a:off x="7022592" y="2944368"/>
            <a:ext cx="1956816" cy="43891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C3E50"/>
              </a:buClr>
              <a:buSzPts val="700"/>
              <a:buFont typeface="Calibri"/>
              <a:buNone/>
            </a:pPr>
            <a:r>
              <a:rPr b="0" i="1" lang="en-US" sz="700" u="none" cap="none" strike="noStrike">
                <a:solidFill>
                  <a:srgbClr val="2C3E50"/>
                </a:solidFill>
                <a:latin typeface="Gill Sans"/>
                <a:ea typeface="Gill Sans"/>
                <a:cs typeface="Gill Sans"/>
                <a:sym typeface="Gill Sans"/>
              </a:rPr>
              <a:t>Prevents the bottleneck that the simulation would otherwise flag at the immigration to the reclaim transition</a:t>
            </a:r>
            <a:endParaRPr b="0" i="0" sz="700" u="none" cap="none" strike="noStrike">
              <a:solidFill>
                <a:schemeClr val="dk1"/>
              </a:solidFill>
              <a:latin typeface="Gill Sans"/>
              <a:ea typeface="Gill Sans"/>
              <a:cs typeface="Gill Sans"/>
              <a:sym typeface="Gill Sans"/>
            </a:endParaRPr>
          </a:p>
        </p:txBody>
      </p:sp>
      <p:sp>
        <p:nvSpPr>
          <p:cNvPr id="457" name="Google Shape;457;p9"/>
          <p:cNvSpPr/>
          <p:nvPr/>
        </p:nvSpPr>
        <p:spPr>
          <a:xfrm>
            <a:off x="365760" y="3383280"/>
            <a:ext cx="8686800" cy="438912"/>
          </a:xfrm>
          <a:prstGeom prst="rect">
            <a:avLst/>
          </a:prstGeom>
          <a:solidFill>
            <a:srgbClr val="EAF4F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58" name="Google Shape;458;p9"/>
          <p:cNvSpPr/>
          <p:nvPr/>
        </p:nvSpPr>
        <p:spPr>
          <a:xfrm>
            <a:off x="365760" y="3383280"/>
            <a:ext cx="36576" cy="438912"/>
          </a:xfrm>
          <a:prstGeom prst="rect">
            <a:avLst/>
          </a:pr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59" name="Google Shape;459;p9"/>
          <p:cNvSpPr/>
          <p:nvPr/>
        </p:nvSpPr>
        <p:spPr>
          <a:xfrm>
            <a:off x="475488" y="3383280"/>
            <a:ext cx="1828800" cy="43891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B1D3A"/>
              </a:buClr>
              <a:buSzPts val="750"/>
              <a:buFont typeface="Calibri"/>
              <a:buNone/>
            </a:pPr>
            <a:r>
              <a:rPr b="1" i="0" lang="en-US" sz="750" u="none" cap="none" strike="noStrike">
                <a:solidFill>
                  <a:srgbClr val="0B1D3A"/>
                </a:solidFill>
                <a:latin typeface="Gill Sans"/>
                <a:ea typeface="Gill Sans"/>
                <a:cs typeface="Gill Sans"/>
                <a:sym typeface="Gill Sans"/>
              </a:rPr>
              <a:t>Third flexible reclaim belt</a:t>
            </a:r>
            <a:endParaRPr b="0" i="0" sz="750" u="none" cap="none" strike="noStrike">
              <a:solidFill>
                <a:schemeClr val="dk1"/>
              </a:solidFill>
              <a:latin typeface="Gill Sans"/>
              <a:ea typeface="Gill Sans"/>
              <a:cs typeface="Gill Sans"/>
              <a:sym typeface="Gill Sans"/>
            </a:endParaRPr>
          </a:p>
        </p:txBody>
      </p:sp>
      <p:sp>
        <p:nvSpPr>
          <p:cNvPr id="460" name="Google Shape;460;p9"/>
          <p:cNvSpPr/>
          <p:nvPr/>
        </p:nvSpPr>
        <p:spPr>
          <a:xfrm>
            <a:off x="2450592" y="3383280"/>
            <a:ext cx="2139696" cy="43891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0392B"/>
              </a:buClr>
              <a:buSzPts val="700"/>
              <a:buFont typeface="Calibri"/>
              <a:buNone/>
            </a:pPr>
            <a:r>
              <a:rPr b="0" i="0" lang="en-US" sz="700" u="none" cap="none" strike="noStrike">
                <a:solidFill>
                  <a:srgbClr val="C0392B"/>
                </a:solidFill>
                <a:latin typeface="Gill Sans"/>
                <a:ea typeface="Gill Sans"/>
                <a:cs typeface="Gill Sans"/>
                <a:sym typeface="Gill Sans"/>
              </a:rPr>
              <a:t>Two fixed belts</a:t>
            </a:r>
            <a:endParaRPr b="0" i="0" sz="700" u="none" cap="none" strike="noStrike">
              <a:solidFill>
                <a:schemeClr val="dk1"/>
              </a:solidFill>
              <a:latin typeface="Gill Sans"/>
              <a:ea typeface="Gill Sans"/>
              <a:cs typeface="Gill Sans"/>
              <a:sym typeface="Gill Sans"/>
            </a:endParaRPr>
          </a:p>
        </p:txBody>
      </p:sp>
      <p:sp>
        <p:nvSpPr>
          <p:cNvPr id="461" name="Google Shape;461;p9"/>
          <p:cNvSpPr/>
          <p:nvPr/>
        </p:nvSpPr>
        <p:spPr>
          <a:xfrm>
            <a:off x="4736592" y="3383280"/>
            <a:ext cx="2139696" cy="43891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7AE60"/>
              </a:buClr>
              <a:buSzPts val="700"/>
              <a:buFont typeface="Calibri"/>
              <a:buNone/>
            </a:pPr>
            <a:r>
              <a:rPr b="0" i="0" lang="en-US" sz="700" u="none" cap="none" strike="noStrike">
                <a:solidFill>
                  <a:srgbClr val="27AE60"/>
                </a:solidFill>
                <a:latin typeface="Gill Sans"/>
                <a:ea typeface="Gill Sans"/>
                <a:cs typeface="Gill Sans"/>
                <a:sym typeface="Gill Sans"/>
              </a:rPr>
              <a:t>Two permanent belts plus a third flex belt will be activated during the peak especially during summer time or when one becomes faulty</a:t>
            </a:r>
            <a:endParaRPr b="0" i="0" sz="700" u="none" cap="none" strike="noStrike">
              <a:solidFill>
                <a:schemeClr val="dk1"/>
              </a:solidFill>
              <a:latin typeface="Gill Sans"/>
              <a:ea typeface="Gill Sans"/>
              <a:cs typeface="Gill Sans"/>
              <a:sym typeface="Gill Sans"/>
            </a:endParaRPr>
          </a:p>
        </p:txBody>
      </p:sp>
      <p:sp>
        <p:nvSpPr>
          <p:cNvPr id="462" name="Google Shape;462;p9"/>
          <p:cNvSpPr/>
          <p:nvPr/>
        </p:nvSpPr>
        <p:spPr>
          <a:xfrm>
            <a:off x="7022592" y="3383280"/>
            <a:ext cx="1956816" cy="43891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C3E50"/>
              </a:buClr>
              <a:buSzPts val="700"/>
              <a:buFont typeface="Calibri"/>
              <a:buNone/>
            </a:pPr>
            <a:r>
              <a:rPr b="0" i="1" lang="en-US" sz="700" u="none" cap="none" strike="noStrike">
                <a:solidFill>
                  <a:srgbClr val="2C3E50"/>
                </a:solidFill>
                <a:latin typeface="Gill Sans"/>
                <a:ea typeface="Gill Sans"/>
                <a:cs typeface="Gill Sans"/>
                <a:sym typeface="Gill Sans"/>
              </a:rPr>
              <a:t>Enables scenario testing simulation can compare 2belt vs 3 belt performance during peak demand</a:t>
            </a:r>
            <a:endParaRPr b="0" i="0" sz="700" u="none" cap="none" strike="noStrike">
              <a:solidFill>
                <a:schemeClr val="dk1"/>
              </a:solidFill>
              <a:latin typeface="Gill Sans"/>
              <a:ea typeface="Gill Sans"/>
              <a:cs typeface="Gill Sans"/>
              <a:sym typeface="Gill Sans"/>
            </a:endParaRPr>
          </a:p>
        </p:txBody>
      </p:sp>
      <p:sp>
        <p:nvSpPr>
          <p:cNvPr id="463" name="Google Shape;463;p9"/>
          <p:cNvSpPr/>
          <p:nvPr/>
        </p:nvSpPr>
        <p:spPr>
          <a:xfrm>
            <a:off x="365760" y="3822192"/>
            <a:ext cx="8686800" cy="438912"/>
          </a:xfrm>
          <a:prstGeom prst="rect">
            <a:avLst/>
          </a:pr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64" name="Google Shape;464;p9"/>
          <p:cNvSpPr/>
          <p:nvPr/>
        </p:nvSpPr>
        <p:spPr>
          <a:xfrm>
            <a:off x="365760" y="3822192"/>
            <a:ext cx="36576" cy="438912"/>
          </a:xfrm>
          <a:prstGeom prst="rect">
            <a:avLst/>
          </a:pr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65" name="Google Shape;465;p9"/>
          <p:cNvSpPr/>
          <p:nvPr/>
        </p:nvSpPr>
        <p:spPr>
          <a:xfrm>
            <a:off x="475488" y="3822192"/>
            <a:ext cx="1828800" cy="43891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750"/>
              <a:buFont typeface="Arial"/>
              <a:buNone/>
            </a:pPr>
            <a:r>
              <a:rPr b="1" i="0" lang="en-US" sz="750" u="none" cap="none" strike="noStrike">
                <a:solidFill>
                  <a:srgbClr val="0B1D3A"/>
                </a:solidFill>
                <a:latin typeface="Gill Sans"/>
                <a:ea typeface="Gill Sans"/>
                <a:cs typeface="Gill Sans"/>
                <a:sym typeface="Gill Sans"/>
              </a:rPr>
              <a:t>Digital signage for real time routing</a:t>
            </a:r>
            <a:endParaRPr b="0" i="0" sz="750" u="none" cap="none" strike="noStrike">
              <a:solidFill>
                <a:schemeClr val="dk1"/>
              </a:solidFill>
              <a:latin typeface="Gill Sans"/>
              <a:ea typeface="Gill Sans"/>
              <a:cs typeface="Gill Sans"/>
              <a:sym typeface="Gill Sans"/>
            </a:endParaRPr>
          </a:p>
          <a:p>
            <a:pPr indent="0" lvl="0" marL="0" marR="0" rtl="0" algn="l">
              <a:lnSpc>
                <a:spcPct val="100000"/>
              </a:lnSpc>
              <a:spcBef>
                <a:spcPts val="0"/>
              </a:spcBef>
              <a:spcAft>
                <a:spcPts val="0"/>
              </a:spcAft>
              <a:buClr>
                <a:schemeClr val="dk1"/>
              </a:buClr>
              <a:buSzPts val="750"/>
              <a:buFont typeface="Calibri"/>
              <a:buNone/>
            </a:pPr>
            <a:r>
              <a:t/>
            </a:r>
            <a:endParaRPr b="0" i="0" sz="750" u="none" cap="none" strike="noStrike">
              <a:solidFill>
                <a:schemeClr val="dk1"/>
              </a:solidFill>
              <a:latin typeface="Gill Sans"/>
              <a:ea typeface="Gill Sans"/>
              <a:cs typeface="Gill Sans"/>
              <a:sym typeface="Gill Sans"/>
            </a:endParaRPr>
          </a:p>
        </p:txBody>
      </p:sp>
      <p:sp>
        <p:nvSpPr>
          <p:cNvPr id="466" name="Google Shape;466;p9"/>
          <p:cNvSpPr/>
          <p:nvPr/>
        </p:nvSpPr>
        <p:spPr>
          <a:xfrm>
            <a:off x="2450592" y="3822192"/>
            <a:ext cx="2139696" cy="43891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700"/>
              <a:buFont typeface="Arial"/>
              <a:buNone/>
            </a:pPr>
            <a:r>
              <a:rPr b="0" i="0" lang="en-US" sz="700" u="none" cap="none" strike="noStrike">
                <a:solidFill>
                  <a:srgbClr val="C0392B"/>
                </a:solidFill>
                <a:latin typeface="Gill Sans"/>
                <a:ea typeface="Gill Sans"/>
                <a:cs typeface="Gill Sans"/>
                <a:sym typeface="Gill Sans"/>
              </a:rPr>
              <a:t>No passenger guidance system</a:t>
            </a:r>
            <a:endParaRPr b="0" i="0" sz="700" u="none" cap="none" strike="noStrike">
              <a:solidFill>
                <a:schemeClr val="dk1"/>
              </a:solidFill>
              <a:latin typeface="Gill Sans"/>
              <a:ea typeface="Gill Sans"/>
              <a:cs typeface="Gill Sans"/>
              <a:sym typeface="Gill Sans"/>
            </a:endParaRPr>
          </a:p>
          <a:p>
            <a:pPr indent="0" lvl="0" marL="0" marR="0" rtl="0" algn="l">
              <a:lnSpc>
                <a:spcPct val="100000"/>
              </a:lnSpc>
              <a:spcBef>
                <a:spcPts val="0"/>
              </a:spcBef>
              <a:spcAft>
                <a:spcPts val="0"/>
              </a:spcAft>
              <a:buClr>
                <a:schemeClr val="dk1"/>
              </a:buClr>
              <a:buSzPts val="700"/>
              <a:buFont typeface="Calibri"/>
              <a:buNone/>
            </a:pPr>
            <a:r>
              <a:t/>
            </a:r>
            <a:endParaRPr b="0" i="0" sz="700" u="none" cap="none" strike="noStrike">
              <a:solidFill>
                <a:schemeClr val="dk1"/>
              </a:solidFill>
              <a:latin typeface="Gill Sans"/>
              <a:ea typeface="Gill Sans"/>
              <a:cs typeface="Gill Sans"/>
              <a:sym typeface="Gill Sans"/>
            </a:endParaRPr>
          </a:p>
        </p:txBody>
      </p:sp>
      <p:sp>
        <p:nvSpPr>
          <p:cNvPr id="467" name="Google Shape;467;p9"/>
          <p:cNvSpPr/>
          <p:nvPr/>
        </p:nvSpPr>
        <p:spPr>
          <a:xfrm>
            <a:off x="4736592" y="3822192"/>
            <a:ext cx="2139696" cy="43891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700"/>
              <a:buFont typeface="Arial"/>
              <a:buNone/>
            </a:pPr>
            <a:r>
              <a:rPr b="0" i="0" lang="en-US" sz="700" u="none" cap="none" strike="noStrike">
                <a:solidFill>
                  <a:srgbClr val="27AE60"/>
                </a:solidFill>
                <a:latin typeface="Gill Sans"/>
                <a:ea typeface="Gill Sans"/>
                <a:cs typeface="Gill Sans"/>
                <a:sym typeface="Gill Sans"/>
              </a:rPr>
              <a:t>Ceiling mounted displays showing live wait times per lane and guiding the passengers to the right queues</a:t>
            </a:r>
            <a:endParaRPr b="0" i="0" sz="700" u="none" cap="none" strike="noStrike">
              <a:solidFill>
                <a:schemeClr val="dk1"/>
              </a:solidFill>
              <a:latin typeface="Gill Sans"/>
              <a:ea typeface="Gill Sans"/>
              <a:cs typeface="Gill Sans"/>
              <a:sym typeface="Gill Sans"/>
            </a:endParaRPr>
          </a:p>
        </p:txBody>
      </p:sp>
      <p:sp>
        <p:nvSpPr>
          <p:cNvPr id="468" name="Google Shape;468;p9"/>
          <p:cNvSpPr/>
          <p:nvPr/>
        </p:nvSpPr>
        <p:spPr>
          <a:xfrm>
            <a:off x="7022592" y="3822192"/>
            <a:ext cx="1956816" cy="43891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700"/>
              <a:buFont typeface="Arial"/>
              <a:buNone/>
            </a:pPr>
            <a:r>
              <a:rPr b="0" i="1" lang="en-US" sz="700" u="none" cap="none" strike="noStrike">
                <a:solidFill>
                  <a:srgbClr val="2C3E50"/>
                </a:solidFill>
                <a:latin typeface="Gill Sans"/>
                <a:ea typeface="Gill Sans"/>
                <a:cs typeface="Gill Sans"/>
                <a:sym typeface="Gill Sans"/>
              </a:rPr>
              <a:t>Changes queue selection logic from fixed probability to dynamic  and passengers choose based on displayed wait times</a:t>
            </a:r>
            <a:endParaRPr b="0" i="0" sz="700" u="none" cap="none" strike="noStrike">
              <a:solidFill>
                <a:schemeClr val="dk1"/>
              </a:solidFill>
              <a:latin typeface="Gill Sans"/>
              <a:ea typeface="Gill Sans"/>
              <a:cs typeface="Gill Sans"/>
              <a:sym typeface="Gill Sans"/>
            </a:endParaRPr>
          </a:p>
        </p:txBody>
      </p:sp>
      <p:sp>
        <p:nvSpPr>
          <p:cNvPr id="469" name="Google Shape;469;p9"/>
          <p:cNvSpPr/>
          <p:nvPr/>
        </p:nvSpPr>
        <p:spPr>
          <a:xfrm>
            <a:off x="475488" y="4261104"/>
            <a:ext cx="1828800" cy="43891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1"/>
              </a:buClr>
              <a:buSzPts val="750"/>
              <a:buFont typeface="Calibri"/>
              <a:buNone/>
            </a:pPr>
            <a:r>
              <a:t/>
            </a:r>
            <a:endParaRPr b="0" i="0" sz="750" u="none" cap="none" strike="noStrike">
              <a:solidFill>
                <a:schemeClr val="dk1"/>
              </a:solidFill>
              <a:latin typeface="Calibri"/>
              <a:ea typeface="Calibri"/>
              <a:cs typeface="Calibri"/>
              <a:sym typeface="Calibri"/>
            </a:endParaRPr>
          </a:p>
        </p:txBody>
      </p:sp>
      <p:sp>
        <p:nvSpPr>
          <p:cNvPr id="470" name="Google Shape;470;p9"/>
          <p:cNvSpPr/>
          <p:nvPr/>
        </p:nvSpPr>
        <p:spPr>
          <a:xfrm>
            <a:off x="2450592" y="4261104"/>
            <a:ext cx="2139696" cy="43891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1"/>
              </a:buClr>
              <a:buSzPts val="700"/>
              <a:buFont typeface="Calibri"/>
              <a:buNone/>
            </a:pPr>
            <a:r>
              <a:t/>
            </a:r>
            <a:endParaRPr b="0" i="0" sz="700" u="none" cap="none" strike="noStrike">
              <a:solidFill>
                <a:schemeClr val="dk1"/>
              </a:solidFill>
              <a:latin typeface="Calibri"/>
              <a:ea typeface="Calibri"/>
              <a:cs typeface="Calibri"/>
              <a:sym typeface="Calibri"/>
            </a:endParaRPr>
          </a:p>
        </p:txBody>
      </p:sp>
      <p:sp>
        <p:nvSpPr>
          <p:cNvPr id="471" name="Google Shape;471;p9"/>
          <p:cNvSpPr/>
          <p:nvPr/>
        </p:nvSpPr>
        <p:spPr>
          <a:xfrm>
            <a:off x="4736592" y="4261104"/>
            <a:ext cx="2139696" cy="43891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1"/>
              </a:buClr>
              <a:buSzPts val="700"/>
              <a:buFont typeface="Calibri"/>
              <a:buNone/>
            </a:pPr>
            <a:r>
              <a:t/>
            </a:r>
            <a:endParaRPr b="0" i="0" sz="700" u="none" cap="none" strike="noStrike">
              <a:solidFill>
                <a:schemeClr val="dk1"/>
              </a:solidFill>
              <a:latin typeface="Calibri"/>
              <a:ea typeface="Calibri"/>
              <a:cs typeface="Calibri"/>
              <a:sym typeface="Calibri"/>
            </a:endParaRPr>
          </a:p>
        </p:txBody>
      </p:sp>
      <p:sp>
        <p:nvSpPr>
          <p:cNvPr id="472" name="Google Shape;472;p9"/>
          <p:cNvSpPr/>
          <p:nvPr/>
        </p:nvSpPr>
        <p:spPr>
          <a:xfrm>
            <a:off x="7022592" y="4261104"/>
            <a:ext cx="1956816" cy="43891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1"/>
              </a:buClr>
              <a:buSzPts val="700"/>
              <a:buFont typeface="Calibri"/>
              <a:buNone/>
            </a:pPr>
            <a:r>
              <a:t/>
            </a:r>
            <a:endParaRPr b="0" i="0" sz="700" u="none" cap="none" strike="noStrike">
              <a:solidFill>
                <a:schemeClr val="dk1"/>
              </a:solidFill>
              <a:latin typeface="Calibri"/>
              <a:ea typeface="Calibri"/>
              <a:cs typeface="Calibri"/>
              <a:sym typeface="Calibri"/>
            </a:endParaRPr>
          </a:p>
        </p:txBody>
      </p:sp>
      <p:sp>
        <p:nvSpPr>
          <p:cNvPr id="473" name="Google Shape;473;p9"/>
          <p:cNvSpPr/>
          <p:nvPr/>
        </p:nvSpPr>
        <p:spPr>
          <a:xfrm>
            <a:off x="393192" y="4229101"/>
            <a:ext cx="8686800" cy="45719"/>
          </a:xfrm>
          <a:prstGeom prst="rect">
            <a:avLst/>
          </a:prstGeom>
          <a:solidFill>
            <a:srgbClr val="0B1D3A"/>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74" name="Google Shape;474;p9"/>
          <p:cNvSpPr txBox="1"/>
          <p:nvPr/>
        </p:nvSpPr>
        <p:spPr>
          <a:xfrm>
            <a:off x="4200372" y="2263996"/>
            <a:ext cx="184731"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75" name="Google Shape;475;p9"/>
          <p:cNvSpPr/>
          <p:nvPr/>
        </p:nvSpPr>
        <p:spPr>
          <a:xfrm>
            <a:off x="429768" y="1638668"/>
            <a:ext cx="8686800" cy="438912"/>
          </a:xfrm>
          <a:prstGeom prst="rect">
            <a:avLst/>
          </a:prstGeom>
          <a:solidFill>
            <a:srgbClr val="EAF4F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chemeClr val="dk1"/>
              </a:solidFill>
              <a:latin typeface="Calibri"/>
              <a:ea typeface="Calibri"/>
              <a:cs typeface="Calibri"/>
              <a:sym typeface="Calibri"/>
            </a:endParaRPr>
          </a:p>
        </p:txBody>
      </p:sp>
      <p:sp>
        <p:nvSpPr>
          <p:cNvPr id="476" name="Google Shape;476;p9"/>
          <p:cNvSpPr txBox="1"/>
          <p:nvPr/>
        </p:nvSpPr>
        <p:spPr>
          <a:xfrm>
            <a:off x="393192" y="1724060"/>
            <a:ext cx="1732800" cy="323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50"/>
              <a:buFont typeface="Arial"/>
              <a:buNone/>
            </a:pPr>
            <a:r>
              <a:rPr b="1" i="0" lang="en-US" sz="750" u="none" cap="none" strike="noStrike">
                <a:solidFill>
                  <a:schemeClr val="dk1"/>
                </a:solidFill>
                <a:latin typeface="Gill Sans"/>
                <a:ea typeface="Gill Sans"/>
                <a:cs typeface="Gill Sans"/>
                <a:sym typeface="Gill Sans"/>
              </a:rPr>
              <a:t>Staff guiding passengers at queue split</a:t>
            </a:r>
            <a:endParaRPr b="1" i="0" sz="750" u="none" cap="none" strike="noStrike">
              <a:solidFill>
                <a:schemeClr val="dk1"/>
              </a:solidFill>
              <a:latin typeface="Gill Sans"/>
              <a:ea typeface="Gill Sans"/>
              <a:cs typeface="Gill Sans"/>
              <a:sym typeface="Gill Sans"/>
            </a:endParaRPr>
          </a:p>
        </p:txBody>
      </p:sp>
      <p:sp>
        <p:nvSpPr>
          <p:cNvPr id="477" name="Google Shape;477;p9"/>
          <p:cNvSpPr txBox="1"/>
          <p:nvPr/>
        </p:nvSpPr>
        <p:spPr>
          <a:xfrm>
            <a:off x="2377440" y="1683099"/>
            <a:ext cx="1822932" cy="20005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00"/>
              <a:buFont typeface="Arial"/>
              <a:buNone/>
            </a:pPr>
            <a:r>
              <a:rPr b="0" i="0" lang="en-US" sz="700" u="none" cap="none" strike="noStrike">
                <a:solidFill>
                  <a:srgbClr val="C00000"/>
                </a:solidFill>
                <a:latin typeface="Gill Sans"/>
                <a:ea typeface="Gill Sans"/>
                <a:cs typeface="Gill Sans"/>
                <a:sym typeface="Gill Sans"/>
              </a:rPr>
              <a:t>No staff or guidance shown in the layout</a:t>
            </a:r>
            <a:endParaRPr b="0" i="0" sz="700" u="none" cap="none" strike="noStrike">
              <a:solidFill>
                <a:srgbClr val="C00000"/>
              </a:solidFill>
              <a:latin typeface="Gill Sans"/>
              <a:ea typeface="Gill Sans"/>
              <a:cs typeface="Gill Sans"/>
              <a:sym typeface="Gill Sans"/>
            </a:endParaRPr>
          </a:p>
        </p:txBody>
      </p:sp>
      <p:sp>
        <p:nvSpPr>
          <p:cNvPr id="478" name="Google Shape;478;p9"/>
          <p:cNvSpPr txBox="1"/>
          <p:nvPr/>
        </p:nvSpPr>
        <p:spPr>
          <a:xfrm>
            <a:off x="4654296" y="1622008"/>
            <a:ext cx="2130552"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00"/>
              <a:buFont typeface="Arial"/>
              <a:buNone/>
            </a:pPr>
            <a:r>
              <a:rPr b="0" i="0" lang="en-US" sz="800" u="none" cap="none" strike="noStrike">
                <a:solidFill>
                  <a:schemeClr val="accent6"/>
                </a:solidFill>
                <a:latin typeface="Gill Sans"/>
                <a:ea typeface="Gill Sans"/>
                <a:cs typeface="Gill Sans"/>
                <a:sym typeface="Gill Sans"/>
              </a:rPr>
              <a:t>Staff positioned at the end of serpentine split point to direct passengers to the correct lane based on Nationality or passport type</a:t>
            </a:r>
            <a:endParaRPr b="0" i="0" sz="800" u="none" cap="none" strike="noStrike">
              <a:solidFill>
                <a:schemeClr val="accent6"/>
              </a:solidFill>
              <a:latin typeface="Gill Sans"/>
              <a:ea typeface="Gill Sans"/>
              <a:cs typeface="Gill Sans"/>
              <a:sym typeface="Gill Sans"/>
            </a:endParaRPr>
          </a:p>
        </p:txBody>
      </p:sp>
      <p:sp>
        <p:nvSpPr>
          <p:cNvPr id="479" name="Google Shape;479;p9"/>
          <p:cNvSpPr/>
          <p:nvPr/>
        </p:nvSpPr>
        <p:spPr>
          <a:xfrm>
            <a:off x="7004304" y="1610503"/>
            <a:ext cx="1956816" cy="43891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700"/>
              <a:buFont typeface="Arial"/>
              <a:buNone/>
            </a:pPr>
            <a:r>
              <a:rPr b="0" i="0" lang="en-US" sz="700" u="none" cap="none" strike="noStrike">
                <a:solidFill>
                  <a:schemeClr val="dk1"/>
                </a:solidFill>
                <a:latin typeface="Gill Sans"/>
                <a:ea typeface="Gill Sans"/>
                <a:cs typeface="Gill Sans"/>
                <a:sym typeface="Gill Sans"/>
              </a:rPr>
              <a:t>Enables dynamic queue balancing in the model  staff can redistribute passengers across lanes based on real time queue lengths</a:t>
            </a:r>
            <a:endParaRPr b="0" i="0" sz="700" u="none" cap="none" strike="noStrike">
              <a:solidFill>
                <a:schemeClr val="dk1"/>
              </a:solidFill>
              <a:latin typeface="Gill Sans"/>
              <a:ea typeface="Gill Sans"/>
              <a:cs typeface="Gill Sans"/>
              <a:sym typeface="Gill Sans"/>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4" name="Shape 484"/>
        <p:cNvGrpSpPr/>
        <p:nvPr/>
      </p:nvGrpSpPr>
      <p:grpSpPr>
        <a:xfrm>
          <a:off x="0" y="0"/>
          <a:ext cx="0" cy="0"/>
          <a:chOff x="0" y="0"/>
          <a:chExt cx="0" cy="0"/>
        </a:xfrm>
      </p:grpSpPr>
      <p:sp>
        <p:nvSpPr>
          <p:cNvPr id="485" name="Google Shape;485;p10"/>
          <p:cNvSpPr/>
          <p:nvPr/>
        </p:nvSpPr>
        <p:spPr>
          <a:xfrm>
            <a:off x="274325" y="115225"/>
            <a:ext cx="8099700" cy="329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CC0099"/>
                </a:solidFill>
                <a:latin typeface="Gill Sans"/>
                <a:ea typeface="Gill Sans"/>
                <a:cs typeface="Gill Sans"/>
                <a:sym typeface="Gill Sans"/>
              </a:rPr>
              <a:t>Simulation Approach ( Passenger Flow Paths )</a:t>
            </a:r>
            <a:endParaRPr b="0" i="0" sz="1800" u="none" cap="none" strike="noStrike">
              <a:solidFill>
                <a:srgbClr val="CC0099"/>
              </a:solidFill>
              <a:latin typeface="Gill Sans"/>
              <a:ea typeface="Gill Sans"/>
              <a:cs typeface="Gill Sans"/>
              <a:sym typeface="Gill Sans"/>
            </a:endParaRPr>
          </a:p>
        </p:txBody>
      </p:sp>
      <p:sp>
        <p:nvSpPr>
          <p:cNvPr id="486" name="Google Shape;486;p10"/>
          <p:cNvSpPr/>
          <p:nvPr/>
        </p:nvSpPr>
        <p:spPr>
          <a:xfrm>
            <a:off x="274325" y="427950"/>
            <a:ext cx="7918800" cy="180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945"/>
              <a:buFont typeface="Arial"/>
              <a:buNone/>
            </a:pPr>
            <a:r>
              <a:rPr b="0" i="1" lang="en-US" sz="945" u="none" cap="none" strike="noStrike">
                <a:solidFill>
                  <a:srgbClr val="5D6D7E"/>
                </a:solidFill>
                <a:latin typeface="Gill Sans"/>
                <a:ea typeface="Gill Sans"/>
                <a:cs typeface="Gill Sans"/>
                <a:sym typeface="Gill Sans"/>
              </a:rPr>
              <a:t>Three distinct passenger journeys through the system  from aircraft to exit</a:t>
            </a:r>
            <a:endParaRPr b="0" i="0" sz="945" u="none" cap="none" strike="noStrike">
              <a:solidFill>
                <a:schemeClr val="dk1"/>
              </a:solidFill>
              <a:latin typeface="Gill Sans"/>
              <a:ea typeface="Gill Sans"/>
              <a:cs typeface="Gill Sans"/>
              <a:sym typeface="Gill Sans"/>
            </a:endParaRPr>
          </a:p>
        </p:txBody>
      </p:sp>
      <p:sp>
        <p:nvSpPr>
          <p:cNvPr id="487" name="Google Shape;487;p10"/>
          <p:cNvSpPr/>
          <p:nvPr/>
        </p:nvSpPr>
        <p:spPr>
          <a:xfrm>
            <a:off x="992124" y="4896612"/>
            <a:ext cx="3291840" cy="20574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720"/>
              <a:buFont typeface="Arial"/>
              <a:buNone/>
            </a:pPr>
            <a:r>
              <a:t/>
            </a:r>
            <a:endParaRPr b="0" i="0" sz="720" u="none" cap="none" strike="noStrike">
              <a:solidFill>
                <a:schemeClr val="dk1"/>
              </a:solidFill>
              <a:latin typeface="Calibri"/>
              <a:ea typeface="Calibri"/>
              <a:cs typeface="Calibri"/>
              <a:sym typeface="Calibri"/>
            </a:endParaRPr>
          </a:p>
        </p:txBody>
      </p:sp>
      <p:sp>
        <p:nvSpPr>
          <p:cNvPr id="488" name="Google Shape;488;p10"/>
          <p:cNvSpPr/>
          <p:nvPr/>
        </p:nvSpPr>
        <p:spPr>
          <a:xfrm>
            <a:off x="274325" y="1060728"/>
            <a:ext cx="868800" cy="759000"/>
          </a:xfrm>
          <a:prstGeom prst="rect">
            <a:avLst/>
          </a:prstGeom>
          <a:solidFill>
            <a:srgbClr val="0E7C8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9" name="Google Shape;489;p10"/>
          <p:cNvSpPr/>
          <p:nvPr/>
        </p:nvSpPr>
        <p:spPr>
          <a:xfrm>
            <a:off x="274325" y="1060625"/>
            <a:ext cx="868800" cy="759000"/>
          </a:xfrm>
          <a:prstGeom prst="rect">
            <a:avLst/>
          </a:prstGeom>
          <a:noFill/>
          <a:ln>
            <a:noFill/>
          </a:ln>
        </p:spPr>
        <p:txBody>
          <a:bodyPr anchorCtr="0" anchor="ctr" bIns="25400" lIns="25400" spcFirstLastPara="1" rIns="25400" wrap="square" tIns="25400">
            <a:noAutofit/>
          </a:bodyPr>
          <a:lstStyle/>
          <a:p>
            <a:pPr indent="0" lvl="0" marL="0" marR="0" rtl="0" algn="ctr">
              <a:lnSpc>
                <a:spcPct val="100000"/>
              </a:lnSpc>
              <a:spcBef>
                <a:spcPts val="0"/>
              </a:spcBef>
              <a:spcAft>
                <a:spcPts val="0"/>
              </a:spcAft>
              <a:buClr>
                <a:srgbClr val="FFFFFF"/>
              </a:buClr>
              <a:buSzPts val="800"/>
              <a:buFont typeface="Calibri"/>
              <a:buNone/>
            </a:pPr>
            <a:r>
              <a:rPr b="1" i="0" lang="en-US" sz="800" u="none" cap="none" strike="noStrike">
                <a:solidFill>
                  <a:srgbClr val="FFFFFF"/>
                </a:solidFill>
                <a:latin typeface="Calibri"/>
                <a:ea typeface="Calibri"/>
                <a:cs typeface="Calibri"/>
                <a:sym typeface="Calibri"/>
              </a:rPr>
              <a:t>Standard passenger (airbridge)</a:t>
            </a:r>
            <a:endParaRPr b="0" i="0" sz="800" u="none" cap="none" strike="noStrike">
              <a:solidFill>
                <a:schemeClr val="dk1"/>
              </a:solidFill>
              <a:latin typeface="Calibri"/>
              <a:ea typeface="Calibri"/>
              <a:cs typeface="Calibri"/>
              <a:sym typeface="Calibri"/>
            </a:endParaRPr>
          </a:p>
        </p:txBody>
      </p:sp>
      <p:sp>
        <p:nvSpPr>
          <p:cNvPr id="490" name="Google Shape;490;p10"/>
          <p:cNvSpPr/>
          <p:nvPr/>
        </p:nvSpPr>
        <p:spPr>
          <a:xfrm>
            <a:off x="1280160" y="1188720"/>
            <a:ext cx="742800" cy="502800"/>
          </a:xfrm>
          <a:prstGeom prst="rect">
            <a:avLst/>
          </a:prstGeom>
          <a:solidFill>
            <a:srgbClr val="0E7C8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1" name="Google Shape;491;p10"/>
          <p:cNvSpPr/>
          <p:nvPr/>
        </p:nvSpPr>
        <p:spPr>
          <a:xfrm>
            <a:off x="1280160" y="1188720"/>
            <a:ext cx="742800" cy="502800"/>
          </a:xfrm>
          <a:prstGeom prst="rect">
            <a:avLst/>
          </a:prstGeom>
          <a:noFill/>
          <a:ln>
            <a:noFill/>
          </a:ln>
        </p:spPr>
        <p:txBody>
          <a:bodyPr anchorCtr="0" anchor="ctr" bIns="12700" lIns="12700" spcFirstLastPara="1" rIns="12700" wrap="square" tIns="12700">
            <a:noAutofit/>
          </a:bodyPr>
          <a:lstStyle/>
          <a:p>
            <a:pPr indent="0" lvl="0" marL="0" marR="0" rtl="0" algn="ctr">
              <a:lnSpc>
                <a:spcPct val="100000"/>
              </a:lnSpc>
              <a:spcBef>
                <a:spcPts val="0"/>
              </a:spcBef>
              <a:spcAft>
                <a:spcPts val="0"/>
              </a:spcAft>
              <a:buClr>
                <a:srgbClr val="FFFFFF"/>
              </a:buClr>
              <a:buSzPts val="650"/>
              <a:buFont typeface="Calibri"/>
              <a:buNone/>
            </a:pPr>
            <a:r>
              <a:rPr b="1" i="0" lang="en-US" sz="650" u="none" cap="none" strike="noStrike">
                <a:solidFill>
                  <a:srgbClr val="FFFFFF"/>
                </a:solidFill>
                <a:latin typeface="Calibri"/>
                <a:ea typeface="Calibri"/>
                <a:cs typeface="Calibri"/>
                <a:sym typeface="Calibri"/>
              </a:rPr>
              <a:t>Aircraft at</a:t>
            </a:r>
            <a:endParaRPr b="0" i="0" sz="65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FFFFFF"/>
              </a:buClr>
              <a:buSzPts val="650"/>
              <a:buFont typeface="Calibri"/>
              <a:buNone/>
            </a:pPr>
            <a:r>
              <a:rPr b="1" i="0" lang="en-US" sz="650" u="none" cap="none" strike="noStrike">
                <a:solidFill>
                  <a:srgbClr val="FFFFFF"/>
                </a:solidFill>
                <a:latin typeface="Calibri"/>
                <a:ea typeface="Calibri"/>
                <a:cs typeface="Calibri"/>
                <a:sym typeface="Calibri"/>
              </a:rPr>
              <a:t>contact stand</a:t>
            </a:r>
            <a:endParaRPr b="0" i="0" sz="650" u="none" cap="none" strike="noStrike">
              <a:solidFill>
                <a:schemeClr val="dk1"/>
              </a:solidFill>
              <a:latin typeface="Calibri"/>
              <a:ea typeface="Calibri"/>
              <a:cs typeface="Calibri"/>
              <a:sym typeface="Calibri"/>
            </a:endParaRPr>
          </a:p>
        </p:txBody>
      </p:sp>
      <p:sp>
        <p:nvSpPr>
          <p:cNvPr id="492" name="Google Shape;492;p10"/>
          <p:cNvSpPr/>
          <p:nvPr/>
        </p:nvSpPr>
        <p:spPr>
          <a:xfrm>
            <a:off x="2013712" y="1385316"/>
            <a:ext cx="91500" cy="109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E7C86"/>
              </a:buClr>
              <a:buSzPts val="500"/>
              <a:buFont typeface="Calibri"/>
              <a:buNone/>
            </a:pPr>
            <a:r>
              <a:rPr b="0" i="0" lang="en-US" sz="500" u="none" cap="none" strike="noStrike">
                <a:solidFill>
                  <a:srgbClr val="0E7C86"/>
                </a:solidFill>
                <a:latin typeface="Calibri"/>
                <a:ea typeface="Calibri"/>
                <a:cs typeface="Calibri"/>
                <a:sym typeface="Calibri"/>
              </a:rPr>
              <a:t>▶</a:t>
            </a:r>
            <a:endParaRPr b="0" i="0" sz="500" u="none" cap="none" strike="noStrike">
              <a:solidFill>
                <a:schemeClr val="dk1"/>
              </a:solidFill>
              <a:latin typeface="Calibri"/>
              <a:ea typeface="Calibri"/>
              <a:cs typeface="Calibri"/>
              <a:sym typeface="Calibri"/>
            </a:endParaRPr>
          </a:p>
        </p:txBody>
      </p:sp>
      <p:sp>
        <p:nvSpPr>
          <p:cNvPr id="493" name="Google Shape;493;p10"/>
          <p:cNvSpPr/>
          <p:nvPr/>
        </p:nvSpPr>
        <p:spPr>
          <a:xfrm>
            <a:off x="2096008" y="1188720"/>
            <a:ext cx="742800" cy="502800"/>
          </a:xfrm>
          <a:prstGeom prst="rect">
            <a:avLst/>
          </a:prstGeom>
          <a:solidFill>
            <a:srgbClr val="0E7C8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4" name="Google Shape;494;p10"/>
          <p:cNvSpPr/>
          <p:nvPr/>
        </p:nvSpPr>
        <p:spPr>
          <a:xfrm>
            <a:off x="2096008" y="1188720"/>
            <a:ext cx="742800" cy="502800"/>
          </a:xfrm>
          <a:prstGeom prst="rect">
            <a:avLst/>
          </a:prstGeom>
          <a:noFill/>
          <a:ln>
            <a:noFill/>
          </a:ln>
        </p:spPr>
        <p:txBody>
          <a:bodyPr anchorCtr="0" anchor="ctr" bIns="12700" lIns="12700" spcFirstLastPara="1" rIns="12700" wrap="square" tIns="12700">
            <a:noAutofit/>
          </a:bodyPr>
          <a:lstStyle/>
          <a:p>
            <a:pPr indent="0" lvl="0" marL="0" marR="0" rtl="0" algn="ctr">
              <a:lnSpc>
                <a:spcPct val="100000"/>
              </a:lnSpc>
              <a:spcBef>
                <a:spcPts val="0"/>
              </a:spcBef>
              <a:spcAft>
                <a:spcPts val="0"/>
              </a:spcAft>
              <a:buClr>
                <a:srgbClr val="FFFFFF"/>
              </a:buClr>
              <a:buSzPts val="650"/>
              <a:buFont typeface="Calibri"/>
              <a:buNone/>
            </a:pPr>
            <a:r>
              <a:rPr b="1" i="0" lang="en-US" sz="650" u="none" cap="none" strike="noStrike">
                <a:solidFill>
                  <a:srgbClr val="FFFFFF"/>
                </a:solidFill>
                <a:latin typeface="Calibri"/>
                <a:ea typeface="Calibri"/>
                <a:cs typeface="Calibri"/>
                <a:sym typeface="Calibri"/>
              </a:rPr>
              <a:t>Airbridge</a:t>
            </a:r>
            <a:endParaRPr b="0" i="0" sz="650" u="none" cap="none" strike="noStrike">
              <a:solidFill>
                <a:schemeClr val="dk1"/>
              </a:solidFill>
              <a:latin typeface="Calibri"/>
              <a:ea typeface="Calibri"/>
              <a:cs typeface="Calibri"/>
              <a:sym typeface="Calibri"/>
            </a:endParaRPr>
          </a:p>
        </p:txBody>
      </p:sp>
      <p:sp>
        <p:nvSpPr>
          <p:cNvPr id="495" name="Google Shape;495;p10"/>
          <p:cNvSpPr/>
          <p:nvPr/>
        </p:nvSpPr>
        <p:spPr>
          <a:xfrm>
            <a:off x="2829560" y="1385316"/>
            <a:ext cx="91500" cy="109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E7C86"/>
              </a:buClr>
              <a:buSzPts val="500"/>
              <a:buFont typeface="Calibri"/>
              <a:buNone/>
            </a:pPr>
            <a:r>
              <a:rPr b="0" i="0" lang="en-US" sz="500" u="none" cap="none" strike="noStrike">
                <a:solidFill>
                  <a:srgbClr val="0E7C86"/>
                </a:solidFill>
                <a:latin typeface="Calibri"/>
                <a:ea typeface="Calibri"/>
                <a:cs typeface="Calibri"/>
                <a:sym typeface="Calibri"/>
              </a:rPr>
              <a:t>▶</a:t>
            </a:r>
            <a:endParaRPr b="0" i="0" sz="500" u="none" cap="none" strike="noStrike">
              <a:solidFill>
                <a:schemeClr val="dk1"/>
              </a:solidFill>
              <a:latin typeface="Calibri"/>
              <a:ea typeface="Calibri"/>
              <a:cs typeface="Calibri"/>
              <a:sym typeface="Calibri"/>
            </a:endParaRPr>
          </a:p>
        </p:txBody>
      </p:sp>
      <p:sp>
        <p:nvSpPr>
          <p:cNvPr id="496" name="Google Shape;496;p10"/>
          <p:cNvSpPr/>
          <p:nvPr/>
        </p:nvSpPr>
        <p:spPr>
          <a:xfrm>
            <a:off x="2911856" y="1188720"/>
            <a:ext cx="742800" cy="502800"/>
          </a:xfrm>
          <a:prstGeom prst="rect">
            <a:avLst/>
          </a:prstGeom>
          <a:solidFill>
            <a:srgbClr val="0E7C8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7" name="Google Shape;497;p10"/>
          <p:cNvSpPr/>
          <p:nvPr/>
        </p:nvSpPr>
        <p:spPr>
          <a:xfrm>
            <a:off x="2911856" y="1188720"/>
            <a:ext cx="742800" cy="502800"/>
          </a:xfrm>
          <a:prstGeom prst="rect">
            <a:avLst/>
          </a:prstGeom>
          <a:noFill/>
          <a:ln>
            <a:noFill/>
          </a:ln>
        </p:spPr>
        <p:txBody>
          <a:bodyPr anchorCtr="0" anchor="ctr" bIns="12700" lIns="12700" spcFirstLastPara="1" rIns="12700" wrap="square" tIns="12700">
            <a:noAutofit/>
          </a:bodyPr>
          <a:lstStyle/>
          <a:p>
            <a:pPr indent="0" lvl="0" marL="0" marR="0" rtl="0" algn="ctr">
              <a:lnSpc>
                <a:spcPct val="100000"/>
              </a:lnSpc>
              <a:spcBef>
                <a:spcPts val="0"/>
              </a:spcBef>
              <a:spcAft>
                <a:spcPts val="0"/>
              </a:spcAft>
              <a:buClr>
                <a:srgbClr val="FFFFFF"/>
              </a:buClr>
              <a:buSzPts val="650"/>
              <a:buFont typeface="Calibri"/>
              <a:buNone/>
            </a:pPr>
            <a:r>
              <a:rPr b="1" i="0" lang="en-US" sz="650" u="none" cap="none" strike="noStrike">
                <a:solidFill>
                  <a:srgbClr val="FFFFFF"/>
                </a:solidFill>
                <a:latin typeface="Calibri"/>
                <a:ea typeface="Calibri"/>
                <a:cs typeface="Calibri"/>
                <a:sym typeface="Calibri"/>
              </a:rPr>
              <a:t>Walk in</a:t>
            </a:r>
            <a:endParaRPr b="0" i="0" sz="65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FFFFFF"/>
              </a:buClr>
              <a:buSzPts val="650"/>
              <a:buFont typeface="Calibri"/>
              <a:buNone/>
            </a:pPr>
            <a:r>
              <a:rPr b="1" i="0" lang="en-US" sz="650" u="none" cap="none" strike="noStrike">
                <a:solidFill>
                  <a:srgbClr val="FFFFFF"/>
                </a:solidFill>
                <a:latin typeface="Calibri"/>
                <a:ea typeface="Calibri"/>
                <a:cs typeface="Calibri"/>
                <a:sym typeface="Calibri"/>
              </a:rPr>
              <a:t>entry</a:t>
            </a:r>
            <a:endParaRPr b="0" i="0" sz="650" u="none" cap="none" strike="noStrike">
              <a:solidFill>
                <a:schemeClr val="dk1"/>
              </a:solidFill>
              <a:latin typeface="Calibri"/>
              <a:ea typeface="Calibri"/>
              <a:cs typeface="Calibri"/>
              <a:sym typeface="Calibri"/>
            </a:endParaRPr>
          </a:p>
        </p:txBody>
      </p:sp>
      <p:sp>
        <p:nvSpPr>
          <p:cNvPr id="498" name="Google Shape;498;p10"/>
          <p:cNvSpPr/>
          <p:nvPr/>
        </p:nvSpPr>
        <p:spPr>
          <a:xfrm>
            <a:off x="3645408" y="1385316"/>
            <a:ext cx="91500" cy="109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E7C86"/>
              </a:buClr>
              <a:buSzPts val="500"/>
              <a:buFont typeface="Calibri"/>
              <a:buNone/>
            </a:pPr>
            <a:r>
              <a:rPr b="0" i="0" lang="en-US" sz="500" u="none" cap="none" strike="noStrike">
                <a:solidFill>
                  <a:srgbClr val="0E7C86"/>
                </a:solidFill>
                <a:latin typeface="Calibri"/>
                <a:ea typeface="Calibri"/>
                <a:cs typeface="Calibri"/>
                <a:sym typeface="Calibri"/>
              </a:rPr>
              <a:t>▶</a:t>
            </a:r>
            <a:endParaRPr b="0" i="0" sz="500" u="none" cap="none" strike="noStrike">
              <a:solidFill>
                <a:schemeClr val="dk1"/>
              </a:solidFill>
              <a:latin typeface="Calibri"/>
              <a:ea typeface="Calibri"/>
              <a:cs typeface="Calibri"/>
              <a:sym typeface="Calibri"/>
            </a:endParaRPr>
          </a:p>
        </p:txBody>
      </p:sp>
      <p:sp>
        <p:nvSpPr>
          <p:cNvPr id="499" name="Google Shape;499;p10"/>
          <p:cNvSpPr/>
          <p:nvPr/>
        </p:nvSpPr>
        <p:spPr>
          <a:xfrm>
            <a:off x="3727704" y="1188720"/>
            <a:ext cx="742800" cy="502800"/>
          </a:xfrm>
          <a:prstGeom prst="rect">
            <a:avLst/>
          </a:prstGeom>
          <a:solidFill>
            <a:srgbClr val="0E7C8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0" name="Google Shape;500;p10"/>
          <p:cNvSpPr/>
          <p:nvPr/>
        </p:nvSpPr>
        <p:spPr>
          <a:xfrm>
            <a:off x="3727704" y="1188720"/>
            <a:ext cx="742800" cy="502800"/>
          </a:xfrm>
          <a:prstGeom prst="rect">
            <a:avLst/>
          </a:prstGeom>
          <a:noFill/>
          <a:ln>
            <a:noFill/>
          </a:ln>
        </p:spPr>
        <p:txBody>
          <a:bodyPr anchorCtr="0" anchor="ctr" bIns="12700" lIns="12700" spcFirstLastPara="1" rIns="12700" wrap="square" tIns="12700">
            <a:noAutofit/>
          </a:bodyPr>
          <a:lstStyle/>
          <a:p>
            <a:pPr indent="0" lvl="0" marL="0" marR="0" rtl="0" algn="ctr">
              <a:lnSpc>
                <a:spcPct val="100000"/>
              </a:lnSpc>
              <a:spcBef>
                <a:spcPts val="0"/>
              </a:spcBef>
              <a:spcAft>
                <a:spcPts val="0"/>
              </a:spcAft>
              <a:buClr>
                <a:srgbClr val="FFFFFF"/>
              </a:buClr>
              <a:buSzPts val="650"/>
              <a:buFont typeface="Calibri"/>
              <a:buNone/>
            </a:pPr>
            <a:r>
              <a:rPr b="1" i="0" lang="en-US" sz="650" u="none" cap="none" strike="noStrike">
                <a:solidFill>
                  <a:srgbClr val="FFFFFF"/>
                </a:solidFill>
                <a:latin typeface="Calibri"/>
                <a:ea typeface="Calibri"/>
                <a:cs typeface="Calibri"/>
                <a:sym typeface="Calibri"/>
              </a:rPr>
              <a:t>Serpentine</a:t>
            </a:r>
            <a:endParaRPr b="0" i="0" sz="65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FFFFFF"/>
              </a:buClr>
              <a:buSzPts val="650"/>
              <a:buFont typeface="Calibri"/>
              <a:buNone/>
            </a:pPr>
            <a:r>
              <a:rPr b="1" i="0" lang="en-US" sz="650" u="none" cap="none" strike="noStrike">
                <a:solidFill>
                  <a:srgbClr val="FFFFFF"/>
                </a:solidFill>
                <a:latin typeface="Calibri"/>
                <a:ea typeface="Calibri"/>
                <a:cs typeface="Calibri"/>
                <a:sym typeface="Calibri"/>
              </a:rPr>
              <a:t>queue</a:t>
            </a:r>
            <a:endParaRPr b="0" i="0" sz="650" u="none" cap="none" strike="noStrike">
              <a:solidFill>
                <a:schemeClr val="dk1"/>
              </a:solidFill>
              <a:latin typeface="Calibri"/>
              <a:ea typeface="Calibri"/>
              <a:cs typeface="Calibri"/>
              <a:sym typeface="Calibri"/>
            </a:endParaRPr>
          </a:p>
        </p:txBody>
      </p:sp>
      <p:sp>
        <p:nvSpPr>
          <p:cNvPr id="501" name="Google Shape;501;p10"/>
          <p:cNvSpPr/>
          <p:nvPr/>
        </p:nvSpPr>
        <p:spPr>
          <a:xfrm>
            <a:off x="4461256" y="1385316"/>
            <a:ext cx="91500" cy="109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E7C86"/>
              </a:buClr>
              <a:buSzPts val="500"/>
              <a:buFont typeface="Calibri"/>
              <a:buNone/>
            </a:pPr>
            <a:r>
              <a:rPr b="0" i="0" lang="en-US" sz="500" u="none" cap="none" strike="noStrike">
                <a:solidFill>
                  <a:srgbClr val="0E7C86"/>
                </a:solidFill>
                <a:latin typeface="Calibri"/>
                <a:ea typeface="Calibri"/>
                <a:cs typeface="Calibri"/>
                <a:sym typeface="Calibri"/>
              </a:rPr>
              <a:t>▶</a:t>
            </a:r>
            <a:endParaRPr b="0" i="0" sz="500" u="none" cap="none" strike="noStrike">
              <a:solidFill>
                <a:schemeClr val="dk1"/>
              </a:solidFill>
              <a:latin typeface="Calibri"/>
              <a:ea typeface="Calibri"/>
              <a:cs typeface="Calibri"/>
              <a:sym typeface="Calibri"/>
            </a:endParaRPr>
          </a:p>
        </p:txBody>
      </p:sp>
      <p:sp>
        <p:nvSpPr>
          <p:cNvPr id="502" name="Google Shape;502;p10"/>
          <p:cNvSpPr/>
          <p:nvPr/>
        </p:nvSpPr>
        <p:spPr>
          <a:xfrm>
            <a:off x="4543552" y="1188720"/>
            <a:ext cx="742800" cy="502800"/>
          </a:xfrm>
          <a:prstGeom prst="rect">
            <a:avLst/>
          </a:prstGeom>
          <a:solidFill>
            <a:srgbClr val="0E7C8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3" name="Google Shape;503;p10"/>
          <p:cNvSpPr/>
          <p:nvPr/>
        </p:nvSpPr>
        <p:spPr>
          <a:xfrm>
            <a:off x="4543552" y="1188720"/>
            <a:ext cx="742800" cy="502800"/>
          </a:xfrm>
          <a:prstGeom prst="rect">
            <a:avLst/>
          </a:prstGeom>
          <a:noFill/>
          <a:ln>
            <a:noFill/>
          </a:ln>
        </p:spPr>
        <p:txBody>
          <a:bodyPr anchorCtr="0" anchor="ctr" bIns="12700" lIns="12700" spcFirstLastPara="1" rIns="12700" wrap="square" tIns="12700">
            <a:noAutofit/>
          </a:bodyPr>
          <a:lstStyle/>
          <a:p>
            <a:pPr indent="0" lvl="0" marL="0" marR="0" rtl="0" algn="ctr">
              <a:lnSpc>
                <a:spcPct val="100000"/>
              </a:lnSpc>
              <a:spcBef>
                <a:spcPts val="0"/>
              </a:spcBef>
              <a:spcAft>
                <a:spcPts val="0"/>
              </a:spcAft>
              <a:buClr>
                <a:srgbClr val="FFFFFF"/>
              </a:buClr>
              <a:buSzPts val="650"/>
              <a:buFont typeface="Calibri"/>
              <a:buNone/>
            </a:pPr>
            <a:r>
              <a:rPr b="1" i="0" lang="en-US" sz="650" u="none" cap="none" strike="noStrike">
                <a:solidFill>
                  <a:srgbClr val="FFFFFF"/>
                </a:solidFill>
                <a:latin typeface="Calibri"/>
                <a:ea typeface="Calibri"/>
                <a:cs typeface="Calibri"/>
                <a:sym typeface="Calibri"/>
              </a:rPr>
              <a:t>Staff directs</a:t>
            </a:r>
            <a:endParaRPr b="0" i="0" sz="65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FFFFFF"/>
              </a:buClr>
              <a:buSzPts val="650"/>
              <a:buFont typeface="Calibri"/>
              <a:buNone/>
            </a:pPr>
            <a:r>
              <a:rPr b="1" i="0" lang="en-US" sz="650" u="none" cap="none" strike="noStrike">
                <a:solidFill>
                  <a:srgbClr val="FFFFFF"/>
                </a:solidFill>
                <a:latin typeface="Calibri"/>
                <a:ea typeface="Calibri"/>
                <a:cs typeface="Calibri"/>
                <a:sym typeface="Calibri"/>
              </a:rPr>
              <a:t>to lane (E-gate/Manned Desk)</a:t>
            </a:r>
            <a:endParaRPr b="0" i="0" sz="650" u="none" cap="none" strike="noStrike">
              <a:solidFill>
                <a:schemeClr val="dk1"/>
              </a:solidFill>
              <a:latin typeface="Calibri"/>
              <a:ea typeface="Calibri"/>
              <a:cs typeface="Calibri"/>
              <a:sym typeface="Calibri"/>
            </a:endParaRPr>
          </a:p>
        </p:txBody>
      </p:sp>
      <p:sp>
        <p:nvSpPr>
          <p:cNvPr id="504" name="Google Shape;504;p10"/>
          <p:cNvSpPr/>
          <p:nvPr/>
        </p:nvSpPr>
        <p:spPr>
          <a:xfrm>
            <a:off x="5277104" y="1385316"/>
            <a:ext cx="91500" cy="109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E7C86"/>
              </a:buClr>
              <a:buSzPts val="500"/>
              <a:buFont typeface="Calibri"/>
              <a:buNone/>
            </a:pPr>
            <a:r>
              <a:rPr b="0" i="0" lang="en-US" sz="500" u="none" cap="none" strike="noStrike">
                <a:solidFill>
                  <a:srgbClr val="0E7C86"/>
                </a:solidFill>
                <a:latin typeface="Calibri"/>
                <a:ea typeface="Calibri"/>
                <a:cs typeface="Calibri"/>
                <a:sym typeface="Calibri"/>
              </a:rPr>
              <a:t>▶</a:t>
            </a:r>
            <a:endParaRPr b="0" i="0" sz="500" u="none" cap="none" strike="noStrike">
              <a:solidFill>
                <a:schemeClr val="dk1"/>
              </a:solidFill>
              <a:latin typeface="Calibri"/>
              <a:ea typeface="Calibri"/>
              <a:cs typeface="Calibri"/>
              <a:sym typeface="Calibri"/>
            </a:endParaRPr>
          </a:p>
        </p:txBody>
      </p:sp>
      <p:sp>
        <p:nvSpPr>
          <p:cNvPr id="505" name="Google Shape;505;p10"/>
          <p:cNvSpPr/>
          <p:nvPr/>
        </p:nvSpPr>
        <p:spPr>
          <a:xfrm>
            <a:off x="5359400" y="1188720"/>
            <a:ext cx="742800" cy="502800"/>
          </a:xfrm>
          <a:prstGeom prst="rect">
            <a:avLst/>
          </a:prstGeom>
          <a:solidFill>
            <a:srgbClr val="0E7C8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6" name="Google Shape;506;p10"/>
          <p:cNvSpPr/>
          <p:nvPr/>
        </p:nvSpPr>
        <p:spPr>
          <a:xfrm>
            <a:off x="5359400" y="1188720"/>
            <a:ext cx="742800" cy="502800"/>
          </a:xfrm>
          <a:prstGeom prst="rect">
            <a:avLst/>
          </a:prstGeom>
          <a:noFill/>
          <a:ln>
            <a:noFill/>
          </a:ln>
        </p:spPr>
        <p:txBody>
          <a:bodyPr anchorCtr="0" anchor="ctr" bIns="12700" lIns="12700" spcFirstLastPara="1" rIns="12700" wrap="square" tIns="12700">
            <a:noAutofit/>
          </a:bodyPr>
          <a:lstStyle/>
          <a:p>
            <a:pPr indent="0" lvl="0" marL="0" marR="0" rtl="0" algn="ctr">
              <a:lnSpc>
                <a:spcPct val="100000"/>
              </a:lnSpc>
              <a:spcBef>
                <a:spcPts val="0"/>
              </a:spcBef>
              <a:spcAft>
                <a:spcPts val="0"/>
              </a:spcAft>
              <a:buClr>
                <a:srgbClr val="FFFFFF"/>
              </a:buClr>
              <a:buSzPts val="650"/>
              <a:buFont typeface="Calibri"/>
              <a:buNone/>
            </a:pPr>
            <a:r>
              <a:rPr b="1" i="0" lang="en-US" sz="650" u="none" cap="none" strike="noStrike">
                <a:solidFill>
                  <a:srgbClr val="FFFFFF"/>
                </a:solidFill>
                <a:latin typeface="Calibri"/>
                <a:ea typeface="Calibri"/>
                <a:cs typeface="Calibri"/>
                <a:sym typeface="Calibri"/>
              </a:rPr>
              <a:t>Passport</a:t>
            </a:r>
            <a:endParaRPr b="0" i="0" sz="65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FFFFFF"/>
              </a:buClr>
              <a:buSzPts val="650"/>
              <a:buFont typeface="Calibri"/>
              <a:buNone/>
            </a:pPr>
            <a:r>
              <a:rPr b="1" i="0" lang="en-US" sz="650" u="none" cap="none" strike="noStrike">
                <a:solidFill>
                  <a:srgbClr val="FFFFFF"/>
                </a:solidFill>
                <a:latin typeface="Calibri"/>
                <a:ea typeface="Calibri"/>
                <a:cs typeface="Calibri"/>
                <a:sym typeface="Calibri"/>
              </a:rPr>
              <a:t>control</a:t>
            </a:r>
            <a:endParaRPr b="0" i="0" sz="650" u="none" cap="none" strike="noStrike">
              <a:solidFill>
                <a:schemeClr val="dk1"/>
              </a:solidFill>
              <a:latin typeface="Calibri"/>
              <a:ea typeface="Calibri"/>
              <a:cs typeface="Calibri"/>
              <a:sym typeface="Calibri"/>
            </a:endParaRPr>
          </a:p>
        </p:txBody>
      </p:sp>
      <p:sp>
        <p:nvSpPr>
          <p:cNvPr id="507" name="Google Shape;507;p10"/>
          <p:cNvSpPr/>
          <p:nvPr/>
        </p:nvSpPr>
        <p:spPr>
          <a:xfrm>
            <a:off x="6092952" y="1385316"/>
            <a:ext cx="91500" cy="109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E7C86"/>
              </a:buClr>
              <a:buSzPts val="500"/>
              <a:buFont typeface="Calibri"/>
              <a:buNone/>
            </a:pPr>
            <a:r>
              <a:rPr b="0" i="0" lang="en-US" sz="500" u="none" cap="none" strike="noStrike">
                <a:solidFill>
                  <a:srgbClr val="0E7C86"/>
                </a:solidFill>
                <a:latin typeface="Calibri"/>
                <a:ea typeface="Calibri"/>
                <a:cs typeface="Calibri"/>
                <a:sym typeface="Calibri"/>
              </a:rPr>
              <a:t>▶</a:t>
            </a:r>
            <a:endParaRPr b="0" i="0" sz="500" u="none" cap="none" strike="noStrike">
              <a:solidFill>
                <a:schemeClr val="dk1"/>
              </a:solidFill>
              <a:latin typeface="Calibri"/>
              <a:ea typeface="Calibri"/>
              <a:cs typeface="Calibri"/>
              <a:sym typeface="Calibri"/>
            </a:endParaRPr>
          </a:p>
        </p:txBody>
      </p:sp>
      <p:sp>
        <p:nvSpPr>
          <p:cNvPr id="508" name="Google Shape;508;p10"/>
          <p:cNvSpPr/>
          <p:nvPr/>
        </p:nvSpPr>
        <p:spPr>
          <a:xfrm>
            <a:off x="6175248" y="1188720"/>
            <a:ext cx="742800" cy="502800"/>
          </a:xfrm>
          <a:prstGeom prst="rect">
            <a:avLst/>
          </a:prstGeom>
          <a:solidFill>
            <a:srgbClr val="0E7C8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9" name="Google Shape;509;p10"/>
          <p:cNvSpPr/>
          <p:nvPr/>
        </p:nvSpPr>
        <p:spPr>
          <a:xfrm>
            <a:off x="6175248" y="1188720"/>
            <a:ext cx="742800" cy="502800"/>
          </a:xfrm>
          <a:prstGeom prst="rect">
            <a:avLst/>
          </a:prstGeom>
          <a:noFill/>
          <a:ln>
            <a:noFill/>
          </a:ln>
        </p:spPr>
        <p:txBody>
          <a:bodyPr anchorCtr="0" anchor="ctr" bIns="12700" lIns="12700" spcFirstLastPara="1" rIns="12700" wrap="square" tIns="12700">
            <a:noAutofit/>
          </a:bodyPr>
          <a:lstStyle/>
          <a:p>
            <a:pPr indent="0" lvl="0" marL="0" marR="0" rtl="0" algn="ctr">
              <a:lnSpc>
                <a:spcPct val="100000"/>
              </a:lnSpc>
              <a:spcBef>
                <a:spcPts val="0"/>
              </a:spcBef>
              <a:spcAft>
                <a:spcPts val="0"/>
              </a:spcAft>
              <a:buClr>
                <a:srgbClr val="FFFFFF"/>
              </a:buClr>
              <a:buSzPts val="650"/>
              <a:buFont typeface="Calibri"/>
              <a:buNone/>
            </a:pPr>
            <a:r>
              <a:rPr b="1" i="0" lang="en-US" sz="650" u="none" cap="none" strike="noStrike">
                <a:solidFill>
                  <a:srgbClr val="FFFFFF"/>
                </a:solidFill>
                <a:latin typeface="Calibri"/>
                <a:ea typeface="Calibri"/>
                <a:cs typeface="Calibri"/>
                <a:sym typeface="Calibri"/>
              </a:rPr>
              <a:t>Buffer</a:t>
            </a:r>
            <a:endParaRPr b="0" i="0" sz="65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FFFFFF"/>
              </a:buClr>
              <a:buSzPts val="650"/>
              <a:buFont typeface="Calibri"/>
              <a:buNone/>
            </a:pPr>
            <a:r>
              <a:rPr b="1" i="0" lang="en-US" sz="650" u="none" cap="none" strike="noStrike">
                <a:solidFill>
                  <a:srgbClr val="FFFFFF"/>
                </a:solidFill>
                <a:latin typeface="Calibri"/>
                <a:ea typeface="Calibri"/>
                <a:cs typeface="Calibri"/>
                <a:sym typeface="Calibri"/>
              </a:rPr>
              <a:t>zone</a:t>
            </a:r>
            <a:endParaRPr b="0" i="0" sz="650" u="none" cap="none" strike="noStrike">
              <a:solidFill>
                <a:schemeClr val="dk1"/>
              </a:solidFill>
              <a:latin typeface="Calibri"/>
              <a:ea typeface="Calibri"/>
              <a:cs typeface="Calibri"/>
              <a:sym typeface="Calibri"/>
            </a:endParaRPr>
          </a:p>
        </p:txBody>
      </p:sp>
      <p:sp>
        <p:nvSpPr>
          <p:cNvPr id="510" name="Google Shape;510;p10"/>
          <p:cNvSpPr/>
          <p:nvPr/>
        </p:nvSpPr>
        <p:spPr>
          <a:xfrm>
            <a:off x="6908800" y="1385316"/>
            <a:ext cx="91500" cy="109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E7C86"/>
              </a:buClr>
              <a:buSzPts val="500"/>
              <a:buFont typeface="Calibri"/>
              <a:buNone/>
            </a:pPr>
            <a:r>
              <a:rPr b="0" i="0" lang="en-US" sz="500" u="none" cap="none" strike="noStrike">
                <a:solidFill>
                  <a:srgbClr val="0E7C86"/>
                </a:solidFill>
                <a:latin typeface="Calibri"/>
                <a:ea typeface="Calibri"/>
                <a:cs typeface="Calibri"/>
                <a:sym typeface="Calibri"/>
              </a:rPr>
              <a:t>▶</a:t>
            </a:r>
            <a:endParaRPr b="0" i="0" sz="500" u="none" cap="none" strike="noStrike">
              <a:solidFill>
                <a:schemeClr val="dk1"/>
              </a:solidFill>
              <a:latin typeface="Calibri"/>
              <a:ea typeface="Calibri"/>
              <a:cs typeface="Calibri"/>
              <a:sym typeface="Calibri"/>
            </a:endParaRPr>
          </a:p>
        </p:txBody>
      </p:sp>
      <p:sp>
        <p:nvSpPr>
          <p:cNvPr id="511" name="Google Shape;511;p10"/>
          <p:cNvSpPr/>
          <p:nvPr/>
        </p:nvSpPr>
        <p:spPr>
          <a:xfrm>
            <a:off x="6991096" y="1188720"/>
            <a:ext cx="742800" cy="502800"/>
          </a:xfrm>
          <a:prstGeom prst="rect">
            <a:avLst/>
          </a:prstGeom>
          <a:solidFill>
            <a:srgbClr val="0E7C8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2" name="Google Shape;512;p10"/>
          <p:cNvSpPr/>
          <p:nvPr/>
        </p:nvSpPr>
        <p:spPr>
          <a:xfrm>
            <a:off x="6991096" y="1188720"/>
            <a:ext cx="742800" cy="502800"/>
          </a:xfrm>
          <a:prstGeom prst="rect">
            <a:avLst/>
          </a:prstGeom>
          <a:noFill/>
          <a:ln>
            <a:noFill/>
          </a:ln>
        </p:spPr>
        <p:txBody>
          <a:bodyPr anchorCtr="0" anchor="ctr" bIns="12700" lIns="12700" spcFirstLastPara="1" rIns="12700" wrap="square" tIns="12700">
            <a:noAutofit/>
          </a:bodyPr>
          <a:lstStyle/>
          <a:p>
            <a:pPr indent="0" lvl="0" marL="0" marR="0" rtl="0" algn="ctr">
              <a:lnSpc>
                <a:spcPct val="100000"/>
              </a:lnSpc>
              <a:spcBef>
                <a:spcPts val="0"/>
              </a:spcBef>
              <a:spcAft>
                <a:spcPts val="0"/>
              </a:spcAft>
              <a:buClr>
                <a:srgbClr val="FFFFFF"/>
              </a:buClr>
              <a:buSzPts val="650"/>
              <a:buFont typeface="Calibri"/>
              <a:buNone/>
            </a:pPr>
            <a:r>
              <a:rPr b="1" i="0" lang="en-US" sz="650" u="none" cap="none" strike="noStrike">
                <a:solidFill>
                  <a:srgbClr val="FFFFFF"/>
                </a:solidFill>
                <a:latin typeface="Calibri"/>
                <a:ea typeface="Calibri"/>
                <a:cs typeface="Calibri"/>
                <a:sym typeface="Calibri"/>
              </a:rPr>
              <a:t>Baggage</a:t>
            </a:r>
            <a:endParaRPr b="0" i="0" sz="65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FFFFFF"/>
              </a:buClr>
              <a:buSzPts val="650"/>
              <a:buFont typeface="Calibri"/>
              <a:buNone/>
            </a:pPr>
            <a:r>
              <a:rPr b="1" i="0" lang="en-US" sz="650" u="none" cap="none" strike="noStrike">
                <a:solidFill>
                  <a:srgbClr val="FFFFFF"/>
                </a:solidFill>
                <a:latin typeface="Calibri"/>
                <a:ea typeface="Calibri"/>
                <a:cs typeface="Calibri"/>
                <a:sym typeface="Calibri"/>
              </a:rPr>
              <a:t>reclaim</a:t>
            </a:r>
            <a:endParaRPr b="0" i="0" sz="650" u="none" cap="none" strike="noStrike">
              <a:solidFill>
                <a:schemeClr val="dk1"/>
              </a:solidFill>
              <a:latin typeface="Calibri"/>
              <a:ea typeface="Calibri"/>
              <a:cs typeface="Calibri"/>
              <a:sym typeface="Calibri"/>
            </a:endParaRPr>
          </a:p>
        </p:txBody>
      </p:sp>
      <p:sp>
        <p:nvSpPr>
          <p:cNvPr id="513" name="Google Shape;513;p10"/>
          <p:cNvSpPr/>
          <p:nvPr/>
        </p:nvSpPr>
        <p:spPr>
          <a:xfrm>
            <a:off x="7724648" y="1385316"/>
            <a:ext cx="91500" cy="109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E7C86"/>
              </a:buClr>
              <a:buSzPts val="500"/>
              <a:buFont typeface="Calibri"/>
              <a:buNone/>
            </a:pPr>
            <a:r>
              <a:rPr b="0" i="0" lang="en-US" sz="500" u="none" cap="none" strike="noStrike">
                <a:solidFill>
                  <a:srgbClr val="0E7C86"/>
                </a:solidFill>
                <a:latin typeface="Calibri"/>
                <a:ea typeface="Calibri"/>
                <a:cs typeface="Calibri"/>
                <a:sym typeface="Calibri"/>
              </a:rPr>
              <a:t>▶</a:t>
            </a:r>
            <a:endParaRPr b="0" i="0" sz="500" u="none" cap="none" strike="noStrike">
              <a:solidFill>
                <a:schemeClr val="dk1"/>
              </a:solidFill>
              <a:latin typeface="Calibri"/>
              <a:ea typeface="Calibri"/>
              <a:cs typeface="Calibri"/>
              <a:sym typeface="Calibri"/>
            </a:endParaRPr>
          </a:p>
        </p:txBody>
      </p:sp>
      <p:sp>
        <p:nvSpPr>
          <p:cNvPr id="514" name="Google Shape;514;p10"/>
          <p:cNvSpPr/>
          <p:nvPr/>
        </p:nvSpPr>
        <p:spPr>
          <a:xfrm>
            <a:off x="7806944" y="1188720"/>
            <a:ext cx="742800" cy="502800"/>
          </a:xfrm>
          <a:prstGeom prst="rect">
            <a:avLst/>
          </a:prstGeom>
          <a:solidFill>
            <a:srgbClr val="0E7C8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5" name="Google Shape;515;p10"/>
          <p:cNvSpPr/>
          <p:nvPr/>
        </p:nvSpPr>
        <p:spPr>
          <a:xfrm>
            <a:off x="7806944" y="1188720"/>
            <a:ext cx="742800" cy="502800"/>
          </a:xfrm>
          <a:prstGeom prst="rect">
            <a:avLst/>
          </a:prstGeom>
          <a:noFill/>
          <a:ln>
            <a:noFill/>
          </a:ln>
        </p:spPr>
        <p:txBody>
          <a:bodyPr anchorCtr="0" anchor="ctr" bIns="12700" lIns="12700" spcFirstLastPara="1" rIns="12700" wrap="square" tIns="12700">
            <a:noAutofit/>
          </a:bodyPr>
          <a:lstStyle/>
          <a:p>
            <a:pPr indent="0" lvl="0" marL="0" marR="0" rtl="0" algn="ctr">
              <a:lnSpc>
                <a:spcPct val="100000"/>
              </a:lnSpc>
              <a:spcBef>
                <a:spcPts val="0"/>
              </a:spcBef>
              <a:spcAft>
                <a:spcPts val="0"/>
              </a:spcAft>
              <a:buClr>
                <a:srgbClr val="FFFFFF"/>
              </a:buClr>
              <a:buSzPts val="650"/>
              <a:buFont typeface="Calibri"/>
              <a:buNone/>
            </a:pPr>
            <a:r>
              <a:rPr b="1" i="0" lang="en-US" sz="650" u="none" cap="none" strike="noStrike">
                <a:solidFill>
                  <a:srgbClr val="FFFFFF"/>
                </a:solidFill>
                <a:latin typeface="Calibri"/>
                <a:ea typeface="Calibri"/>
                <a:cs typeface="Calibri"/>
                <a:sym typeface="Calibri"/>
              </a:rPr>
              <a:t>Exit</a:t>
            </a:r>
            <a:endParaRPr b="0" i="0" sz="650" u="none" cap="none" strike="noStrike">
              <a:solidFill>
                <a:schemeClr val="dk1"/>
              </a:solidFill>
              <a:latin typeface="Calibri"/>
              <a:ea typeface="Calibri"/>
              <a:cs typeface="Calibri"/>
              <a:sym typeface="Calibri"/>
            </a:endParaRPr>
          </a:p>
        </p:txBody>
      </p:sp>
      <p:sp>
        <p:nvSpPr>
          <p:cNvPr id="516" name="Google Shape;516;p10"/>
          <p:cNvSpPr/>
          <p:nvPr/>
        </p:nvSpPr>
        <p:spPr>
          <a:xfrm>
            <a:off x="274325" y="2341425"/>
            <a:ext cx="868800" cy="759000"/>
          </a:xfrm>
          <a:prstGeom prst="rect">
            <a:avLst/>
          </a:prstGeom>
          <a:solidFill>
            <a:srgbClr val="143B6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7" name="Google Shape;517;p10"/>
          <p:cNvSpPr/>
          <p:nvPr/>
        </p:nvSpPr>
        <p:spPr>
          <a:xfrm>
            <a:off x="274325" y="2386950"/>
            <a:ext cx="868800" cy="648600"/>
          </a:xfrm>
          <a:prstGeom prst="rect">
            <a:avLst/>
          </a:prstGeom>
          <a:noFill/>
          <a:ln>
            <a:noFill/>
          </a:ln>
        </p:spPr>
        <p:txBody>
          <a:bodyPr anchorCtr="0" anchor="ctr" bIns="25400" lIns="25400" spcFirstLastPara="1" rIns="25400" wrap="square" tIns="25400">
            <a:noAutofit/>
          </a:bodyPr>
          <a:lstStyle/>
          <a:p>
            <a:pPr indent="0" lvl="0" marL="0" marR="0" rtl="0" algn="ctr">
              <a:lnSpc>
                <a:spcPct val="100000"/>
              </a:lnSpc>
              <a:spcBef>
                <a:spcPts val="0"/>
              </a:spcBef>
              <a:spcAft>
                <a:spcPts val="0"/>
              </a:spcAft>
              <a:buClr>
                <a:srgbClr val="FFFFFF"/>
              </a:buClr>
              <a:buSzPts val="800"/>
              <a:buFont typeface="Calibri"/>
              <a:buNone/>
            </a:pPr>
            <a:r>
              <a:rPr b="1" i="0" lang="en-US" sz="800" u="none" cap="none" strike="noStrike">
                <a:solidFill>
                  <a:srgbClr val="FFFFFF"/>
                </a:solidFill>
                <a:latin typeface="Calibri"/>
                <a:ea typeface="Calibri"/>
                <a:cs typeface="Calibri"/>
                <a:sym typeface="Calibri"/>
              </a:rPr>
              <a:t>Coach passenger (remote stand)</a:t>
            </a:r>
            <a:endParaRPr b="0" i="0" sz="800" u="none" cap="none" strike="noStrike">
              <a:solidFill>
                <a:schemeClr val="dk1"/>
              </a:solidFill>
              <a:latin typeface="Calibri"/>
              <a:ea typeface="Calibri"/>
              <a:cs typeface="Calibri"/>
              <a:sym typeface="Calibri"/>
            </a:endParaRPr>
          </a:p>
        </p:txBody>
      </p:sp>
      <p:sp>
        <p:nvSpPr>
          <p:cNvPr id="518" name="Google Shape;518;p10"/>
          <p:cNvSpPr/>
          <p:nvPr/>
        </p:nvSpPr>
        <p:spPr>
          <a:xfrm>
            <a:off x="1280160" y="2532888"/>
            <a:ext cx="742800" cy="502800"/>
          </a:xfrm>
          <a:prstGeom prst="rect">
            <a:avLst/>
          </a:prstGeom>
          <a:solidFill>
            <a:srgbClr val="143B6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9" name="Google Shape;519;p10"/>
          <p:cNvSpPr/>
          <p:nvPr/>
        </p:nvSpPr>
        <p:spPr>
          <a:xfrm>
            <a:off x="1280160" y="2532888"/>
            <a:ext cx="742800" cy="502800"/>
          </a:xfrm>
          <a:prstGeom prst="rect">
            <a:avLst/>
          </a:prstGeom>
          <a:noFill/>
          <a:ln>
            <a:noFill/>
          </a:ln>
        </p:spPr>
        <p:txBody>
          <a:bodyPr anchorCtr="0" anchor="ctr" bIns="12700" lIns="12700" spcFirstLastPara="1" rIns="12700" wrap="square" tIns="12700">
            <a:noAutofit/>
          </a:bodyPr>
          <a:lstStyle/>
          <a:p>
            <a:pPr indent="0" lvl="0" marL="0" marR="0" rtl="0" algn="ctr">
              <a:lnSpc>
                <a:spcPct val="100000"/>
              </a:lnSpc>
              <a:spcBef>
                <a:spcPts val="0"/>
              </a:spcBef>
              <a:spcAft>
                <a:spcPts val="0"/>
              </a:spcAft>
              <a:buClr>
                <a:srgbClr val="FFFFFF"/>
              </a:buClr>
              <a:buSzPts val="650"/>
              <a:buFont typeface="Calibri"/>
              <a:buNone/>
            </a:pPr>
            <a:r>
              <a:rPr b="1" i="0" lang="en-US" sz="650" u="none" cap="none" strike="noStrike">
                <a:solidFill>
                  <a:srgbClr val="FFFFFF"/>
                </a:solidFill>
                <a:latin typeface="Calibri"/>
                <a:ea typeface="Calibri"/>
                <a:cs typeface="Calibri"/>
                <a:sym typeface="Calibri"/>
              </a:rPr>
              <a:t>Aircraft at</a:t>
            </a:r>
            <a:endParaRPr b="0" i="0" sz="65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FFFFFF"/>
              </a:buClr>
              <a:buSzPts val="650"/>
              <a:buFont typeface="Calibri"/>
              <a:buNone/>
            </a:pPr>
            <a:r>
              <a:rPr b="1" i="0" lang="en-US" sz="650" u="none" cap="none" strike="noStrike">
                <a:solidFill>
                  <a:srgbClr val="FFFFFF"/>
                </a:solidFill>
                <a:latin typeface="Calibri"/>
                <a:ea typeface="Calibri"/>
                <a:cs typeface="Calibri"/>
                <a:sym typeface="Calibri"/>
              </a:rPr>
              <a:t>remote stand</a:t>
            </a:r>
            <a:endParaRPr b="0" i="0" sz="650" u="none" cap="none" strike="noStrike">
              <a:solidFill>
                <a:schemeClr val="dk1"/>
              </a:solidFill>
              <a:latin typeface="Calibri"/>
              <a:ea typeface="Calibri"/>
              <a:cs typeface="Calibri"/>
              <a:sym typeface="Calibri"/>
            </a:endParaRPr>
          </a:p>
        </p:txBody>
      </p:sp>
      <p:sp>
        <p:nvSpPr>
          <p:cNvPr id="520" name="Google Shape;520;p10"/>
          <p:cNvSpPr/>
          <p:nvPr/>
        </p:nvSpPr>
        <p:spPr>
          <a:xfrm>
            <a:off x="2013712" y="2729484"/>
            <a:ext cx="91500" cy="109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43B6B"/>
              </a:buClr>
              <a:buSzPts val="500"/>
              <a:buFont typeface="Calibri"/>
              <a:buNone/>
            </a:pPr>
            <a:r>
              <a:rPr b="0" i="0" lang="en-US" sz="500" u="none" cap="none" strike="noStrike">
                <a:solidFill>
                  <a:srgbClr val="143B6B"/>
                </a:solidFill>
                <a:latin typeface="Calibri"/>
                <a:ea typeface="Calibri"/>
                <a:cs typeface="Calibri"/>
                <a:sym typeface="Calibri"/>
              </a:rPr>
              <a:t>▶</a:t>
            </a:r>
            <a:endParaRPr b="0" i="0" sz="500" u="none" cap="none" strike="noStrike">
              <a:solidFill>
                <a:schemeClr val="dk1"/>
              </a:solidFill>
              <a:latin typeface="Calibri"/>
              <a:ea typeface="Calibri"/>
              <a:cs typeface="Calibri"/>
              <a:sym typeface="Calibri"/>
            </a:endParaRPr>
          </a:p>
        </p:txBody>
      </p:sp>
      <p:sp>
        <p:nvSpPr>
          <p:cNvPr id="521" name="Google Shape;521;p10"/>
          <p:cNvSpPr/>
          <p:nvPr/>
        </p:nvSpPr>
        <p:spPr>
          <a:xfrm>
            <a:off x="2096008" y="2532888"/>
            <a:ext cx="742800" cy="502800"/>
          </a:xfrm>
          <a:prstGeom prst="rect">
            <a:avLst/>
          </a:prstGeom>
          <a:solidFill>
            <a:srgbClr val="143B6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2" name="Google Shape;522;p10"/>
          <p:cNvSpPr/>
          <p:nvPr/>
        </p:nvSpPr>
        <p:spPr>
          <a:xfrm>
            <a:off x="2096008" y="2532888"/>
            <a:ext cx="742800" cy="502800"/>
          </a:xfrm>
          <a:prstGeom prst="rect">
            <a:avLst/>
          </a:prstGeom>
          <a:noFill/>
          <a:ln>
            <a:noFill/>
          </a:ln>
        </p:spPr>
        <p:txBody>
          <a:bodyPr anchorCtr="0" anchor="ctr" bIns="12700" lIns="12700" spcFirstLastPara="1" rIns="12700" wrap="square" tIns="12700">
            <a:noAutofit/>
          </a:bodyPr>
          <a:lstStyle/>
          <a:p>
            <a:pPr indent="0" lvl="0" marL="0" marR="0" rtl="0" algn="ctr">
              <a:lnSpc>
                <a:spcPct val="100000"/>
              </a:lnSpc>
              <a:spcBef>
                <a:spcPts val="0"/>
              </a:spcBef>
              <a:spcAft>
                <a:spcPts val="0"/>
              </a:spcAft>
              <a:buClr>
                <a:srgbClr val="FFFFFF"/>
              </a:buClr>
              <a:buSzPts val="650"/>
              <a:buFont typeface="Calibri"/>
              <a:buNone/>
            </a:pPr>
            <a:r>
              <a:rPr b="1" i="0" lang="en-US" sz="650" u="none" cap="none" strike="noStrike">
                <a:solidFill>
                  <a:srgbClr val="FFFFFF"/>
                </a:solidFill>
                <a:latin typeface="Calibri"/>
                <a:ea typeface="Calibri"/>
                <a:cs typeface="Calibri"/>
                <a:sym typeface="Calibri"/>
              </a:rPr>
              <a:t>Coach transfer</a:t>
            </a:r>
            <a:endParaRPr b="0" i="0" sz="65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FFFFFF"/>
              </a:buClr>
              <a:buSzPts val="650"/>
              <a:buFont typeface="Calibri"/>
              <a:buNone/>
            </a:pPr>
            <a:r>
              <a:rPr b="1" i="0" lang="en-US" sz="650" u="none" cap="none" strike="noStrike">
                <a:solidFill>
                  <a:srgbClr val="FFFFFF"/>
                </a:solidFill>
                <a:latin typeface="Calibri"/>
                <a:ea typeface="Calibri"/>
                <a:cs typeface="Calibri"/>
                <a:sym typeface="Calibri"/>
              </a:rPr>
              <a:t>(96 batch for 1 bus</a:t>
            </a:r>
            <a:endParaRPr b="1" i="0" sz="650" u="none" cap="none" strike="noStrike">
              <a:solidFill>
                <a:srgbClr val="FFFFFF"/>
              </a:solidFill>
              <a:latin typeface="Calibri"/>
              <a:ea typeface="Calibri"/>
              <a:cs typeface="Calibri"/>
              <a:sym typeface="Calibri"/>
            </a:endParaRPr>
          </a:p>
          <a:p>
            <a:pPr indent="0" lvl="0" marL="0" marR="0" rtl="0" algn="ctr">
              <a:lnSpc>
                <a:spcPct val="100000"/>
              </a:lnSpc>
              <a:spcBef>
                <a:spcPts val="0"/>
              </a:spcBef>
              <a:spcAft>
                <a:spcPts val="0"/>
              </a:spcAft>
              <a:buClr>
                <a:srgbClr val="FFFFFF"/>
              </a:buClr>
              <a:buSzPts val="650"/>
              <a:buFont typeface="Calibri"/>
              <a:buNone/>
            </a:pPr>
            <a:r>
              <a:rPr b="1" i="0" lang="en-US" sz="650" u="none" cap="none" strike="noStrike">
                <a:solidFill>
                  <a:srgbClr val="FFFFFF"/>
                </a:solidFill>
                <a:latin typeface="Calibri"/>
                <a:ea typeface="Calibri"/>
                <a:cs typeface="Calibri"/>
                <a:sym typeface="Calibri"/>
              </a:rPr>
              <a:t>&gt;96 2nd bus)</a:t>
            </a:r>
            <a:endParaRPr b="0" i="0" sz="650" u="none" cap="none" strike="noStrike">
              <a:solidFill>
                <a:schemeClr val="dk1"/>
              </a:solidFill>
              <a:latin typeface="Calibri"/>
              <a:ea typeface="Calibri"/>
              <a:cs typeface="Calibri"/>
              <a:sym typeface="Calibri"/>
            </a:endParaRPr>
          </a:p>
        </p:txBody>
      </p:sp>
      <p:sp>
        <p:nvSpPr>
          <p:cNvPr id="523" name="Google Shape;523;p10"/>
          <p:cNvSpPr/>
          <p:nvPr/>
        </p:nvSpPr>
        <p:spPr>
          <a:xfrm>
            <a:off x="2829560" y="2729484"/>
            <a:ext cx="91500" cy="109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43B6B"/>
              </a:buClr>
              <a:buSzPts val="500"/>
              <a:buFont typeface="Calibri"/>
              <a:buNone/>
            </a:pPr>
            <a:r>
              <a:rPr b="0" i="0" lang="en-US" sz="500" u="none" cap="none" strike="noStrike">
                <a:solidFill>
                  <a:srgbClr val="143B6B"/>
                </a:solidFill>
                <a:latin typeface="Calibri"/>
                <a:ea typeface="Calibri"/>
                <a:cs typeface="Calibri"/>
                <a:sym typeface="Calibri"/>
              </a:rPr>
              <a:t>▶</a:t>
            </a:r>
            <a:endParaRPr b="0" i="0" sz="500" u="none" cap="none" strike="noStrike">
              <a:solidFill>
                <a:schemeClr val="dk1"/>
              </a:solidFill>
              <a:latin typeface="Calibri"/>
              <a:ea typeface="Calibri"/>
              <a:cs typeface="Calibri"/>
              <a:sym typeface="Calibri"/>
            </a:endParaRPr>
          </a:p>
        </p:txBody>
      </p:sp>
      <p:sp>
        <p:nvSpPr>
          <p:cNvPr id="524" name="Google Shape;524;p10"/>
          <p:cNvSpPr/>
          <p:nvPr/>
        </p:nvSpPr>
        <p:spPr>
          <a:xfrm>
            <a:off x="2911856" y="2532888"/>
            <a:ext cx="742800" cy="502800"/>
          </a:xfrm>
          <a:prstGeom prst="rect">
            <a:avLst/>
          </a:prstGeom>
          <a:solidFill>
            <a:srgbClr val="143B6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5" name="Google Shape;525;p10"/>
          <p:cNvSpPr/>
          <p:nvPr/>
        </p:nvSpPr>
        <p:spPr>
          <a:xfrm>
            <a:off x="2911856" y="2532888"/>
            <a:ext cx="742800" cy="502800"/>
          </a:xfrm>
          <a:prstGeom prst="rect">
            <a:avLst/>
          </a:prstGeom>
          <a:noFill/>
          <a:ln>
            <a:noFill/>
          </a:ln>
        </p:spPr>
        <p:txBody>
          <a:bodyPr anchorCtr="0" anchor="ctr" bIns="12700" lIns="12700" spcFirstLastPara="1" rIns="12700" wrap="square" tIns="12700">
            <a:noAutofit/>
          </a:bodyPr>
          <a:lstStyle/>
          <a:p>
            <a:pPr indent="0" lvl="0" marL="0" marR="0" rtl="0" algn="ctr">
              <a:lnSpc>
                <a:spcPct val="100000"/>
              </a:lnSpc>
              <a:spcBef>
                <a:spcPts val="0"/>
              </a:spcBef>
              <a:spcAft>
                <a:spcPts val="0"/>
              </a:spcAft>
              <a:buClr>
                <a:srgbClr val="FFFFFF"/>
              </a:buClr>
              <a:buSzPts val="650"/>
              <a:buFont typeface="Calibri"/>
              <a:buNone/>
            </a:pPr>
            <a:r>
              <a:rPr b="1" i="0" lang="en-US" sz="650" u="none" cap="none" strike="noStrike">
                <a:solidFill>
                  <a:srgbClr val="FFFFFF"/>
                </a:solidFill>
                <a:latin typeface="Calibri"/>
                <a:ea typeface="Calibri"/>
                <a:cs typeface="Calibri"/>
                <a:sym typeface="Calibri"/>
              </a:rPr>
              <a:t>Coach</a:t>
            </a:r>
            <a:endParaRPr b="0" i="0" sz="65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FFFFFF"/>
              </a:buClr>
              <a:buSzPts val="650"/>
              <a:buFont typeface="Calibri"/>
              <a:buNone/>
            </a:pPr>
            <a:r>
              <a:rPr b="1" i="0" lang="en-US" sz="650" u="none" cap="none" strike="noStrike">
                <a:solidFill>
                  <a:srgbClr val="FFFFFF"/>
                </a:solidFill>
                <a:latin typeface="Calibri"/>
                <a:ea typeface="Calibri"/>
                <a:cs typeface="Calibri"/>
                <a:sym typeface="Calibri"/>
              </a:rPr>
              <a:t>drop off at Immigration Hall Entry</a:t>
            </a:r>
            <a:endParaRPr b="0" i="0" sz="650" u="none" cap="none" strike="noStrike">
              <a:solidFill>
                <a:schemeClr val="dk1"/>
              </a:solidFill>
              <a:latin typeface="Calibri"/>
              <a:ea typeface="Calibri"/>
              <a:cs typeface="Calibri"/>
              <a:sym typeface="Calibri"/>
            </a:endParaRPr>
          </a:p>
        </p:txBody>
      </p:sp>
      <p:sp>
        <p:nvSpPr>
          <p:cNvPr id="526" name="Google Shape;526;p10"/>
          <p:cNvSpPr/>
          <p:nvPr/>
        </p:nvSpPr>
        <p:spPr>
          <a:xfrm>
            <a:off x="3645408" y="2729484"/>
            <a:ext cx="91500" cy="109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43B6B"/>
              </a:buClr>
              <a:buSzPts val="500"/>
              <a:buFont typeface="Calibri"/>
              <a:buNone/>
            </a:pPr>
            <a:r>
              <a:rPr b="0" i="0" lang="en-US" sz="500" u="none" cap="none" strike="noStrike">
                <a:solidFill>
                  <a:srgbClr val="143B6B"/>
                </a:solidFill>
                <a:latin typeface="Calibri"/>
                <a:ea typeface="Calibri"/>
                <a:cs typeface="Calibri"/>
                <a:sym typeface="Calibri"/>
              </a:rPr>
              <a:t>▶</a:t>
            </a:r>
            <a:endParaRPr b="0" i="0" sz="500" u="none" cap="none" strike="noStrike">
              <a:solidFill>
                <a:schemeClr val="dk1"/>
              </a:solidFill>
              <a:latin typeface="Calibri"/>
              <a:ea typeface="Calibri"/>
              <a:cs typeface="Calibri"/>
              <a:sym typeface="Calibri"/>
            </a:endParaRPr>
          </a:p>
        </p:txBody>
      </p:sp>
      <p:sp>
        <p:nvSpPr>
          <p:cNvPr id="527" name="Google Shape;527;p10"/>
          <p:cNvSpPr/>
          <p:nvPr/>
        </p:nvSpPr>
        <p:spPr>
          <a:xfrm>
            <a:off x="3727704" y="2532888"/>
            <a:ext cx="742800" cy="502800"/>
          </a:xfrm>
          <a:prstGeom prst="rect">
            <a:avLst/>
          </a:prstGeom>
          <a:solidFill>
            <a:srgbClr val="143B6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8" name="Google Shape;528;p10"/>
          <p:cNvSpPr/>
          <p:nvPr/>
        </p:nvSpPr>
        <p:spPr>
          <a:xfrm>
            <a:off x="3727704" y="2532888"/>
            <a:ext cx="742800" cy="502800"/>
          </a:xfrm>
          <a:prstGeom prst="rect">
            <a:avLst/>
          </a:prstGeom>
          <a:noFill/>
          <a:ln>
            <a:noFill/>
          </a:ln>
        </p:spPr>
        <p:txBody>
          <a:bodyPr anchorCtr="0" anchor="ctr" bIns="12700" lIns="12700" spcFirstLastPara="1" rIns="12700" wrap="square" tIns="12700">
            <a:noAutofit/>
          </a:bodyPr>
          <a:lstStyle/>
          <a:p>
            <a:pPr indent="0" lvl="0" marL="0" marR="0" rtl="0" algn="ctr">
              <a:lnSpc>
                <a:spcPct val="100000"/>
              </a:lnSpc>
              <a:spcBef>
                <a:spcPts val="0"/>
              </a:spcBef>
              <a:spcAft>
                <a:spcPts val="0"/>
              </a:spcAft>
              <a:buClr>
                <a:srgbClr val="FFFFFF"/>
              </a:buClr>
              <a:buSzPts val="650"/>
              <a:buFont typeface="Calibri"/>
              <a:buNone/>
            </a:pPr>
            <a:r>
              <a:rPr b="1" i="0" lang="en-US" sz="650" u="none" cap="none" strike="noStrike">
                <a:solidFill>
                  <a:srgbClr val="FFFFFF"/>
                </a:solidFill>
                <a:latin typeface="Calibri"/>
                <a:ea typeface="Calibri"/>
                <a:cs typeface="Calibri"/>
                <a:sym typeface="Calibri"/>
              </a:rPr>
              <a:t>Serpentine</a:t>
            </a:r>
            <a:endParaRPr b="0" i="0" sz="65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FFFFFF"/>
              </a:buClr>
              <a:buSzPts val="650"/>
              <a:buFont typeface="Calibri"/>
              <a:buNone/>
            </a:pPr>
            <a:r>
              <a:rPr b="1" i="0" lang="en-US" sz="650" u="none" cap="none" strike="noStrike">
                <a:solidFill>
                  <a:srgbClr val="FFFFFF"/>
                </a:solidFill>
                <a:latin typeface="Calibri"/>
                <a:ea typeface="Calibri"/>
                <a:cs typeface="Calibri"/>
                <a:sym typeface="Calibri"/>
              </a:rPr>
              <a:t>queue</a:t>
            </a:r>
            <a:endParaRPr b="0" i="0" sz="650" u="none" cap="none" strike="noStrike">
              <a:solidFill>
                <a:schemeClr val="dk1"/>
              </a:solidFill>
              <a:latin typeface="Calibri"/>
              <a:ea typeface="Calibri"/>
              <a:cs typeface="Calibri"/>
              <a:sym typeface="Calibri"/>
            </a:endParaRPr>
          </a:p>
        </p:txBody>
      </p:sp>
      <p:sp>
        <p:nvSpPr>
          <p:cNvPr id="529" name="Google Shape;529;p10"/>
          <p:cNvSpPr/>
          <p:nvPr/>
        </p:nvSpPr>
        <p:spPr>
          <a:xfrm>
            <a:off x="4461256" y="2729484"/>
            <a:ext cx="91500" cy="109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43B6B"/>
              </a:buClr>
              <a:buSzPts val="500"/>
              <a:buFont typeface="Calibri"/>
              <a:buNone/>
            </a:pPr>
            <a:r>
              <a:rPr b="0" i="0" lang="en-US" sz="500" u="none" cap="none" strike="noStrike">
                <a:solidFill>
                  <a:srgbClr val="143B6B"/>
                </a:solidFill>
                <a:latin typeface="Calibri"/>
                <a:ea typeface="Calibri"/>
                <a:cs typeface="Calibri"/>
                <a:sym typeface="Calibri"/>
              </a:rPr>
              <a:t>▶</a:t>
            </a:r>
            <a:endParaRPr b="0" i="0" sz="500" u="none" cap="none" strike="noStrike">
              <a:solidFill>
                <a:schemeClr val="dk1"/>
              </a:solidFill>
              <a:latin typeface="Calibri"/>
              <a:ea typeface="Calibri"/>
              <a:cs typeface="Calibri"/>
              <a:sym typeface="Calibri"/>
            </a:endParaRPr>
          </a:p>
        </p:txBody>
      </p:sp>
      <p:sp>
        <p:nvSpPr>
          <p:cNvPr id="530" name="Google Shape;530;p10"/>
          <p:cNvSpPr/>
          <p:nvPr/>
        </p:nvSpPr>
        <p:spPr>
          <a:xfrm>
            <a:off x="4543552" y="2532888"/>
            <a:ext cx="742800" cy="502800"/>
          </a:xfrm>
          <a:prstGeom prst="rect">
            <a:avLst/>
          </a:prstGeom>
          <a:solidFill>
            <a:srgbClr val="143B6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1" name="Google Shape;531;p10"/>
          <p:cNvSpPr/>
          <p:nvPr/>
        </p:nvSpPr>
        <p:spPr>
          <a:xfrm>
            <a:off x="4543552" y="2532888"/>
            <a:ext cx="742800" cy="502800"/>
          </a:xfrm>
          <a:prstGeom prst="rect">
            <a:avLst/>
          </a:prstGeom>
          <a:noFill/>
          <a:ln>
            <a:noFill/>
          </a:ln>
        </p:spPr>
        <p:txBody>
          <a:bodyPr anchorCtr="0" anchor="ctr" bIns="12700" lIns="12700" spcFirstLastPara="1" rIns="12700" wrap="square" tIns="12700">
            <a:noAutofit/>
          </a:bodyPr>
          <a:lstStyle/>
          <a:p>
            <a:pPr indent="0" lvl="0" marL="0" marR="0" rtl="0" algn="ctr">
              <a:lnSpc>
                <a:spcPct val="100000"/>
              </a:lnSpc>
              <a:spcBef>
                <a:spcPts val="0"/>
              </a:spcBef>
              <a:spcAft>
                <a:spcPts val="0"/>
              </a:spcAft>
              <a:buClr>
                <a:srgbClr val="FFFFFF"/>
              </a:buClr>
              <a:buSzPts val="650"/>
              <a:buFont typeface="Calibri"/>
              <a:buNone/>
            </a:pPr>
            <a:r>
              <a:rPr b="1" i="0" lang="en-US" sz="650" u="none" cap="none" strike="noStrike">
                <a:solidFill>
                  <a:srgbClr val="FFFFFF"/>
                </a:solidFill>
                <a:latin typeface="Calibri"/>
                <a:ea typeface="Calibri"/>
                <a:cs typeface="Calibri"/>
                <a:sym typeface="Calibri"/>
              </a:rPr>
              <a:t>Staff directs</a:t>
            </a:r>
            <a:endParaRPr b="0" i="0" sz="65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FFFFFF"/>
              </a:buClr>
              <a:buSzPts val="650"/>
              <a:buFont typeface="Calibri"/>
              <a:buNone/>
            </a:pPr>
            <a:r>
              <a:rPr b="1" i="0" lang="en-US" sz="650" u="none" cap="none" strike="noStrike">
                <a:solidFill>
                  <a:srgbClr val="FFFFFF"/>
                </a:solidFill>
                <a:latin typeface="Calibri"/>
                <a:ea typeface="Calibri"/>
                <a:cs typeface="Calibri"/>
                <a:sym typeface="Calibri"/>
              </a:rPr>
              <a:t>to lane</a:t>
            </a:r>
            <a:endParaRPr b="1" i="0" sz="650" u="none" cap="none" strike="noStrike">
              <a:solidFill>
                <a:srgbClr val="FFFFFF"/>
              </a:solidFill>
              <a:latin typeface="Calibri"/>
              <a:ea typeface="Calibri"/>
              <a:cs typeface="Calibri"/>
              <a:sym typeface="Calibri"/>
            </a:endParaRPr>
          </a:p>
          <a:p>
            <a:pPr indent="0" lvl="0" marL="0" marR="0" rtl="0" algn="ctr">
              <a:lnSpc>
                <a:spcPct val="100000"/>
              </a:lnSpc>
              <a:spcBef>
                <a:spcPts val="0"/>
              </a:spcBef>
              <a:spcAft>
                <a:spcPts val="0"/>
              </a:spcAft>
              <a:buClr>
                <a:srgbClr val="FFFFFF"/>
              </a:buClr>
              <a:buSzPts val="650"/>
              <a:buFont typeface="Calibri"/>
              <a:buNone/>
            </a:pPr>
            <a:r>
              <a:rPr b="1" i="0" lang="en-US" sz="650" u="none" cap="none" strike="noStrike">
                <a:solidFill>
                  <a:schemeClr val="lt1"/>
                </a:solidFill>
                <a:latin typeface="Calibri"/>
                <a:ea typeface="Calibri"/>
                <a:cs typeface="Calibri"/>
                <a:sym typeface="Calibri"/>
              </a:rPr>
              <a:t>(E-gate/Manned Desk)</a:t>
            </a:r>
            <a:endParaRPr b="0" i="0" sz="650" u="none" cap="none" strike="noStrike">
              <a:solidFill>
                <a:schemeClr val="dk1"/>
              </a:solidFill>
              <a:latin typeface="Calibri"/>
              <a:ea typeface="Calibri"/>
              <a:cs typeface="Calibri"/>
              <a:sym typeface="Calibri"/>
            </a:endParaRPr>
          </a:p>
        </p:txBody>
      </p:sp>
      <p:sp>
        <p:nvSpPr>
          <p:cNvPr id="532" name="Google Shape;532;p10"/>
          <p:cNvSpPr/>
          <p:nvPr/>
        </p:nvSpPr>
        <p:spPr>
          <a:xfrm>
            <a:off x="5277104" y="2729484"/>
            <a:ext cx="91500" cy="109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43B6B"/>
              </a:buClr>
              <a:buSzPts val="500"/>
              <a:buFont typeface="Calibri"/>
              <a:buNone/>
            </a:pPr>
            <a:r>
              <a:rPr b="0" i="0" lang="en-US" sz="500" u="none" cap="none" strike="noStrike">
                <a:solidFill>
                  <a:srgbClr val="143B6B"/>
                </a:solidFill>
                <a:latin typeface="Calibri"/>
                <a:ea typeface="Calibri"/>
                <a:cs typeface="Calibri"/>
                <a:sym typeface="Calibri"/>
              </a:rPr>
              <a:t>▶</a:t>
            </a:r>
            <a:endParaRPr b="0" i="0" sz="500" u="none" cap="none" strike="noStrike">
              <a:solidFill>
                <a:schemeClr val="dk1"/>
              </a:solidFill>
              <a:latin typeface="Calibri"/>
              <a:ea typeface="Calibri"/>
              <a:cs typeface="Calibri"/>
              <a:sym typeface="Calibri"/>
            </a:endParaRPr>
          </a:p>
        </p:txBody>
      </p:sp>
      <p:sp>
        <p:nvSpPr>
          <p:cNvPr id="533" name="Google Shape;533;p10"/>
          <p:cNvSpPr/>
          <p:nvPr/>
        </p:nvSpPr>
        <p:spPr>
          <a:xfrm>
            <a:off x="5359400" y="2532888"/>
            <a:ext cx="742800" cy="502800"/>
          </a:xfrm>
          <a:prstGeom prst="rect">
            <a:avLst/>
          </a:prstGeom>
          <a:solidFill>
            <a:srgbClr val="143B6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4" name="Google Shape;534;p10"/>
          <p:cNvSpPr/>
          <p:nvPr/>
        </p:nvSpPr>
        <p:spPr>
          <a:xfrm>
            <a:off x="5359400" y="2532888"/>
            <a:ext cx="742800" cy="502800"/>
          </a:xfrm>
          <a:prstGeom prst="rect">
            <a:avLst/>
          </a:prstGeom>
          <a:noFill/>
          <a:ln>
            <a:noFill/>
          </a:ln>
        </p:spPr>
        <p:txBody>
          <a:bodyPr anchorCtr="0" anchor="ctr" bIns="12700" lIns="12700" spcFirstLastPara="1" rIns="12700" wrap="square" tIns="12700">
            <a:noAutofit/>
          </a:bodyPr>
          <a:lstStyle/>
          <a:p>
            <a:pPr indent="0" lvl="0" marL="0" marR="0" rtl="0" algn="ctr">
              <a:lnSpc>
                <a:spcPct val="100000"/>
              </a:lnSpc>
              <a:spcBef>
                <a:spcPts val="0"/>
              </a:spcBef>
              <a:spcAft>
                <a:spcPts val="0"/>
              </a:spcAft>
              <a:buClr>
                <a:srgbClr val="FFFFFF"/>
              </a:buClr>
              <a:buSzPts val="650"/>
              <a:buFont typeface="Calibri"/>
              <a:buNone/>
            </a:pPr>
            <a:r>
              <a:rPr b="1" i="0" lang="en-US" sz="650" u="none" cap="none" strike="noStrike">
                <a:solidFill>
                  <a:srgbClr val="FFFFFF"/>
                </a:solidFill>
                <a:latin typeface="Calibri"/>
                <a:ea typeface="Calibri"/>
                <a:cs typeface="Calibri"/>
                <a:sym typeface="Calibri"/>
              </a:rPr>
              <a:t>Passport</a:t>
            </a:r>
            <a:endParaRPr b="0" i="0" sz="65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FFFFFF"/>
              </a:buClr>
              <a:buSzPts val="650"/>
              <a:buFont typeface="Calibri"/>
              <a:buNone/>
            </a:pPr>
            <a:r>
              <a:rPr b="1" i="0" lang="en-US" sz="650" u="none" cap="none" strike="noStrike">
                <a:solidFill>
                  <a:srgbClr val="FFFFFF"/>
                </a:solidFill>
                <a:latin typeface="Calibri"/>
                <a:ea typeface="Calibri"/>
                <a:cs typeface="Calibri"/>
                <a:sym typeface="Calibri"/>
              </a:rPr>
              <a:t>control</a:t>
            </a:r>
            <a:endParaRPr b="0" i="0" sz="650" u="none" cap="none" strike="noStrike">
              <a:solidFill>
                <a:schemeClr val="dk1"/>
              </a:solidFill>
              <a:latin typeface="Calibri"/>
              <a:ea typeface="Calibri"/>
              <a:cs typeface="Calibri"/>
              <a:sym typeface="Calibri"/>
            </a:endParaRPr>
          </a:p>
        </p:txBody>
      </p:sp>
      <p:sp>
        <p:nvSpPr>
          <p:cNvPr id="535" name="Google Shape;535;p10"/>
          <p:cNvSpPr/>
          <p:nvPr/>
        </p:nvSpPr>
        <p:spPr>
          <a:xfrm>
            <a:off x="6092952" y="2729484"/>
            <a:ext cx="91500" cy="109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43B6B"/>
              </a:buClr>
              <a:buSzPts val="500"/>
              <a:buFont typeface="Calibri"/>
              <a:buNone/>
            </a:pPr>
            <a:r>
              <a:rPr b="0" i="0" lang="en-US" sz="500" u="none" cap="none" strike="noStrike">
                <a:solidFill>
                  <a:srgbClr val="143B6B"/>
                </a:solidFill>
                <a:latin typeface="Calibri"/>
                <a:ea typeface="Calibri"/>
                <a:cs typeface="Calibri"/>
                <a:sym typeface="Calibri"/>
              </a:rPr>
              <a:t>▶</a:t>
            </a:r>
            <a:endParaRPr b="0" i="0" sz="500" u="none" cap="none" strike="noStrike">
              <a:solidFill>
                <a:schemeClr val="dk1"/>
              </a:solidFill>
              <a:latin typeface="Calibri"/>
              <a:ea typeface="Calibri"/>
              <a:cs typeface="Calibri"/>
              <a:sym typeface="Calibri"/>
            </a:endParaRPr>
          </a:p>
        </p:txBody>
      </p:sp>
      <p:sp>
        <p:nvSpPr>
          <p:cNvPr id="536" name="Google Shape;536;p10"/>
          <p:cNvSpPr/>
          <p:nvPr/>
        </p:nvSpPr>
        <p:spPr>
          <a:xfrm>
            <a:off x="6175248" y="2532888"/>
            <a:ext cx="742800" cy="502800"/>
          </a:xfrm>
          <a:prstGeom prst="rect">
            <a:avLst/>
          </a:prstGeom>
          <a:solidFill>
            <a:srgbClr val="143B6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7" name="Google Shape;537;p10"/>
          <p:cNvSpPr/>
          <p:nvPr/>
        </p:nvSpPr>
        <p:spPr>
          <a:xfrm>
            <a:off x="6175248" y="2532888"/>
            <a:ext cx="742800" cy="502800"/>
          </a:xfrm>
          <a:prstGeom prst="rect">
            <a:avLst/>
          </a:prstGeom>
          <a:noFill/>
          <a:ln>
            <a:noFill/>
          </a:ln>
        </p:spPr>
        <p:txBody>
          <a:bodyPr anchorCtr="0" anchor="ctr" bIns="12700" lIns="12700" spcFirstLastPara="1" rIns="12700" wrap="square" tIns="12700">
            <a:noAutofit/>
          </a:bodyPr>
          <a:lstStyle/>
          <a:p>
            <a:pPr indent="0" lvl="0" marL="0" marR="0" rtl="0" algn="ctr">
              <a:lnSpc>
                <a:spcPct val="100000"/>
              </a:lnSpc>
              <a:spcBef>
                <a:spcPts val="0"/>
              </a:spcBef>
              <a:spcAft>
                <a:spcPts val="0"/>
              </a:spcAft>
              <a:buClr>
                <a:srgbClr val="FFFFFF"/>
              </a:buClr>
              <a:buSzPts val="650"/>
              <a:buFont typeface="Calibri"/>
              <a:buNone/>
            </a:pPr>
            <a:r>
              <a:rPr b="1" i="0" lang="en-US" sz="650" u="none" cap="none" strike="noStrike">
                <a:solidFill>
                  <a:srgbClr val="FFFFFF"/>
                </a:solidFill>
                <a:latin typeface="Calibri"/>
                <a:ea typeface="Calibri"/>
                <a:cs typeface="Calibri"/>
                <a:sym typeface="Calibri"/>
              </a:rPr>
              <a:t>Buffer</a:t>
            </a:r>
            <a:endParaRPr b="0" i="0" sz="65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FFFFFF"/>
              </a:buClr>
              <a:buSzPts val="650"/>
              <a:buFont typeface="Calibri"/>
              <a:buNone/>
            </a:pPr>
            <a:r>
              <a:rPr b="1" i="0" lang="en-US" sz="650" u="none" cap="none" strike="noStrike">
                <a:solidFill>
                  <a:srgbClr val="FFFFFF"/>
                </a:solidFill>
                <a:latin typeface="Calibri"/>
                <a:ea typeface="Calibri"/>
                <a:cs typeface="Calibri"/>
                <a:sym typeface="Calibri"/>
              </a:rPr>
              <a:t>zone</a:t>
            </a:r>
            <a:endParaRPr b="0" i="0" sz="650" u="none" cap="none" strike="noStrike">
              <a:solidFill>
                <a:schemeClr val="dk1"/>
              </a:solidFill>
              <a:latin typeface="Calibri"/>
              <a:ea typeface="Calibri"/>
              <a:cs typeface="Calibri"/>
              <a:sym typeface="Calibri"/>
            </a:endParaRPr>
          </a:p>
        </p:txBody>
      </p:sp>
      <p:sp>
        <p:nvSpPr>
          <p:cNvPr id="538" name="Google Shape;538;p10"/>
          <p:cNvSpPr/>
          <p:nvPr/>
        </p:nvSpPr>
        <p:spPr>
          <a:xfrm>
            <a:off x="6908800" y="2729484"/>
            <a:ext cx="91500" cy="109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43B6B"/>
              </a:buClr>
              <a:buSzPts val="500"/>
              <a:buFont typeface="Calibri"/>
              <a:buNone/>
            </a:pPr>
            <a:r>
              <a:rPr b="0" i="0" lang="en-US" sz="500" u="none" cap="none" strike="noStrike">
                <a:solidFill>
                  <a:srgbClr val="143B6B"/>
                </a:solidFill>
                <a:latin typeface="Calibri"/>
                <a:ea typeface="Calibri"/>
                <a:cs typeface="Calibri"/>
                <a:sym typeface="Calibri"/>
              </a:rPr>
              <a:t>▶</a:t>
            </a:r>
            <a:endParaRPr b="0" i="0" sz="500" u="none" cap="none" strike="noStrike">
              <a:solidFill>
                <a:schemeClr val="dk1"/>
              </a:solidFill>
              <a:latin typeface="Calibri"/>
              <a:ea typeface="Calibri"/>
              <a:cs typeface="Calibri"/>
              <a:sym typeface="Calibri"/>
            </a:endParaRPr>
          </a:p>
        </p:txBody>
      </p:sp>
      <p:sp>
        <p:nvSpPr>
          <p:cNvPr id="539" name="Google Shape;539;p10"/>
          <p:cNvSpPr/>
          <p:nvPr/>
        </p:nvSpPr>
        <p:spPr>
          <a:xfrm>
            <a:off x="6991096" y="2532888"/>
            <a:ext cx="742800" cy="502800"/>
          </a:xfrm>
          <a:prstGeom prst="rect">
            <a:avLst/>
          </a:prstGeom>
          <a:solidFill>
            <a:srgbClr val="143B6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0" name="Google Shape;540;p10"/>
          <p:cNvSpPr/>
          <p:nvPr/>
        </p:nvSpPr>
        <p:spPr>
          <a:xfrm>
            <a:off x="6991096" y="2532888"/>
            <a:ext cx="742800" cy="502800"/>
          </a:xfrm>
          <a:prstGeom prst="rect">
            <a:avLst/>
          </a:prstGeom>
          <a:noFill/>
          <a:ln>
            <a:noFill/>
          </a:ln>
        </p:spPr>
        <p:txBody>
          <a:bodyPr anchorCtr="0" anchor="ctr" bIns="12700" lIns="12700" spcFirstLastPara="1" rIns="12700" wrap="square" tIns="12700">
            <a:noAutofit/>
          </a:bodyPr>
          <a:lstStyle/>
          <a:p>
            <a:pPr indent="0" lvl="0" marL="0" marR="0" rtl="0" algn="ctr">
              <a:lnSpc>
                <a:spcPct val="100000"/>
              </a:lnSpc>
              <a:spcBef>
                <a:spcPts val="0"/>
              </a:spcBef>
              <a:spcAft>
                <a:spcPts val="0"/>
              </a:spcAft>
              <a:buClr>
                <a:srgbClr val="FFFFFF"/>
              </a:buClr>
              <a:buSzPts val="650"/>
              <a:buFont typeface="Calibri"/>
              <a:buNone/>
            </a:pPr>
            <a:r>
              <a:rPr b="1" i="0" lang="en-US" sz="650" u="none" cap="none" strike="noStrike">
                <a:solidFill>
                  <a:srgbClr val="FFFFFF"/>
                </a:solidFill>
                <a:latin typeface="Calibri"/>
                <a:ea typeface="Calibri"/>
                <a:cs typeface="Calibri"/>
                <a:sym typeface="Calibri"/>
              </a:rPr>
              <a:t>Baggage</a:t>
            </a:r>
            <a:endParaRPr b="0" i="0" sz="65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FFFFFF"/>
              </a:buClr>
              <a:buSzPts val="650"/>
              <a:buFont typeface="Calibri"/>
              <a:buNone/>
            </a:pPr>
            <a:r>
              <a:rPr b="1" i="0" lang="en-US" sz="650" u="none" cap="none" strike="noStrike">
                <a:solidFill>
                  <a:srgbClr val="FFFFFF"/>
                </a:solidFill>
                <a:latin typeface="Calibri"/>
                <a:ea typeface="Calibri"/>
                <a:cs typeface="Calibri"/>
                <a:sym typeface="Calibri"/>
              </a:rPr>
              <a:t>reclaim</a:t>
            </a:r>
            <a:endParaRPr b="0" i="0" sz="650" u="none" cap="none" strike="noStrike">
              <a:solidFill>
                <a:schemeClr val="dk1"/>
              </a:solidFill>
              <a:latin typeface="Calibri"/>
              <a:ea typeface="Calibri"/>
              <a:cs typeface="Calibri"/>
              <a:sym typeface="Calibri"/>
            </a:endParaRPr>
          </a:p>
        </p:txBody>
      </p:sp>
      <p:sp>
        <p:nvSpPr>
          <p:cNvPr id="541" name="Google Shape;541;p10"/>
          <p:cNvSpPr/>
          <p:nvPr/>
        </p:nvSpPr>
        <p:spPr>
          <a:xfrm>
            <a:off x="7724648" y="2729484"/>
            <a:ext cx="91500" cy="109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43B6B"/>
              </a:buClr>
              <a:buSzPts val="500"/>
              <a:buFont typeface="Calibri"/>
              <a:buNone/>
            </a:pPr>
            <a:r>
              <a:rPr b="0" i="0" lang="en-US" sz="500" u="none" cap="none" strike="noStrike">
                <a:solidFill>
                  <a:srgbClr val="143B6B"/>
                </a:solidFill>
                <a:latin typeface="Calibri"/>
                <a:ea typeface="Calibri"/>
                <a:cs typeface="Calibri"/>
                <a:sym typeface="Calibri"/>
              </a:rPr>
              <a:t>▶</a:t>
            </a:r>
            <a:endParaRPr b="0" i="0" sz="500" u="none" cap="none" strike="noStrike">
              <a:solidFill>
                <a:schemeClr val="dk1"/>
              </a:solidFill>
              <a:latin typeface="Calibri"/>
              <a:ea typeface="Calibri"/>
              <a:cs typeface="Calibri"/>
              <a:sym typeface="Calibri"/>
            </a:endParaRPr>
          </a:p>
        </p:txBody>
      </p:sp>
      <p:sp>
        <p:nvSpPr>
          <p:cNvPr id="542" name="Google Shape;542;p10"/>
          <p:cNvSpPr/>
          <p:nvPr/>
        </p:nvSpPr>
        <p:spPr>
          <a:xfrm>
            <a:off x="7806944" y="2532888"/>
            <a:ext cx="742800" cy="502800"/>
          </a:xfrm>
          <a:prstGeom prst="rect">
            <a:avLst/>
          </a:prstGeom>
          <a:solidFill>
            <a:srgbClr val="143B6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3" name="Google Shape;543;p10"/>
          <p:cNvSpPr/>
          <p:nvPr/>
        </p:nvSpPr>
        <p:spPr>
          <a:xfrm>
            <a:off x="7806944" y="2532888"/>
            <a:ext cx="742800" cy="502800"/>
          </a:xfrm>
          <a:prstGeom prst="rect">
            <a:avLst/>
          </a:prstGeom>
          <a:noFill/>
          <a:ln>
            <a:noFill/>
          </a:ln>
        </p:spPr>
        <p:txBody>
          <a:bodyPr anchorCtr="0" anchor="ctr" bIns="12700" lIns="12700" spcFirstLastPara="1" rIns="12700" wrap="square" tIns="12700">
            <a:noAutofit/>
          </a:bodyPr>
          <a:lstStyle/>
          <a:p>
            <a:pPr indent="0" lvl="0" marL="0" marR="0" rtl="0" algn="ctr">
              <a:lnSpc>
                <a:spcPct val="100000"/>
              </a:lnSpc>
              <a:spcBef>
                <a:spcPts val="0"/>
              </a:spcBef>
              <a:spcAft>
                <a:spcPts val="0"/>
              </a:spcAft>
              <a:buClr>
                <a:srgbClr val="FFFFFF"/>
              </a:buClr>
              <a:buSzPts val="650"/>
              <a:buFont typeface="Calibri"/>
              <a:buNone/>
            </a:pPr>
            <a:r>
              <a:rPr b="1" i="0" lang="en-US" sz="650" u="none" cap="none" strike="noStrike">
                <a:solidFill>
                  <a:srgbClr val="FFFFFF"/>
                </a:solidFill>
                <a:latin typeface="Calibri"/>
                <a:ea typeface="Calibri"/>
                <a:cs typeface="Calibri"/>
                <a:sym typeface="Calibri"/>
              </a:rPr>
              <a:t>Exit</a:t>
            </a:r>
            <a:endParaRPr b="0" i="0" sz="650" u="none" cap="none" strike="noStrike">
              <a:solidFill>
                <a:schemeClr val="dk1"/>
              </a:solidFill>
              <a:latin typeface="Calibri"/>
              <a:ea typeface="Calibri"/>
              <a:cs typeface="Calibri"/>
              <a:sym typeface="Calibri"/>
            </a:endParaRPr>
          </a:p>
        </p:txBody>
      </p:sp>
      <p:sp>
        <p:nvSpPr>
          <p:cNvPr id="544" name="Google Shape;544;p10"/>
          <p:cNvSpPr/>
          <p:nvPr/>
        </p:nvSpPr>
        <p:spPr>
          <a:xfrm>
            <a:off x="274325" y="3742125"/>
            <a:ext cx="868800" cy="759000"/>
          </a:xfrm>
          <a:prstGeom prst="rect">
            <a:avLst/>
          </a:prstGeom>
          <a:solidFill>
            <a:srgbClr val="CB4F7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5" name="Google Shape;545;p10"/>
          <p:cNvSpPr/>
          <p:nvPr/>
        </p:nvSpPr>
        <p:spPr>
          <a:xfrm>
            <a:off x="274325" y="3742125"/>
            <a:ext cx="868800" cy="723600"/>
          </a:xfrm>
          <a:prstGeom prst="rect">
            <a:avLst/>
          </a:prstGeom>
          <a:noFill/>
          <a:ln>
            <a:noFill/>
          </a:ln>
        </p:spPr>
        <p:txBody>
          <a:bodyPr anchorCtr="0" anchor="ctr" bIns="25400" lIns="25400" spcFirstLastPara="1" rIns="25400" wrap="square" tIns="25400">
            <a:noAutofit/>
          </a:bodyPr>
          <a:lstStyle/>
          <a:p>
            <a:pPr indent="0" lvl="0" marL="0" marR="0" rtl="0" algn="ctr">
              <a:lnSpc>
                <a:spcPct val="100000"/>
              </a:lnSpc>
              <a:spcBef>
                <a:spcPts val="0"/>
              </a:spcBef>
              <a:spcAft>
                <a:spcPts val="0"/>
              </a:spcAft>
              <a:buClr>
                <a:srgbClr val="FFFFFF"/>
              </a:buClr>
              <a:buSzPts val="800"/>
              <a:buFont typeface="Calibri"/>
              <a:buNone/>
            </a:pPr>
            <a:r>
              <a:rPr b="1" i="0" lang="en-US" sz="800" u="none" cap="none" strike="noStrike">
                <a:solidFill>
                  <a:srgbClr val="FFFFFF"/>
                </a:solidFill>
                <a:latin typeface="Calibri"/>
                <a:ea typeface="Calibri"/>
                <a:cs typeface="Calibri"/>
                <a:sym typeface="Calibri"/>
              </a:rPr>
              <a:t>PRM / UM / Special assistance</a:t>
            </a:r>
            <a:endParaRPr b="0" i="0" sz="800" u="none" cap="none" strike="noStrike">
              <a:solidFill>
                <a:schemeClr val="dk1"/>
              </a:solidFill>
              <a:latin typeface="Calibri"/>
              <a:ea typeface="Calibri"/>
              <a:cs typeface="Calibri"/>
              <a:sym typeface="Calibri"/>
            </a:endParaRPr>
          </a:p>
        </p:txBody>
      </p:sp>
      <p:sp>
        <p:nvSpPr>
          <p:cNvPr id="546" name="Google Shape;546;p10"/>
          <p:cNvSpPr/>
          <p:nvPr/>
        </p:nvSpPr>
        <p:spPr>
          <a:xfrm>
            <a:off x="1280160" y="3877056"/>
            <a:ext cx="975900" cy="502800"/>
          </a:xfrm>
          <a:prstGeom prst="rect">
            <a:avLst/>
          </a:prstGeom>
          <a:solidFill>
            <a:srgbClr val="CB4F7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7" name="Google Shape;547;p10"/>
          <p:cNvSpPr/>
          <p:nvPr/>
        </p:nvSpPr>
        <p:spPr>
          <a:xfrm>
            <a:off x="1280160" y="3877056"/>
            <a:ext cx="975900" cy="502800"/>
          </a:xfrm>
          <a:prstGeom prst="rect">
            <a:avLst/>
          </a:prstGeom>
          <a:noFill/>
          <a:ln>
            <a:noFill/>
          </a:ln>
        </p:spPr>
        <p:txBody>
          <a:bodyPr anchorCtr="0" anchor="ctr" bIns="12700" lIns="12700" spcFirstLastPara="1" rIns="12700" wrap="square" tIns="12700">
            <a:noAutofit/>
          </a:bodyPr>
          <a:lstStyle/>
          <a:p>
            <a:pPr indent="0" lvl="0" marL="0" marR="0" rtl="0" algn="ctr">
              <a:lnSpc>
                <a:spcPct val="100000"/>
              </a:lnSpc>
              <a:spcBef>
                <a:spcPts val="0"/>
              </a:spcBef>
              <a:spcAft>
                <a:spcPts val="0"/>
              </a:spcAft>
              <a:buClr>
                <a:srgbClr val="FFFFFF"/>
              </a:buClr>
              <a:buSzPts val="650"/>
              <a:buFont typeface="Calibri"/>
              <a:buNone/>
            </a:pPr>
            <a:r>
              <a:rPr b="1" i="0" lang="en-US" sz="650" u="none" cap="none" strike="noStrike">
                <a:solidFill>
                  <a:srgbClr val="FFFFFF"/>
                </a:solidFill>
                <a:latin typeface="Calibri"/>
                <a:ea typeface="Calibri"/>
                <a:cs typeface="Calibri"/>
                <a:sym typeface="Calibri"/>
              </a:rPr>
              <a:t>Disembark</a:t>
            </a:r>
            <a:endParaRPr b="0" i="0" sz="65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FFFFFF"/>
              </a:buClr>
              <a:buSzPts val="650"/>
              <a:buFont typeface="Calibri"/>
              <a:buNone/>
            </a:pPr>
            <a:r>
              <a:rPr b="1" i="0" lang="en-US" sz="650" u="none" cap="none" strike="noStrike">
                <a:solidFill>
                  <a:srgbClr val="FFFFFF"/>
                </a:solidFill>
                <a:latin typeface="Calibri"/>
                <a:ea typeface="Calibri"/>
                <a:cs typeface="Calibri"/>
                <a:sym typeface="Calibri"/>
              </a:rPr>
              <a:t>first</a:t>
            </a:r>
            <a:endParaRPr b="0" i="0" sz="650" u="none" cap="none" strike="noStrike">
              <a:solidFill>
                <a:schemeClr val="dk1"/>
              </a:solidFill>
              <a:latin typeface="Calibri"/>
              <a:ea typeface="Calibri"/>
              <a:cs typeface="Calibri"/>
              <a:sym typeface="Calibri"/>
            </a:endParaRPr>
          </a:p>
        </p:txBody>
      </p:sp>
      <p:sp>
        <p:nvSpPr>
          <p:cNvPr id="548" name="Google Shape;548;p10"/>
          <p:cNvSpPr/>
          <p:nvPr/>
        </p:nvSpPr>
        <p:spPr>
          <a:xfrm>
            <a:off x="2246811" y="4073652"/>
            <a:ext cx="91500" cy="109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CB4F7F"/>
              </a:buClr>
              <a:buSzPts val="500"/>
              <a:buFont typeface="Calibri"/>
              <a:buNone/>
            </a:pPr>
            <a:r>
              <a:rPr b="0" i="0" lang="en-US" sz="500" u="none" cap="none" strike="noStrike">
                <a:solidFill>
                  <a:srgbClr val="CB4F7F"/>
                </a:solidFill>
                <a:latin typeface="Calibri"/>
                <a:ea typeface="Calibri"/>
                <a:cs typeface="Calibri"/>
                <a:sym typeface="Calibri"/>
              </a:rPr>
              <a:t>▶</a:t>
            </a:r>
            <a:endParaRPr b="0" i="0" sz="500" u="none" cap="none" strike="noStrike">
              <a:solidFill>
                <a:schemeClr val="dk1"/>
              </a:solidFill>
              <a:latin typeface="Calibri"/>
              <a:ea typeface="Calibri"/>
              <a:cs typeface="Calibri"/>
              <a:sym typeface="Calibri"/>
            </a:endParaRPr>
          </a:p>
        </p:txBody>
      </p:sp>
      <p:sp>
        <p:nvSpPr>
          <p:cNvPr id="549" name="Google Shape;549;p10"/>
          <p:cNvSpPr/>
          <p:nvPr/>
        </p:nvSpPr>
        <p:spPr>
          <a:xfrm>
            <a:off x="2329107" y="3877056"/>
            <a:ext cx="975900" cy="502800"/>
          </a:xfrm>
          <a:prstGeom prst="rect">
            <a:avLst/>
          </a:prstGeom>
          <a:solidFill>
            <a:srgbClr val="CB4F7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0" name="Google Shape;550;p10"/>
          <p:cNvSpPr/>
          <p:nvPr/>
        </p:nvSpPr>
        <p:spPr>
          <a:xfrm>
            <a:off x="2329107" y="3877056"/>
            <a:ext cx="975900" cy="502800"/>
          </a:xfrm>
          <a:prstGeom prst="rect">
            <a:avLst/>
          </a:prstGeom>
          <a:noFill/>
          <a:ln>
            <a:noFill/>
          </a:ln>
        </p:spPr>
        <p:txBody>
          <a:bodyPr anchorCtr="0" anchor="ctr" bIns="12700" lIns="12700" spcFirstLastPara="1" rIns="12700" wrap="square" tIns="12700">
            <a:noAutofit/>
          </a:bodyPr>
          <a:lstStyle/>
          <a:p>
            <a:pPr indent="0" lvl="0" marL="0" marR="0" rtl="0" algn="ctr">
              <a:lnSpc>
                <a:spcPct val="100000"/>
              </a:lnSpc>
              <a:spcBef>
                <a:spcPts val="0"/>
              </a:spcBef>
              <a:spcAft>
                <a:spcPts val="0"/>
              </a:spcAft>
              <a:buClr>
                <a:srgbClr val="FFFFFF"/>
              </a:buClr>
              <a:buSzPts val="650"/>
              <a:buFont typeface="Calibri"/>
              <a:buNone/>
            </a:pPr>
            <a:r>
              <a:rPr b="1" i="0" lang="en-US" sz="650" u="none" cap="none" strike="noStrike">
                <a:solidFill>
                  <a:srgbClr val="FFFFFF"/>
                </a:solidFill>
                <a:latin typeface="Calibri"/>
                <a:ea typeface="Calibri"/>
                <a:cs typeface="Calibri"/>
                <a:sym typeface="Calibri"/>
              </a:rPr>
              <a:t>Ambulift or</a:t>
            </a:r>
            <a:endParaRPr b="0" i="0" sz="65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FFFFFF"/>
              </a:buClr>
              <a:buSzPts val="650"/>
              <a:buFont typeface="Calibri"/>
              <a:buNone/>
            </a:pPr>
            <a:r>
              <a:rPr b="1" i="0" lang="en-US" sz="650" u="none" cap="none" strike="noStrike">
                <a:solidFill>
                  <a:srgbClr val="FFFFFF"/>
                </a:solidFill>
                <a:latin typeface="Calibri"/>
                <a:ea typeface="Calibri"/>
                <a:cs typeface="Calibri"/>
                <a:sym typeface="Calibri"/>
              </a:rPr>
              <a:t>escort</a:t>
            </a:r>
            <a:endParaRPr b="0" i="0" sz="650" u="none" cap="none" strike="noStrike">
              <a:solidFill>
                <a:schemeClr val="dk1"/>
              </a:solidFill>
              <a:latin typeface="Calibri"/>
              <a:ea typeface="Calibri"/>
              <a:cs typeface="Calibri"/>
              <a:sym typeface="Calibri"/>
            </a:endParaRPr>
          </a:p>
        </p:txBody>
      </p:sp>
      <p:sp>
        <p:nvSpPr>
          <p:cNvPr id="551" name="Google Shape;551;p10"/>
          <p:cNvSpPr/>
          <p:nvPr/>
        </p:nvSpPr>
        <p:spPr>
          <a:xfrm>
            <a:off x="3295759" y="4073652"/>
            <a:ext cx="91500" cy="109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CB4F7F"/>
              </a:buClr>
              <a:buSzPts val="500"/>
              <a:buFont typeface="Calibri"/>
              <a:buNone/>
            </a:pPr>
            <a:r>
              <a:rPr b="0" i="0" lang="en-US" sz="500" u="none" cap="none" strike="noStrike">
                <a:solidFill>
                  <a:srgbClr val="CB4F7F"/>
                </a:solidFill>
                <a:latin typeface="Calibri"/>
                <a:ea typeface="Calibri"/>
                <a:cs typeface="Calibri"/>
                <a:sym typeface="Calibri"/>
              </a:rPr>
              <a:t>▶</a:t>
            </a:r>
            <a:endParaRPr b="0" i="0" sz="500" u="none" cap="none" strike="noStrike">
              <a:solidFill>
                <a:schemeClr val="dk1"/>
              </a:solidFill>
              <a:latin typeface="Calibri"/>
              <a:ea typeface="Calibri"/>
              <a:cs typeface="Calibri"/>
              <a:sym typeface="Calibri"/>
            </a:endParaRPr>
          </a:p>
        </p:txBody>
      </p:sp>
      <p:sp>
        <p:nvSpPr>
          <p:cNvPr id="552" name="Google Shape;552;p10"/>
          <p:cNvSpPr/>
          <p:nvPr/>
        </p:nvSpPr>
        <p:spPr>
          <a:xfrm>
            <a:off x="3378055" y="3877056"/>
            <a:ext cx="975900" cy="502800"/>
          </a:xfrm>
          <a:prstGeom prst="rect">
            <a:avLst/>
          </a:prstGeom>
          <a:solidFill>
            <a:srgbClr val="CB4F7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3" name="Google Shape;553;p10"/>
          <p:cNvSpPr/>
          <p:nvPr/>
        </p:nvSpPr>
        <p:spPr>
          <a:xfrm>
            <a:off x="3378055" y="3877056"/>
            <a:ext cx="975900" cy="502800"/>
          </a:xfrm>
          <a:prstGeom prst="rect">
            <a:avLst/>
          </a:prstGeom>
          <a:noFill/>
          <a:ln>
            <a:noFill/>
          </a:ln>
        </p:spPr>
        <p:txBody>
          <a:bodyPr anchorCtr="0" anchor="ctr" bIns="12700" lIns="12700" spcFirstLastPara="1" rIns="12700" wrap="square" tIns="12700">
            <a:noAutofit/>
          </a:bodyPr>
          <a:lstStyle/>
          <a:p>
            <a:pPr indent="0" lvl="0" marL="0" marR="0" rtl="0" algn="ctr">
              <a:lnSpc>
                <a:spcPct val="100000"/>
              </a:lnSpc>
              <a:spcBef>
                <a:spcPts val="0"/>
              </a:spcBef>
              <a:spcAft>
                <a:spcPts val="0"/>
              </a:spcAft>
              <a:buClr>
                <a:srgbClr val="FFFFFF"/>
              </a:buClr>
              <a:buSzPts val="650"/>
              <a:buFont typeface="Calibri"/>
              <a:buNone/>
            </a:pPr>
            <a:r>
              <a:rPr b="1" i="0" lang="en-US" sz="650" u="none" cap="none" strike="noStrike">
                <a:solidFill>
                  <a:srgbClr val="FFFFFF"/>
                </a:solidFill>
                <a:latin typeface="Calibri"/>
                <a:ea typeface="Calibri"/>
                <a:cs typeface="Calibri"/>
                <a:sym typeface="Calibri"/>
              </a:rPr>
              <a:t>Bypass</a:t>
            </a:r>
            <a:endParaRPr b="0" i="0" sz="65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FFFFFF"/>
              </a:buClr>
              <a:buSzPts val="650"/>
              <a:buFont typeface="Calibri"/>
              <a:buNone/>
            </a:pPr>
            <a:r>
              <a:rPr b="1" i="0" lang="en-US" sz="650" u="none" cap="none" strike="noStrike">
                <a:solidFill>
                  <a:srgbClr val="FFFFFF"/>
                </a:solidFill>
                <a:latin typeface="Calibri"/>
                <a:ea typeface="Calibri"/>
                <a:cs typeface="Calibri"/>
                <a:sym typeface="Calibri"/>
              </a:rPr>
              <a:t>queue</a:t>
            </a:r>
            <a:endParaRPr b="0" i="0" sz="650" u="none" cap="none" strike="noStrike">
              <a:solidFill>
                <a:schemeClr val="dk1"/>
              </a:solidFill>
              <a:latin typeface="Calibri"/>
              <a:ea typeface="Calibri"/>
              <a:cs typeface="Calibri"/>
              <a:sym typeface="Calibri"/>
            </a:endParaRPr>
          </a:p>
        </p:txBody>
      </p:sp>
      <p:sp>
        <p:nvSpPr>
          <p:cNvPr id="554" name="Google Shape;554;p10"/>
          <p:cNvSpPr/>
          <p:nvPr/>
        </p:nvSpPr>
        <p:spPr>
          <a:xfrm>
            <a:off x="4344706" y="4073652"/>
            <a:ext cx="91500" cy="109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CB4F7F"/>
              </a:buClr>
              <a:buSzPts val="500"/>
              <a:buFont typeface="Calibri"/>
              <a:buNone/>
            </a:pPr>
            <a:r>
              <a:rPr b="0" i="0" lang="en-US" sz="500" u="none" cap="none" strike="noStrike">
                <a:solidFill>
                  <a:srgbClr val="CB4F7F"/>
                </a:solidFill>
                <a:latin typeface="Calibri"/>
                <a:ea typeface="Calibri"/>
                <a:cs typeface="Calibri"/>
                <a:sym typeface="Calibri"/>
              </a:rPr>
              <a:t>▶</a:t>
            </a:r>
            <a:endParaRPr b="0" i="0" sz="500" u="none" cap="none" strike="noStrike">
              <a:solidFill>
                <a:schemeClr val="dk1"/>
              </a:solidFill>
              <a:latin typeface="Calibri"/>
              <a:ea typeface="Calibri"/>
              <a:cs typeface="Calibri"/>
              <a:sym typeface="Calibri"/>
            </a:endParaRPr>
          </a:p>
        </p:txBody>
      </p:sp>
      <p:sp>
        <p:nvSpPr>
          <p:cNvPr id="555" name="Google Shape;555;p10"/>
          <p:cNvSpPr/>
          <p:nvPr/>
        </p:nvSpPr>
        <p:spPr>
          <a:xfrm>
            <a:off x="4427002" y="3877056"/>
            <a:ext cx="975900" cy="502800"/>
          </a:xfrm>
          <a:prstGeom prst="rect">
            <a:avLst/>
          </a:prstGeom>
          <a:solidFill>
            <a:srgbClr val="CB4F7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6" name="Google Shape;556;p10"/>
          <p:cNvSpPr/>
          <p:nvPr/>
        </p:nvSpPr>
        <p:spPr>
          <a:xfrm>
            <a:off x="4427002" y="3877056"/>
            <a:ext cx="975900" cy="502800"/>
          </a:xfrm>
          <a:prstGeom prst="rect">
            <a:avLst/>
          </a:prstGeom>
          <a:noFill/>
          <a:ln>
            <a:noFill/>
          </a:ln>
        </p:spPr>
        <p:txBody>
          <a:bodyPr anchorCtr="0" anchor="ctr" bIns="12700" lIns="12700" spcFirstLastPara="1" rIns="12700" wrap="square" tIns="12700">
            <a:noAutofit/>
          </a:bodyPr>
          <a:lstStyle/>
          <a:p>
            <a:pPr indent="0" lvl="0" marL="0" marR="0" rtl="0" algn="ctr">
              <a:lnSpc>
                <a:spcPct val="100000"/>
              </a:lnSpc>
              <a:spcBef>
                <a:spcPts val="0"/>
              </a:spcBef>
              <a:spcAft>
                <a:spcPts val="0"/>
              </a:spcAft>
              <a:buClr>
                <a:srgbClr val="FFFFFF"/>
              </a:buClr>
              <a:buSzPts val="650"/>
              <a:buFont typeface="Calibri"/>
              <a:buNone/>
            </a:pPr>
            <a:r>
              <a:rPr b="1" i="0" lang="en-US" sz="650" u="none" cap="none" strike="noStrike">
                <a:solidFill>
                  <a:srgbClr val="FFFFFF"/>
                </a:solidFill>
                <a:latin typeface="Calibri"/>
                <a:ea typeface="Calibri"/>
                <a:cs typeface="Calibri"/>
                <a:sym typeface="Calibri"/>
              </a:rPr>
              <a:t>Special</a:t>
            </a:r>
            <a:endParaRPr b="0" i="0" sz="65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FFFFFF"/>
              </a:buClr>
              <a:buSzPts val="650"/>
              <a:buFont typeface="Calibri"/>
              <a:buNone/>
            </a:pPr>
            <a:r>
              <a:rPr b="1" i="0" lang="en-US" sz="650" u="none" cap="none" strike="noStrike">
                <a:solidFill>
                  <a:srgbClr val="FFFFFF"/>
                </a:solidFill>
                <a:latin typeface="Calibri"/>
                <a:ea typeface="Calibri"/>
                <a:cs typeface="Calibri"/>
                <a:sym typeface="Calibri"/>
              </a:rPr>
              <a:t>assist Manned desk</a:t>
            </a:r>
            <a:endParaRPr b="0" i="0" sz="650" u="none" cap="none" strike="noStrike">
              <a:solidFill>
                <a:schemeClr val="dk1"/>
              </a:solidFill>
              <a:latin typeface="Calibri"/>
              <a:ea typeface="Calibri"/>
              <a:cs typeface="Calibri"/>
              <a:sym typeface="Calibri"/>
            </a:endParaRPr>
          </a:p>
        </p:txBody>
      </p:sp>
      <p:sp>
        <p:nvSpPr>
          <p:cNvPr id="557" name="Google Shape;557;p10"/>
          <p:cNvSpPr/>
          <p:nvPr/>
        </p:nvSpPr>
        <p:spPr>
          <a:xfrm>
            <a:off x="5393654" y="4073652"/>
            <a:ext cx="91500" cy="109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CB4F7F"/>
              </a:buClr>
              <a:buSzPts val="500"/>
              <a:buFont typeface="Calibri"/>
              <a:buNone/>
            </a:pPr>
            <a:r>
              <a:rPr b="0" i="0" lang="en-US" sz="500" u="none" cap="none" strike="noStrike">
                <a:solidFill>
                  <a:srgbClr val="CB4F7F"/>
                </a:solidFill>
                <a:latin typeface="Calibri"/>
                <a:ea typeface="Calibri"/>
                <a:cs typeface="Calibri"/>
                <a:sym typeface="Calibri"/>
              </a:rPr>
              <a:t>▶</a:t>
            </a:r>
            <a:endParaRPr b="0" i="0" sz="500" u="none" cap="none" strike="noStrike">
              <a:solidFill>
                <a:schemeClr val="dk1"/>
              </a:solidFill>
              <a:latin typeface="Calibri"/>
              <a:ea typeface="Calibri"/>
              <a:cs typeface="Calibri"/>
              <a:sym typeface="Calibri"/>
            </a:endParaRPr>
          </a:p>
        </p:txBody>
      </p:sp>
      <p:sp>
        <p:nvSpPr>
          <p:cNvPr id="558" name="Google Shape;558;p10"/>
          <p:cNvSpPr/>
          <p:nvPr/>
        </p:nvSpPr>
        <p:spPr>
          <a:xfrm>
            <a:off x="5475950" y="3877056"/>
            <a:ext cx="975900" cy="502800"/>
          </a:xfrm>
          <a:prstGeom prst="rect">
            <a:avLst/>
          </a:prstGeom>
          <a:solidFill>
            <a:srgbClr val="CB4F7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9" name="Google Shape;559;p10"/>
          <p:cNvSpPr/>
          <p:nvPr/>
        </p:nvSpPr>
        <p:spPr>
          <a:xfrm>
            <a:off x="5475950" y="3877056"/>
            <a:ext cx="975900" cy="502800"/>
          </a:xfrm>
          <a:prstGeom prst="rect">
            <a:avLst/>
          </a:prstGeom>
          <a:noFill/>
          <a:ln>
            <a:noFill/>
          </a:ln>
        </p:spPr>
        <p:txBody>
          <a:bodyPr anchorCtr="0" anchor="ctr" bIns="12700" lIns="12700" spcFirstLastPara="1" rIns="12700" wrap="square" tIns="12700">
            <a:noAutofit/>
          </a:bodyPr>
          <a:lstStyle/>
          <a:p>
            <a:pPr indent="0" lvl="0" marL="0" marR="0" rtl="0" algn="ctr">
              <a:lnSpc>
                <a:spcPct val="100000"/>
              </a:lnSpc>
              <a:spcBef>
                <a:spcPts val="0"/>
              </a:spcBef>
              <a:spcAft>
                <a:spcPts val="0"/>
              </a:spcAft>
              <a:buClr>
                <a:srgbClr val="FFFFFF"/>
              </a:buClr>
              <a:buSzPts val="650"/>
              <a:buFont typeface="Calibri"/>
              <a:buNone/>
            </a:pPr>
            <a:r>
              <a:rPr b="1" i="0" lang="en-US" sz="650" u="none" cap="none" strike="noStrike">
                <a:solidFill>
                  <a:srgbClr val="FFFFFF"/>
                </a:solidFill>
                <a:latin typeface="Calibri"/>
                <a:ea typeface="Calibri"/>
                <a:cs typeface="Calibri"/>
                <a:sym typeface="Calibri"/>
              </a:rPr>
              <a:t>Escorted to</a:t>
            </a:r>
            <a:endParaRPr b="0" i="0" sz="65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FFFFFF"/>
              </a:buClr>
              <a:buSzPts val="650"/>
              <a:buFont typeface="Calibri"/>
              <a:buNone/>
            </a:pPr>
            <a:r>
              <a:rPr b="1" i="0" lang="en-US" sz="650" u="none" cap="none" strike="noStrike">
                <a:solidFill>
                  <a:srgbClr val="FFFFFF"/>
                </a:solidFill>
                <a:latin typeface="Calibri"/>
                <a:ea typeface="Calibri"/>
                <a:cs typeface="Calibri"/>
                <a:sym typeface="Calibri"/>
              </a:rPr>
              <a:t>reclaim</a:t>
            </a:r>
            <a:endParaRPr b="0" i="0" sz="650" u="none" cap="none" strike="noStrike">
              <a:solidFill>
                <a:schemeClr val="dk1"/>
              </a:solidFill>
              <a:latin typeface="Calibri"/>
              <a:ea typeface="Calibri"/>
              <a:cs typeface="Calibri"/>
              <a:sym typeface="Calibri"/>
            </a:endParaRPr>
          </a:p>
        </p:txBody>
      </p:sp>
      <p:sp>
        <p:nvSpPr>
          <p:cNvPr id="560" name="Google Shape;560;p10"/>
          <p:cNvSpPr/>
          <p:nvPr/>
        </p:nvSpPr>
        <p:spPr>
          <a:xfrm>
            <a:off x="6442601" y="4073652"/>
            <a:ext cx="91500" cy="109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CB4F7F"/>
              </a:buClr>
              <a:buSzPts val="500"/>
              <a:buFont typeface="Calibri"/>
              <a:buNone/>
            </a:pPr>
            <a:r>
              <a:rPr b="0" i="0" lang="en-US" sz="500" u="none" cap="none" strike="noStrike">
                <a:solidFill>
                  <a:srgbClr val="CB4F7F"/>
                </a:solidFill>
                <a:latin typeface="Calibri"/>
                <a:ea typeface="Calibri"/>
                <a:cs typeface="Calibri"/>
                <a:sym typeface="Calibri"/>
              </a:rPr>
              <a:t>▶</a:t>
            </a:r>
            <a:endParaRPr b="0" i="0" sz="500" u="none" cap="none" strike="noStrike">
              <a:solidFill>
                <a:schemeClr val="dk1"/>
              </a:solidFill>
              <a:latin typeface="Calibri"/>
              <a:ea typeface="Calibri"/>
              <a:cs typeface="Calibri"/>
              <a:sym typeface="Calibri"/>
            </a:endParaRPr>
          </a:p>
        </p:txBody>
      </p:sp>
      <p:sp>
        <p:nvSpPr>
          <p:cNvPr id="561" name="Google Shape;561;p10"/>
          <p:cNvSpPr/>
          <p:nvPr/>
        </p:nvSpPr>
        <p:spPr>
          <a:xfrm>
            <a:off x="6524897" y="3877056"/>
            <a:ext cx="975900" cy="502800"/>
          </a:xfrm>
          <a:prstGeom prst="rect">
            <a:avLst/>
          </a:prstGeom>
          <a:solidFill>
            <a:srgbClr val="CB4F7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2" name="Google Shape;562;p10"/>
          <p:cNvSpPr/>
          <p:nvPr/>
        </p:nvSpPr>
        <p:spPr>
          <a:xfrm>
            <a:off x="6524897" y="3877056"/>
            <a:ext cx="975900" cy="502800"/>
          </a:xfrm>
          <a:prstGeom prst="rect">
            <a:avLst/>
          </a:prstGeom>
          <a:noFill/>
          <a:ln>
            <a:noFill/>
          </a:ln>
        </p:spPr>
        <p:txBody>
          <a:bodyPr anchorCtr="0" anchor="ctr" bIns="12700" lIns="12700" spcFirstLastPara="1" rIns="12700" wrap="square" tIns="12700">
            <a:noAutofit/>
          </a:bodyPr>
          <a:lstStyle/>
          <a:p>
            <a:pPr indent="0" lvl="0" marL="0" marR="0" rtl="0" algn="ctr">
              <a:lnSpc>
                <a:spcPct val="100000"/>
              </a:lnSpc>
              <a:spcBef>
                <a:spcPts val="0"/>
              </a:spcBef>
              <a:spcAft>
                <a:spcPts val="0"/>
              </a:spcAft>
              <a:buClr>
                <a:srgbClr val="FFFFFF"/>
              </a:buClr>
              <a:buSzPts val="650"/>
              <a:buFont typeface="Calibri"/>
              <a:buNone/>
            </a:pPr>
            <a:r>
              <a:rPr b="1" i="0" lang="en-US" sz="650" u="none" cap="none" strike="noStrike">
                <a:solidFill>
                  <a:srgbClr val="FFFFFF"/>
                </a:solidFill>
                <a:latin typeface="Calibri"/>
                <a:ea typeface="Calibri"/>
                <a:cs typeface="Calibri"/>
                <a:sym typeface="Calibri"/>
              </a:rPr>
              <a:t>Collect bags</a:t>
            </a:r>
            <a:endParaRPr b="0" i="0" sz="65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FFFFFF"/>
              </a:buClr>
              <a:buSzPts val="650"/>
              <a:buFont typeface="Calibri"/>
              <a:buNone/>
            </a:pPr>
            <a:r>
              <a:rPr b="1" i="0" lang="en-US" sz="650" u="none" cap="none" strike="noStrike">
                <a:solidFill>
                  <a:srgbClr val="FFFFFF"/>
                </a:solidFill>
                <a:latin typeface="Calibri"/>
                <a:ea typeface="Calibri"/>
                <a:cs typeface="Calibri"/>
                <a:sym typeface="Calibri"/>
              </a:rPr>
              <a:t>(escorted)</a:t>
            </a:r>
            <a:endParaRPr b="0" i="0" sz="650" u="none" cap="none" strike="noStrike">
              <a:solidFill>
                <a:schemeClr val="dk1"/>
              </a:solidFill>
              <a:latin typeface="Calibri"/>
              <a:ea typeface="Calibri"/>
              <a:cs typeface="Calibri"/>
              <a:sym typeface="Calibri"/>
            </a:endParaRPr>
          </a:p>
        </p:txBody>
      </p:sp>
      <p:sp>
        <p:nvSpPr>
          <p:cNvPr id="563" name="Google Shape;563;p10"/>
          <p:cNvSpPr/>
          <p:nvPr/>
        </p:nvSpPr>
        <p:spPr>
          <a:xfrm>
            <a:off x="7491549" y="4073652"/>
            <a:ext cx="91500" cy="109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CB4F7F"/>
              </a:buClr>
              <a:buSzPts val="500"/>
              <a:buFont typeface="Calibri"/>
              <a:buNone/>
            </a:pPr>
            <a:r>
              <a:rPr b="0" i="0" lang="en-US" sz="500" u="none" cap="none" strike="noStrike">
                <a:solidFill>
                  <a:srgbClr val="CB4F7F"/>
                </a:solidFill>
                <a:latin typeface="Calibri"/>
                <a:ea typeface="Calibri"/>
                <a:cs typeface="Calibri"/>
                <a:sym typeface="Calibri"/>
              </a:rPr>
              <a:t>▶</a:t>
            </a:r>
            <a:endParaRPr b="0" i="0" sz="500" u="none" cap="none" strike="noStrike">
              <a:solidFill>
                <a:schemeClr val="dk1"/>
              </a:solidFill>
              <a:latin typeface="Calibri"/>
              <a:ea typeface="Calibri"/>
              <a:cs typeface="Calibri"/>
              <a:sym typeface="Calibri"/>
            </a:endParaRPr>
          </a:p>
        </p:txBody>
      </p:sp>
      <p:sp>
        <p:nvSpPr>
          <p:cNvPr id="564" name="Google Shape;564;p10"/>
          <p:cNvSpPr/>
          <p:nvPr/>
        </p:nvSpPr>
        <p:spPr>
          <a:xfrm>
            <a:off x="7573845" y="3877056"/>
            <a:ext cx="975900" cy="502800"/>
          </a:xfrm>
          <a:prstGeom prst="rect">
            <a:avLst/>
          </a:prstGeom>
          <a:solidFill>
            <a:srgbClr val="CB4F7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5" name="Google Shape;565;p10"/>
          <p:cNvSpPr/>
          <p:nvPr/>
        </p:nvSpPr>
        <p:spPr>
          <a:xfrm>
            <a:off x="7573845" y="3877056"/>
            <a:ext cx="975900" cy="502800"/>
          </a:xfrm>
          <a:prstGeom prst="rect">
            <a:avLst/>
          </a:prstGeom>
          <a:noFill/>
          <a:ln>
            <a:noFill/>
          </a:ln>
        </p:spPr>
        <p:txBody>
          <a:bodyPr anchorCtr="0" anchor="ctr" bIns="12700" lIns="12700" spcFirstLastPara="1" rIns="12700" wrap="square" tIns="12700">
            <a:noAutofit/>
          </a:bodyPr>
          <a:lstStyle/>
          <a:p>
            <a:pPr indent="0" lvl="0" marL="0" marR="0" rtl="0" algn="ctr">
              <a:lnSpc>
                <a:spcPct val="100000"/>
              </a:lnSpc>
              <a:spcBef>
                <a:spcPts val="0"/>
              </a:spcBef>
              <a:spcAft>
                <a:spcPts val="0"/>
              </a:spcAft>
              <a:buClr>
                <a:srgbClr val="FFFFFF"/>
              </a:buClr>
              <a:buSzPts val="650"/>
              <a:buFont typeface="Calibri"/>
              <a:buNone/>
            </a:pPr>
            <a:r>
              <a:rPr b="1" i="0" lang="en-US" sz="650" u="none" cap="none" strike="noStrike">
                <a:solidFill>
                  <a:srgbClr val="FFFFFF"/>
                </a:solidFill>
                <a:latin typeface="Calibri"/>
                <a:ea typeface="Calibri"/>
                <a:cs typeface="Calibri"/>
                <a:sym typeface="Calibri"/>
              </a:rPr>
              <a:t>Escorted</a:t>
            </a:r>
            <a:endParaRPr b="0" i="0" sz="65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FFFFFF"/>
              </a:buClr>
              <a:buSzPts val="650"/>
              <a:buFont typeface="Calibri"/>
              <a:buNone/>
            </a:pPr>
            <a:r>
              <a:rPr b="1" i="0" lang="en-US" sz="650" u="none" cap="none" strike="noStrike">
                <a:solidFill>
                  <a:srgbClr val="FFFFFF"/>
                </a:solidFill>
                <a:latin typeface="Calibri"/>
                <a:ea typeface="Calibri"/>
                <a:cs typeface="Calibri"/>
                <a:sym typeface="Calibri"/>
              </a:rPr>
              <a:t>to exit</a:t>
            </a:r>
            <a:endParaRPr b="0" i="0" sz="65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0" name="Shape 570"/>
        <p:cNvGrpSpPr/>
        <p:nvPr/>
      </p:nvGrpSpPr>
      <p:grpSpPr>
        <a:xfrm>
          <a:off x="0" y="0"/>
          <a:ext cx="0" cy="0"/>
          <a:chOff x="0" y="0"/>
          <a:chExt cx="0" cy="0"/>
        </a:xfrm>
      </p:grpSpPr>
      <p:sp>
        <p:nvSpPr>
          <p:cNvPr id="571" name="Google Shape;571;p11"/>
          <p:cNvSpPr/>
          <p:nvPr/>
        </p:nvSpPr>
        <p:spPr>
          <a:xfrm>
            <a:off x="802825" y="131675"/>
            <a:ext cx="7571400" cy="329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CC0099"/>
                </a:solidFill>
                <a:latin typeface="Gill Sans"/>
                <a:ea typeface="Gill Sans"/>
                <a:cs typeface="Gill Sans"/>
                <a:sym typeface="Gill Sans"/>
              </a:rPr>
              <a:t>Simulation Approach (Agent Entity Attributes)</a:t>
            </a:r>
            <a:endParaRPr b="0" i="0" sz="1800" u="none" cap="none" strike="noStrike">
              <a:solidFill>
                <a:srgbClr val="CC0099"/>
              </a:solidFill>
              <a:latin typeface="Gill Sans"/>
              <a:ea typeface="Gill Sans"/>
              <a:cs typeface="Gill Sans"/>
              <a:sym typeface="Gill Sans"/>
            </a:endParaRPr>
          </a:p>
        </p:txBody>
      </p:sp>
      <p:sp>
        <p:nvSpPr>
          <p:cNvPr id="572" name="Google Shape;572;p11"/>
          <p:cNvSpPr/>
          <p:nvPr/>
        </p:nvSpPr>
        <p:spPr>
          <a:xfrm>
            <a:off x="786384" y="452627"/>
            <a:ext cx="7406640" cy="464339"/>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700"/>
              <a:buFont typeface="Arial"/>
              <a:buNone/>
            </a:pPr>
            <a:r>
              <a:rPr b="0" i="1" lang="en-US" sz="700" u="none" cap="none" strike="noStrike">
                <a:solidFill>
                  <a:srgbClr val="5D6D7E"/>
                </a:solidFill>
                <a:latin typeface="Gill Sans"/>
                <a:ea typeface="Gill Sans"/>
                <a:cs typeface="Gill Sans"/>
                <a:sym typeface="Gill Sans"/>
              </a:rPr>
              <a:t>Each virtual passenger(Agent) in the model carries these properties which determines the routing and the timings</a:t>
            </a:r>
            <a:endParaRPr b="0" i="0" sz="1400" u="none" cap="none" strike="noStrike">
              <a:solidFill>
                <a:srgbClr val="000000"/>
              </a:solidFill>
              <a:latin typeface="Gill Sans"/>
              <a:ea typeface="Gill Sans"/>
              <a:cs typeface="Gill Sans"/>
              <a:sym typeface="Gill Sans"/>
            </a:endParaRPr>
          </a:p>
          <a:p>
            <a:pPr indent="0" lvl="0" marL="0" marR="0" rtl="0" algn="l">
              <a:lnSpc>
                <a:spcPct val="100000"/>
              </a:lnSpc>
              <a:spcBef>
                <a:spcPts val="0"/>
              </a:spcBef>
              <a:spcAft>
                <a:spcPts val="0"/>
              </a:spcAft>
              <a:buClr>
                <a:srgbClr val="000000"/>
              </a:buClr>
              <a:buSzPts val="700"/>
              <a:buFont typeface="Arial"/>
              <a:buNone/>
            </a:pPr>
            <a:r>
              <a:rPr b="0" i="1" lang="en-US" sz="700" u="none" cap="none" strike="noStrike">
                <a:solidFill>
                  <a:srgbClr val="5D6D7E"/>
                </a:solidFill>
                <a:latin typeface="Gill Sans"/>
                <a:ea typeface="Gill Sans"/>
                <a:cs typeface="Gill Sans"/>
                <a:sym typeface="Gill Sans"/>
              </a:rPr>
              <a:t>These attributes are assigned to each passenger entity when they are generated in the model based on flight schedule data and probability distributions gathered from the stakeholder team.</a:t>
            </a:r>
            <a:endParaRPr b="0" i="0" sz="700" u="none" cap="none" strike="noStrike">
              <a:solidFill>
                <a:schemeClr val="dk1"/>
              </a:solidFill>
              <a:latin typeface="Gill Sans"/>
              <a:ea typeface="Gill Sans"/>
              <a:cs typeface="Gill Sans"/>
              <a:sym typeface="Gill Sans"/>
            </a:endParaRPr>
          </a:p>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chemeClr val="dk1"/>
              </a:solidFill>
              <a:latin typeface="Gill Sans"/>
              <a:ea typeface="Gill Sans"/>
              <a:cs typeface="Gill Sans"/>
              <a:sym typeface="Gill Sans"/>
            </a:endParaRPr>
          </a:p>
        </p:txBody>
      </p:sp>
      <p:sp>
        <p:nvSpPr>
          <p:cNvPr id="573" name="Google Shape;573;p11"/>
          <p:cNvSpPr/>
          <p:nvPr/>
        </p:nvSpPr>
        <p:spPr>
          <a:xfrm>
            <a:off x="786384" y="781812"/>
            <a:ext cx="7571232" cy="263347"/>
          </a:xfrm>
          <a:prstGeom prst="rect">
            <a:avLst/>
          </a:prstGeom>
          <a:solidFill>
            <a:srgbClr val="0B1D3A"/>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20"/>
              <a:buFont typeface="Arial"/>
              <a:buNone/>
            </a:pPr>
            <a:r>
              <a:t/>
            </a:r>
            <a:endParaRPr b="0" i="0" sz="1620" u="none" cap="none" strike="noStrike">
              <a:solidFill>
                <a:schemeClr val="dk1"/>
              </a:solidFill>
              <a:latin typeface="Calibri"/>
              <a:ea typeface="Calibri"/>
              <a:cs typeface="Calibri"/>
              <a:sym typeface="Calibri"/>
            </a:endParaRPr>
          </a:p>
        </p:txBody>
      </p:sp>
      <p:sp>
        <p:nvSpPr>
          <p:cNvPr id="574" name="Google Shape;574;p11"/>
          <p:cNvSpPr/>
          <p:nvPr/>
        </p:nvSpPr>
        <p:spPr>
          <a:xfrm>
            <a:off x="868680" y="781812"/>
            <a:ext cx="1316736" cy="263347"/>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810"/>
              <a:buFont typeface="Arial"/>
              <a:buNone/>
            </a:pPr>
            <a:r>
              <a:rPr b="1" i="0" lang="en-US" sz="810" u="none" cap="none" strike="noStrike">
                <a:solidFill>
                  <a:srgbClr val="FFFFFF"/>
                </a:solidFill>
                <a:latin typeface="Gill Sans"/>
                <a:ea typeface="Gill Sans"/>
                <a:cs typeface="Gill Sans"/>
                <a:sym typeface="Gill Sans"/>
              </a:rPr>
              <a:t>Attribute</a:t>
            </a:r>
            <a:endParaRPr b="0" i="0" sz="810" u="none" cap="none" strike="noStrike">
              <a:solidFill>
                <a:schemeClr val="dk1"/>
              </a:solidFill>
              <a:latin typeface="Gill Sans"/>
              <a:ea typeface="Gill Sans"/>
              <a:cs typeface="Gill Sans"/>
              <a:sym typeface="Gill Sans"/>
            </a:endParaRPr>
          </a:p>
        </p:txBody>
      </p:sp>
      <p:sp>
        <p:nvSpPr>
          <p:cNvPr id="575" name="Google Shape;575;p11"/>
          <p:cNvSpPr/>
          <p:nvPr/>
        </p:nvSpPr>
        <p:spPr>
          <a:xfrm>
            <a:off x="2226564" y="781812"/>
            <a:ext cx="3291840" cy="263347"/>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810"/>
              <a:buFont typeface="Arial"/>
              <a:buNone/>
            </a:pPr>
            <a:r>
              <a:rPr b="1" i="0" lang="en-US" sz="810" u="none" cap="none" strike="noStrike">
                <a:solidFill>
                  <a:srgbClr val="FFFFFF"/>
                </a:solidFill>
                <a:latin typeface="Gill Sans"/>
                <a:ea typeface="Gill Sans"/>
                <a:cs typeface="Gill Sans"/>
                <a:sym typeface="Gill Sans"/>
              </a:rPr>
              <a:t>Values</a:t>
            </a:r>
            <a:endParaRPr b="0" i="0" sz="810" u="none" cap="none" strike="noStrike">
              <a:solidFill>
                <a:schemeClr val="dk1"/>
              </a:solidFill>
              <a:latin typeface="Gill Sans"/>
              <a:ea typeface="Gill Sans"/>
              <a:cs typeface="Gill Sans"/>
              <a:sym typeface="Gill Sans"/>
            </a:endParaRPr>
          </a:p>
        </p:txBody>
      </p:sp>
      <p:sp>
        <p:nvSpPr>
          <p:cNvPr id="576" name="Google Shape;576;p11"/>
          <p:cNvSpPr/>
          <p:nvPr/>
        </p:nvSpPr>
        <p:spPr>
          <a:xfrm>
            <a:off x="5559552" y="781812"/>
            <a:ext cx="2715768" cy="263347"/>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810"/>
              <a:buFont typeface="Arial"/>
              <a:buNone/>
            </a:pPr>
            <a:r>
              <a:rPr b="1" i="0" lang="en-US" sz="810" u="none" cap="none" strike="noStrike">
                <a:solidFill>
                  <a:srgbClr val="FFFFFF"/>
                </a:solidFill>
                <a:latin typeface="Gill Sans"/>
                <a:ea typeface="Gill Sans"/>
                <a:cs typeface="Gill Sans"/>
                <a:sym typeface="Gill Sans"/>
              </a:rPr>
              <a:t>Impact on simulation</a:t>
            </a:r>
            <a:endParaRPr b="0" i="0" sz="810" u="none" cap="none" strike="noStrike">
              <a:solidFill>
                <a:schemeClr val="dk1"/>
              </a:solidFill>
              <a:latin typeface="Gill Sans"/>
              <a:ea typeface="Gill Sans"/>
              <a:cs typeface="Gill Sans"/>
              <a:sym typeface="Gill Sans"/>
            </a:endParaRPr>
          </a:p>
        </p:txBody>
      </p:sp>
      <p:sp>
        <p:nvSpPr>
          <p:cNvPr id="577" name="Google Shape;577;p11"/>
          <p:cNvSpPr/>
          <p:nvPr/>
        </p:nvSpPr>
        <p:spPr>
          <a:xfrm>
            <a:off x="786384" y="1045159"/>
            <a:ext cx="7571232" cy="427939"/>
          </a:xfrm>
          <a:prstGeom prst="rect">
            <a:avLst/>
          </a:pr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20"/>
              <a:buFont typeface="Arial"/>
              <a:buNone/>
            </a:pPr>
            <a:r>
              <a:t/>
            </a:r>
            <a:endParaRPr b="0" i="0" sz="1620" u="none" cap="none" strike="noStrike">
              <a:solidFill>
                <a:schemeClr val="dk1"/>
              </a:solidFill>
              <a:latin typeface="Calibri"/>
              <a:ea typeface="Calibri"/>
              <a:cs typeface="Calibri"/>
              <a:sym typeface="Calibri"/>
            </a:endParaRPr>
          </a:p>
        </p:txBody>
      </p:sp>
      <p:sp>
        <p:nvSpPr>
          <p:cNvPr id="578" name="Google Shape;578;p11"/>
          <p:cNvSpPr/>
          <p:nvPr/>
        </p:nvSpPr>
        <p:spPr>
          <a:xfrm>
            <a:off x="868680" y="1045159"/>
            <a:ext cx="1316736" cy="427939"/>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810"/>
              <a:buFont typeface="Arial"/>
              <a:buNone/>
            </a:pPr>
            <a:r>
              <a:rPr b="1" i="0" lang="en-US" sz="810" u="none" cap="none" strike="noStrike">
                <a:solidFill>
                  <a:srgbClr val="0B1D3A"/>
                </a:solidFill>
                <a:latin typeface="Gill Sans"/>
                <a:ea typeface="Gill Sans"/>
                <a:cs typeface="Gill Sans"/>
                <a:sym typeface="Gill Sans"/>
              </a:rPr>
              <a:t>Arrival mode</a:t>
            </a:r>
            <a:endParaRPr b="0" i="0" sz="810" u="none" cap="none" strike="noStrike">
              <a:solidFill>
                <a:schemeClr val="dk1"/>
              </a:solidFill>
              <a:latin typeface="Gill Sans"/>
              <a:ea typeface="Gill Sans"/>
              <a:cs typeface="Gill Sans"/>
              <a:sym typeface="Gill Sans"/>
            </a:endParaRPr>
          </a:p>
        </p:txBody>
      </p:sp>
      <p:sp>
        <p:nvSpPr>
          <p:cNvPr id="579" name="Google Shape;579;p11"/>
          <p:cNvSpPr/>
          <p:nvPr/>
        </p:nvSpPr>
        <p:spPr>
          <a:xfrm>
            <a:off x="2226564" y="1045159"/>
            <a:ext cx="3291840" cy="427939"/>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810"/>
              <a:buFont typeface="Arial"/>
              <a:buNone/>
            </a:pPr>
            <a:r>
              <a:rPr b="0" i="0" lang="en-US" sz="810" u="none" cap="none" strike="noStrike">
                <a:solidFill>
                  <a:srgbClr val="2C3E50"/>
                </a:solidFill>
                <a:latin typeface="Gill Sans"/>
                <a:ea typeface="Gill Sans"/>
                <a:cs typeface="Gill Sans"/>
                <a:sym typeface="Gill Sans"/>
              </a:rPr>
              <a:t>Walk in via airbridge or coached from remote stand (batch of 96 for 1Bus)</a:t>
            </a:r>
            <a:endParaRPr b="0" i="0" sz="810" u="none" cap="none" strike="noStrike">
              <a:solidFill>
                <a:schemeClr val="dk1"/>
              </a:solidFill>
              <a:latin typeface="Gill Sans"/>
              <a:ea typeface="Gill Sans"/>
              <a:cs typeface="Gill Sans"/>
              <a:sym typeface="Gill Sans"/>
            </a:endParaRPr>
          </a:p>
        </p:txBody>
      </p:sp>
      <p:sp>
        <p:nvSpPr>
          <p:cNvPr id="580" name="Google Shape;580;p11"/>
          <p:cNvSpPr/>
          <p:nvPr/>
        </p:nvSpPr>
        <p:spPr>
          <a:xfrm>
            <a:off x="5559552" y="1045159"/>
            <a:ext cx="2715768" cy="427939"/>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765"/>
              <a:buFont typeface="Arial"/>
              <a:buNone/>
            </a:pPr>
            <a:r>
              <a:rPr b="0" i="1" lang="en-US" sz="765" u="none" cap="none" strike="noStrike">
                <a:solidFill>
                  <a:srgbClr val="5D6D7E"/>
                </a:solidFill>
                <a:latin typeface="Gill Sans"/>
                <a:ea typeface="Gill Sans"/>
                <a:cs typeface="Gill Sans"/>
                <a:sym typeface="Gill Sans"/>
              </a:rPr>
              <a:t> continuous trickle vs pulse arrival</a:t>
            </a:r>
            <a:endParaRPr b="0" i="0" sz="765" u="none" cap="none" strike="noStrike">
              <a:solidFill>
                <a:schemeClr val="dk1"/>
              </a:solidFill>
              <a:latin typeface="Gill Sans"/>
              <a:ea typeface="Gill Sans"/>
              <a:cs typeface="Gill Sans"/>
              <a:sym typeface="Gill Sans"/>
            </a:endParaRPr>
          </a:p>
        </p:txBody>
      </p:sp>
      <p:sp>
        <p:nvSpPr>
          <p:cNvPr id="581" name="Google Shape;581;p11"/>
          <p:cNvSpPr/>
          <p:nvPr/>
        </p:nvSpPr>
        <p:spPr>
          <a:xfrm>
            <a:off x="786384" y="1473099"/>
            <a:ext cx="7571232" cy="427939"/>
          </a:xfrm>
          <a:prstGeom prst="rect">
            <a:avLst/>
          </a:prstGeom>
          <a:solidFill>
            <a:srgbClr val="EAF4F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20"/>
              <a:buFont typeface="Arial"/>
              <a:buNone/>
            </a:pPr>
            <a:r>
              <a:t/>
            </a:r>
            <a:endParaRPr b="0" i="0" sz="1620" u="none" cap="none" strike="noStrike">
              <a:solidFill>
                <a:schemeClr val="dk1"/>
              </a:solidFill>
              <a:latin typeface="Calibri"/>
              <a:ea typeface="Calibri"/>
              <a:cs typeface="Calibri"/>
              <a:sym typeface="Calibri"/>
            </a:endParaRPr>
          </a:p>
        </p:txBody>
      </p:sp>
      <p:sp>
        <p:nvSpPr>
          <p:cNvPr id="582" name="Google Shape;582;p11"/>
          <p:cNvSpPr/>
          <p:nvPr/>
        </p:nvSpPr>
        <p:spPr>
          <a:xfrm>
            <a:off x="868680" y="1473099"/>
            <a:ext cx="1316736" cy="427939"/>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810"/>
              <a:buFont typeface="Arial"/>
              <a:buNone/>
            </a:pPr>
            <a:r>
              <a:rPr b="1" i="0" lang="en-US" sz="810" u="none" cap="none" strike="noStrike">
                <a:solidFill>
                  <a:srgbClr val="0B1D3A"/>
                </a:solidFill>
                <a:latin typeface="Gill Sans"/>
                <a:ea typeface="Gill Sans"/>
                <a:cs typeface="Gill Sans"/>
                <a:sym typeface="Gill Sans"/>
              </a:rPr>
              <a:t>Flight number</a:t>
            </a:r>
            <a:endParaRPr b="0" i="0" sz="810" u="none" cap="none" strike="noStrike">
              <a:solidFill>
                <a:schemeClr val="dk1"/>
              </a:solidFill>
              <a:latin typeface="Gill Sans"/>
              <a:ea typeface="Gill Sans"/>
              <a:cs typeface="Gill Sans"/>
              <a:sym typeface="Gill Sans"/>
            </a:endParaRPr>
          </a:p>
        </p:txBody>
      </p:sp>
      <p:sp>
        <p:nvSpPr>
          <p:cNvPr id="583" name="Google Shape;583;p11"/>
          <p:cNvSpPr/>
          <p:nvPr/>
        </p:nvSpPr>
        <p:spPr>
          <a:xfrm>
            <a:off x="2226564" y="1473099"/>
            <a:ext cx="3291840" cy="427939"/>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810"/>
              <a:buFont typeface="Arial"/>
              <a:buNone/>
            </a:pPr>
            <a:r>
              <a:rPr b="0" i="0" lang="en-US" sz="810" u="none" cap="none" strike="noStrike">
                <a:solidFill>
                  <a:srgbClr val="2C3E50"/>
                </a:solidFill>
                <a:latin typeface="Gill Sans"/>
                <a:ea typeface="Gill Sans"/>
                <a:cs typeface="Gill Sans"/>
                <a:sym typeface="Gill Sans"/>
              </a:rPr>
              <a:t>Links passenger to a specific flight in the schedule</a:t>
            </a:r>
            <a:endParaRPr b="0" i="0" sz="810" u="none" cap="none" strike="noStrike">
              <a:solidFill>
                <a:schemeClr val="dk1"/>
              </a:solidFill>
              <a:latin typeface="Gill Sans"/>
              <a:ea typeface="Gill Sans"/>
              <a:cs typeface="Gill Sans"/>
              <a:sym typeface="Gill Sans"/>
            </a:endParaRPr>
          </a:p>
        </p:txBody>
      </p:sp>
      <p:sp>
        <p:nvSpPr>
          <p:cNvPr id="584" name="Google Shape;584;p11"/>
          <p:cNvSpPr/>
          <p:nvPr/>
        </p:nvSpPr>
        <p:spPr>
          <a:xfrm>
            <a:off x="5559552" y="1473099"/>
            <a:ext cx="2715768" cy="427939"/>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765"/>
              <a:buFont typeface="Arial"/>
              <a:buNone/>
            </a:pPr>
            <a:r>
              <a:rPr b="0" i="1" lang="en-US" sz="765" u="none" cap="none" strike="noStrike">
                <a:solidFill>
                  <a:srgbClr val="5D6D7E"/>
                </a:solidFill>
                <a:latin typeface="Gill Sans"/>
                <a:ea typeface="Gill Sans"/>
                <a:cs typeface="Gill Sans"/>
                <a:sym typeface="Gill Sans"/>
              </a:rPr>
              <a:t>Connects to aircraft type stand allocation and bag delivery timing</a:t>
            </a:r>
            <a:endParaRPr b="0" i="0" sz="765" u="none" cap="none" strike="noStrike">
              <a:solidFill>
                <a:schemeClr val="dk1"/>
              </a:solidFill>
              <a:latin typeface="Gill Sans"/>
              <a:ea typeface="Gill Sans"/>
              <a:cs typeface="Gill Sans"/>
              <a:sym typeface="Gill Sans"/>
            </a:endParaRPr>
          </a:p>
        </p:txBody>
      </p:sp>
      <p:sp>
        <p:nvSpPr>
          <p:cNvPr id="585" name="Google Shape;585;p11"/>
          <p:cNvSpPr/>
          <p:nvPr/>
        </p:nvSpPr>
        <p:spPr>
          <a:xfrm>
            <a:off x="786384" y="1901038"/>
            <a:ext cx="7571232" cy="427939"/>
          </a:xfrm>
          <a:prstGeom prst="rect">
            <a:avLst/>
          </a:pr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20"/>
              <a:buFont typeface="Arial"/>
              <a:buNone/>
            </a:pPr>
            <a:r>
              <a:t/>
            </a:r>
            <a:endParaRPr b="0" i="0" sz="1620" u="none" cap="none" strike="noStrike">
              <a:solidFill>
                <a:schemeClr val="dk1"/>
              </a:solidFill>
              <a:latin typeface="Calibri"/>
              <a:ea typeface="Calibri"/>
              <a:cs typeface="Calibri"/>
              <a:sym typeface="Calibri"/>
            </a:endParaRPr>
          </a:p>
        </p:txBody>
      </p:sp>
      <p:sp>
        <p:nvSpPr>
          <p:cNvPr id="586" name="Google Shape;586;p11"/>
          <p:cNvSpPr/>
          <p:nvPr/>
        </p:nvSpPr>
        <p:spPr>
          <a:xfrm>
            <a:off x="868680" y="1901038"/>
            <a:ext cx="1316736" cy="427939"/>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810"/>
              <a:buFont typeface="Arial"/>
              <a:buNone/>
            </a:pPr>
            <a:r>
              <a:rPr b="1" i="0" lang="en-US" sz="810" u="none" cap="none" strike="noStrike">
                <a:solidFill>
                  <a:srgbClr val="0B1D3A"/>
                </a:solidFill>
                <a:latin typeface="Gill Sans"/>
                <a:ea typeface="Gill Sans"/>
                <a:cs typeface="Gill Sans"/>
                <a:sym typeface="Gill Sans"/>
              </a:rPr>
              <a:t>Nationality / passport</a:t>
            </a:r>
            <a:endParaRPr b="0" i="0" sz="810" u="none" cap="none" strike="noStrike">
              <a:solidFill>
                <a:schemeClr val="dk1"/>
              </a:solidFill>
              <a:latin typeface="Gill Sans"/>
              <a:ea typeface="Gill Sans"/>
              <a:cs typeface="Gill Sans"/>
              <a:sym typeface="Gill Sans"/>
            </a:endParaRPr>
          </a:p>
        </p:txBody>
      </p:sp>
      <p:sp>
        <p:nvSpPr>
          <p:cNvPr id="587" name="Google Shape;587;p11"/>
          <p:cNvSpPr/>
          <p:nvPr/>
        </p:nvSpPr>
        <p:spPr>
          <a:xfrm>
            <a:off x="2226564" y="1901038"/>
            <a:ext cx="3291840" cy="427939"/>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810"/>
              <a:buFont typeface="Arial"/>
              <a:buNone/>
            </a:pPr>
            <a:r>
              <a:t/>
            </a:r>
            <a:endParaRPr b="0" i="0" sz="810" u="none" cap="none" strike="noStrike">
              <a:solidFill>
                <a:schemeClr val="dk1"/>
              </a:solidFill>
              <a:latin typeface="Gill Sans"/>
              <a:ea typeface="Gill Sans"/>
              <a:cs typeface="Gill Sans"/>
              <a:sym typeface="Gill Sans"/>
            </a:endParaRPr>
          </a:p>
        </p:txBody>
      </p:sp>
      <p:sp>
        <p:nvSpPr>
          <p:cNvPr id="588" name="Google Shape;588;p11"/>
          <p:cNvSpPr/>
          <p:nvPr/>
        </p:nvSpPr>
        <p:spPr>
          <a:xfrm>
            <a:off x="5559552" y="1901038"/>
            <a:ext cx="2715768" cy="427939"/>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765"/>
              <a:buFont typeface="Arial"/>
              <a:buNone/>
            </a:pPr>
            <a:r>
              <a:rPr b="0" i="1" lang="en-US" sz="765" u="none" cap="none" strike="noStrike">
                <a:solidFill>
                  <a:srgbClr val="5D6D7E"/>
                </a:solidFill>
                <a:latin typeface="Gill Sans"/>
                <a:ea typeface="Gill Sans"/>
                <a:cs typeface="Gill Sans"/>
                <a:sym typeface="Gill Sans"/>
              </a:rPr>
              <a:t>Determines which passport control lane the passenger is routed to</a:t>
            </a:r>
            <a:endParaRPr b="0" i="0" sz="765" u="none" cap="none" strike="noStrike">
              <a:solidFill>
                <a:schemeClr val="dk1"/>
              </a:solidFill>
              <a:latin typeface="Gill Sans"/>
              <a:ea typeface="Gill Sans"/>
              <a:cs typeface="Gill Sans"/>
              <a:sym typeface="Gill Sans"/>
            </a:endParaRPr>
          </a:p>
        </p:txBody>
      </p:sp>
      <p:sp>
        <p:nvSpPr>
          <p:cNvPr id="589" name="Google Shape;589;p11"/>
          <p:cNvSpPr/>
          <p:nvPr/>
        </p:nvSpPr>
        <p:spPr>
          <a:xfrm>
            <a:off x="786384" y="2328977"/>
            <a:ext cx="7571232" cy="427939"/>
          </a:xfrm>
          <a:prstGeom prst="rect">
            <a:avLst/>
          </a:prstGeom>
          <a:solidFill>
            <a:srgbClr val="EAF4F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20"/>
              <a:buFont typeface="Arial"/>
              <a:buNone/>
            </a:pPr>
            <a:r>
              <a:t/>
            </a:r>
            <a:endParaRPr b="0" i="0" sz="1620" u="none" cap="none" strike="noStrike">
              <a:solidFill>
                <a:schemeClr val="dk1"/>
              </a:solidFill>
              <a:latin typeface="Calibri"/>
              <a:ea typeface="Calibri"/>
              <a:cs typeface="Calibri"/>
              <a:sym typeface="Calibri"/>
            </a:endParaRPr>
          </a:p>
        </p:txBody>
      </p:sp>
      <p:sp>
        <p:nvSpPr>
          <p:cNvPr id="590" name="Google Shape;590;p11"/>
          <p:cNvSpPr/>
          <p:nvPr/>
        </p:nvSpPr>
        <p:spPr>
          <a:xfrm>
            <a:off x="2226564" y="2328977"/>
            <a:ext cx="3291840" cy="427939"/>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810"/>
              <a:buFont typeface="Arial"/>
              <a:buNone/>
            </a:pPr>
            <a:r>
              <a:t/>
            </a:r>
            <a:endParaRPr b="0" i="0" sz="810" u="none" cap="none" strike="noStrike">
              <a:solidFill>
                <a:schemeClr val="dk1"/>
              </a:solidFill>
              <a:latin typeface="Gill Sans"/>
              <a:ea typeface="Gill Sans"/>
              <a:cs typeface="Gill Sans"/>
              <a:sym typeface="Gill Sans"/>
            </a:endParaRPr>
          </a:p>
        </p:txBody>
      </p:sp>
      <p:sp>
        <p:nvSpPr>
          <p:cNvPr id="591" name="Google Shape;591;p11"/>
          <p:cNvSpPr/>
          <p:nvPr/>
        </p:nvSpPr>
        <p:spPr>
          <a:xfrm>
            <a:off x="5559552" y="2328977"/>
            <a:ext cx="2715768" cy="427939"/>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765"/>
              <a:buFont typeface="Arial"/>
              <a:buNone/>
            </a:pPr>
            <a:r>
              <a:t/>
            </a:r>
            <a:endParaRPr b="0" i="0" sz="765" u="none" cap="none" strike="noStrike">
              <a:solidFill>
                <a:schemeClr val="dk1"/>
              </a:solidFill>
              <a:latin typeface="Gill Sans"/>
              <a:ea typeface="Gill Sans"/>
              <a:cs typeface="Gill Sans"/>
              <a:sym typeface="Gill Sans"/>
            </a:endParaRPr>
          </a:p>
        </p:txBody>
      </p:sp>
      <p:sp>
        <p:nvSpPr>
          <p:cNvPr id="592" name="Google Shape;592;p11"/>
          <p:cNvSpPr/>
          <p:nvPr/>
        </p:nvSpPr>
        <p:spPr>
          <a:xfrm>
            <a:off x="786384" y="2756916"/>
            <a:ext cx="7571232" cy="427939"/>
          </a:xfrm>
          <a:prstGeom prst="rect">
            <a:avLst/>
          </a:pr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20"/>
              <a:buFont typeface="Arial"/>
              <a:buNone/>
            </a:pPr>
            <a:r>
              <a:t/>
            </a:r>
            <a:endParaRPr b="0" i="0" sz="1620" u="none" cap="none" strike="noStrike">
              <a:solidFill>
                <a:schemeClr val="dk1"/>
              </a:solidFill>
              <a:latin typeface="Calibri"/>
              <a:ea typeface="Calibri"/>
              <a:cs typeface="Calibri"/>
              <a:sym typeface="Calibri"/>
            </a:endParaRPr>
          </a:p>
        </p:txBody>
      </p:sp>
      <p:sp>
        <p:nvSpPr>
          <p:cNvPr id="593" name="Google Shape;593;p11"/>
          <p:cNvSpPr/>
          <p:nvPr/>
        </p:nvSpPr>
        <p:spPr>
          <a:xfrm>
            <a:off x="868680" y="2756916"/>
            <a:ext cx="1316736" cy="427939"/>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810"/>
              <a:buFont typeface="Arial"/>
              <a:buNone/>
            </a:pPr>
            <a:r>
              <a:rPr b="1" i="0" lang="en-US" sz="810" u="none" cap="none" strike="noStrike">
                <a:solidFill>
                  <a:srgbClr val="0B1D3A"/>
                </a:solidFill>
                <a:latin typeface="Gill Sans"/>
                <a:ea typeface="Gill Sans"/>
                <a:cs typeface="Gill Sans"/>
                <a:sym typeface="Gill Sans"/>
              </a:rPr>
              <a:t>Mobility</a:t>
            </a:r>
            <a:endParaRPr b="0" i="0" sz="810" u="none" cap="none" strike="noStrike">
              <a:solidFill>
                <a:schemeClr val="dk1"/>
              </a:solidFill>
              <a:latin typeface="Gill Sans"/>
              <a:ea typeface="Gill Sans"/>
              <a:cs typeface="Gill Sans"/>
              <a:sym typeface="Gill Sans"/>
            </a:endParaRPr>
          </a:p>
        </p:txBody>
      </p:sp>
      <p:sp>
        <p:nvSpPr>
          <p:cNvPr id="594" name="Google Shape;594;p11"/>
          <p:cNvSpPr/>
          <p:nvPr/>
        </p:nvSpPr>
        <p:spPr>
          <a:xfrm>
            <a:off x="2226564" y="2756916"/>
            <a:ext cx="3291840" cy="427939"/>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810"/>
              <a:buFont typeface="Arial"/>
              <a:buNone/>
            </a:pPr>
            <a:r>
              <a:rPr b="0" i="0" lang="en-US" sz="810" u="none" cap="none" strike="noStrike">
                <a:solidFill>
                  <a:srgbClr val="2C3E50"/>
                </a:solidFill>
                <a:latin typeface="Gill Sans"/>
                <a:ea typeface="Gill Sans"/>
                <a:cs typeface="Gill Sans"/>
                <a:sym typeface="Gill Sans"/>
              </a:rPr>
              <a:t>Standard or PRM (reduced mobility)</a:t>
            </a:r>
            <a:endParaRPr b="0" i="0" sz="810" u="none" cap="none" strike="noStrike">
              <a:solidFill>
                <a:schemeClr val="dk1"/>
              </a:solidFill>
              <a:latin typeface="Gill Sans"/>
              <a:ea typeface="Gill Sans"/>
              <a:cs typeface="Gill Sans"/>
              <a:sym typeface="Gill Sans"/>
            </a:endParaRPr>
          </a:p>
        </p:txBody>
      </p:sp>
      <p:sp>
        <p:nvSpPr>
          <p:cNvPr id="595" name="Google Shape;595;p11"/>
          <p:cNvSpPr/>
          <p:nvPr/>
        </p:nvSpPr>
        <p:spPr>
          <a:xfrm>
            <a:off x="5559552" y="2756916"/>
            <a:ext cx="2715768" cy="427939"/>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765"/>
              <a:buFont typeface="Arial"/>
              <a:buNone/>
            </a:pPr>
            <a:r>
              <a:rPr b="0" i="1" lang="en-US" sz="765" u="none" cap="none" strike="noStrike">
                <a:solidFill>
                  <a:srgbClr val="5D6D7E"/>
                </a:solidFill>
                <a:latin typeface="Gill Sans"/>
                <a:ea typeface="Gill Sans"/>
                <a:cs typeface="Gill Sans"/>
                <a:sym typeface="Gill Sans"/>
              </a:rPr>
              <a:t>PRM passengers follow a completely separate flow with escort and ambulift</a:t>
            </a:r>
            <a:endParaRPr b="0" i="0" sz="765" u="none" cap="none" strike="noStrike">
              <a:solidFill>
                <a:schemeClr val="dk1"/>
              </a:solidFill>
              <a:latin typeface="Gill Sans"/>
              <a:ea typeface="Gill Sans"/>
              <a:cs typeface="Gill Sans"/>
              <a:sym typeface="Gill Sans"/>
            </a:endParaRPr>
          </a:p>
        </p:txBody>
      </p:sp>
      <p:sp>
        <p:nvSpPr>
          <p:cNvPr id="596" name="Google Shape;596;p11"/>
          <p:cNvSpPr/>
          <p:nvPr/>
        </p:nvSpPr>
        <p:spPr>
          <a:xfrm>
            <a:off x="786384" y="3184855"/>
            <a:ext cx="7571232" cy="427939"/>
          </a:xfrm>
          <a:prstGeom prst="rect">
            <a:avLst/>
          </a:prstGeom>
          <a:solidFill>
            <a:srgbClr val="EAF4F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20"/>
              <a:buFont typeface="Arial"/>
              <a:buNone/>
            </a:pPr>
            <a:r>
              <a:t/>
            </a:r>
            <a:endParaRPr b="0" i="0" sz="1620" u="none" cap="none" strike="noStrike">
              <a:solidFill>
                <a:schemeClr val="dk1"/>
              </a:solidFill>
              <a:latin typeface="Calibri"/>
              <a:ea typeface="Calibri"/>
              <a:cs typeface="Calibri"/>
              <a:sym typeface="Calibri"/>
            </a:endParaRPr>
          </a:p>
        </p:txBody>
      </p:sp>
      <p:sp>
        <p:nvSpPr>
          <p:cNvPr id="597" name="Google Shape;597;p11"/>
          <p:cNvSpPr/>
          <p:nvPr/>
        </p:nvSpPr>
        <p:spPr>
          <a:xfrm>
            <a:off x="868680" y="3184855"/>
            <a:ext cx="1316736" cy="427939"/>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810"/>
              <a:buFont typeface="Arial"/>
              <a:buNone/>
            </a:pPr>
            <a:r>
              <a:rPr b="1" i="0" lang="en-US" sz="810" u="none" cap="none" strike="noStrike">
                <a:solidFill>
                  <a:srgbClr val="0B1D3A"/>
                </a:solidFill>
                <a:latin typeface="Gill Sans"/>
                <a:ea typeface="Gill Sans"/>
                <a:cs typeface="Gill Sans"/>
                <a:sym typeface="Gill Sans"/>
              </a:rPr>
              <a:t>UM status</a:t>
            </a:r>
            <a:endParaRPr b="0" i="0" sz="810" u="none" cap="none" strike="noStrike">
              <a:solidFill>
                <a:schemeClr val="dk1"/>
              </a:solidFill>
              <a:latin typeface="Gill Sans"/>
              <a:ea typeface="Gill Sans"/>
              <a:cs typeface="Gill Sans"/>
              <a:sym typeface="Gill Sans"/>
            </a:endParaRPr>
          </a:p>
        </p:txBody>
      </p:sp>
      <p:sp>
        <p:nvSpPr>
          <p:cNvPr id="598" name="Google Shape;598;p11"/>
          <p:cNvSpPr/>
          <p:nvPr/>
        </p:nvSpPr>
        <p:spPr>
          <a:xfrm>
            <a:off x="2226564" y="3184855"/>
            <a:ext cx="3291840" cy="427939"/>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810"/>
              <a:buFont typeface="Arial"/>
              <a:buNone/>
            </a:pPr>
            <a:r>
              <a:rPr b="0" i="0" lang="en-US" sz="810" u="none" cap="none" strike="noStrike">
                <a:solidFill>
                  <a:srgbClr val="2C3E50"/>
                </a:solidFill>
                <a:latin typeface="Gill Sans"/>
                <a:ea typeface="Gill Sans"/>
                <a:cs typeface="Gill Sans"/>
                <a:sym typeface="Gill Sans"/>
              </a:rPr>
              <a:t>Unaccompanied minor yes or no</a:t>
            </a:r>
            <a:endParaRPr b="0" i="0" sz="810" u="none" cap="none" strike="noStrike">
              <a:solidFill>
                <a:schemeClr val="dk1"/>
              </a:solidFill>
              <a:latin typeface="Gill Sans"/>
              <a:ea typeface="Gill Sans"/>
              <a:cs typeface="Gill Sans"/>
              <a:sym typeface="Gill Sans"/>
            </a:endParaRPr>
          </a:p>
        </p:txBody>
      </p:sp>
      <p:sp>
        <p:nvSpPr>
          <p:cNvPr id="599" name="Google Shape;599;p11"/>
          <p:cNvSpPr/>
          <p:nvPr/>
        </p:nvSpPr>
        <p:spPr>
          <a:xfrm>
            <a:off x="5559552" y="3184855"/>
            <a:ext cx="2715768" cy="427939"/>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765"/>
              <a:buFont typeface="Arial"/>
              <a:buNone/>
            </a:pPr>
            <a:r>
              <a:rPr b="0" i="1" lang="en-US" sz="765" u="none" cap="none" strike="noStrike">
                <a:solidFill>
                  <a:srgbClr val="5D6D7E"/>
                </a:solidFill>
                <a:latin typeface="Gill Sans"/>
                <a:ea typeface="Gill Sans"/>
                <a:cs typeface="Gill Sans"/>
                <a:sym typeface="Gill Sans"/>
              </a:rPr>
              <a:t>Routes through special assistance flow with dedicated escort</a:t>
            </a:r>
            <a:endParaRPr b="0" i="0" sz="765" u="none" cap="none" strike="noStrike">
              <a:solidFill>
                <a:schemeClr val="dk1"/>
              </a:solidFill>
              <a:latin typeface="Gill Sans"/>
              <a:ea typeface="Gill Sans"/>
              <a:cs typeface="Gill Sans"/>
              <a:sym typeface="Gill Sans"/>
            </a:endParaRPr>
          </a:p>
        </p:txBody>
      </p:sp>
      <p:sp>
        <p:nvSpPr>
          <p:cNvPr id="600" name="Google Shape;600;p11"/>
          <p:cNvSpPr/>
          <p:nvPr/>
        </p:nvSpPr>
        <p:spPr>
          <a:xfrm>
            <a:off x="786384" y="3612795"/>
            <a:ext cx="7571232" cy="427939"/>
          </a:xfrm>
          <a:prstGeom prst="rect">
            <a:avLst/>
          </a:pr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20"/>
              <a:buFont typeface="Arial"/>
              <a:buNone/>
            </a:pPr>
            <a:r>
              <a:t/>
            </a:r>
            <a:endParaRPr b="0" i="0" sz="1620" u="none" cap="none" strike="noStrike">
              <a:solidFill>
                <a:schemeClr val="dk1"/>
              </a:solidFill>
              <a:latin typeface="Calibri"/>
              <a:ea typeface="Calibri"/>
              <a:cs typeface="Calibri"/>
              <a:sym typeface="Calibri"/>
            </a:endParaRPr>
          </a:p>
        </p:txBody>
      </p:sp>
      <p:sp>
        <p:nvSpPr>
          <p:cNvPr id="601" name="Google Shape;601;p11"/>
          <p:cNvSpPr/>
          <p:nvPr/>
        </p:nvSpPr>
        <p:spPr>
          <a:xfrm>
            <a:off x="868680" y="3612795"/>
            <a:ext cx="1316736" cy="427939"/>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810"/>
              <a:buFont typeface="Arial"/>
              <a:buNone/>
            </a:pPr>
            <a:r>
              <a:rPr b="1" i="0" lang="en-US" sz="810" u="none" cap="none" strike="noStrike">
                <a:solidFill>
                  <a:srgbClr val="0B1D3A"/>
                </a:solidFill>
                <a:latin typeface="Gill Sans"/>
                <a:ea typeface="Gill Sans"/>
                <a:cs typeface="Gill Sans"/>
                <a:sym typeface="Gill Sans"/>
              </a:rPr>
              <a:t>Group type</a:t>
            </a:r>
            <a:endParaRPr b="0" i="0" sz="810" u="none" cap="none" strike="noStrike">
              <a:solidFill>
                <a:schemeClr val="dk1"/>
              </a:solidFill>
              <a:latin typeface="Gill Sans"/>
              <a:ea typeface="Gill Sans"/>
              <a:cs typeface="Gill Sans"/>
              <a:sym typeface="Gill Sans"/>
            </a:endParaRPr>
          </a:p>
        </p:txBody>
      </p:sp>
      <p:sp>
        <p:nvSpPr>
          <p:cNvPr id="602" name="Google Shape;602;p11"/>
          <p:cNvSpPr/>
          <p:nvPr/>
        </p:nvSpPr>
        <p:spPr>
          <a:xfrm>
            <a:off x="2226564" y="3612795"/>
            <a:ext cx="3291840" cy="427939"/>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810"/>
              <a:buFont typeface="Arial"/>
              <a:buNone/>
            </a:pPr>
            <a:r>
              <a:rPr b="0" i="0" lang="en-US" sz="810" u="none" cap="none" strike="noStrike">
                <a:solidFill>
                  <a:srgbClr val="2C3E50"/>
                </a:solidFill>
                <a:latin typeface="Gill Sans"/>
                <a:ea typeface="Gill Sans"/>
                <a:cs typeface="Gill Sans"/>
                <a:sym typeface="Gill Sans"/>
              </a:rPr>
              <a:t>Solo traveller, family or a tour group</a:t>
            </a:r>
            <a:endParaRPr b="0" i="0" sz="810" u="none" cap="none" strike="noStrike">
              <a:solidFill>
                <a:schemeClr val="dk1"/>
              </a:solidFill>
              <a:latin typeface="Gill Sans"/>
              <a:ea typeface="Gill Sans"/>
              <a:cs typeface="Gill Sans"/>
              <a:sym typeface="Gill Sans"/>
            </a:endParaRPr>
          </a:p>
        </p:txBody>
      </p:sp>
      <p:sp>
        <p:nvSpPr>
          <p:cNvPr id="603" name="Google Shape;603;p11"/>
          <p:cNvSpPr/>
          <p:nvPr/>
        </p:nvSpPr>
        <p:spPr>
          <a:xfrm>
            <a:off x="5559552" y="3612795"/>
            <a:ext cx="2715768" cy="427939"/>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765"/>
              <a:buFont typeface="Arial"/>
              <a:buNone/>
            </a:pPr>
            <a:r>
              <a:rPr b="0" i="1" lang="en-US" sz="765" u="none" cap="none" strike="noStrike">
                <a:solidFill>
                  <a:srgbClr val="5D6D7E"/>
                </a:solidFill>
                <a:latin typeface="Gill Sans"/>
                <a:ea typeface="Gill Sans"/>
                <a:cs typeface="Gill Sans"/>
                <a:sym typeface="Gill Sans"/>
              </a:rPr>
              <a:t>Affects queue behaviour and groups may process as a batch at one desk</a:t>
            </a:r>
            <a:endParaRPr b="0" i="0" sz="765" u="none" cap="none" strike="noStrike">
              <a:solidFill>
                <a:schemeClr val="dk1"/>
              </a:solidFill>
              <a:latin typeface="Gill Sans"/>
              <a:ea typeface="Gill Sans"/>
              <a:cs typeface="Gill Sans"/>
              <a:sym typeface="Gill Sans"/>
            </a:endParaRPr>
          </a:p>
        </p:txBody>
      </p:sp>
      <p:sp>
        <p:nvSpPr>
          <p:cNvPr id="604" name="Google Shape;604;p11"/>
          <p:cNvSpPr/>
          <p:nvPr/>
        </p:nvSpPr>
        <p:spPr>
          <a:xfrm>
            <a:off x="786384" y="4040734"/>
            <a:ext cx="7571232" cy="427939"/>
          </a:xfrm>
          <a:prstGeom prst="rect">
            <a:avLst/>
          </a:prstGeom>
          <a:solidFill>
            <a:srgbClr val="EAF4F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20"/>
              <a:buFont typeface="Arial"/>
              <a:buNone/>
            </a:pPr>
            <a:r>
              <a:t/>
            </a:r>
            <a:endParaRPr b="0" i="0" sz="1620" u="none" cap="none" strike="noStrike">
              <a:solidFill>
                <a:schemeClr val="dk1"/>
              </a:solidFill>
              <a:latin typeface="Calibri"/>
              <a:ea typeface="Calibri"/>
              <a:cs typeface="Calibri"/>
              <a:sym typeface="Calibri"/>
            </a:endParaRPr>
          </a:p>
        </p:txBody>
      </p:sp>
      <p:sp>
        <p:nvSpPr>
          <p:cNvPr id="605" name="Google Shape;605;p11"/>
          <p:cNvSpPr/>
          <p:nvPr/>
        </p:nvSpPr>
        <p:spPr>
          <a:xfrm>
            <a:off x="868680" y="4040734"/>
            <a:ext cx="1316736" cy="427939"/>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810"/>
              <a:buFont typeface="Arial"/>
              <a:buNone/>
            </a:pPr>
            <a:r>
              <a:rPr b="1" i="0" lang="en-US" sz="810" u="none" cap="none" strike="noStrike">
                <a:solidFill>
                  <a:srgbClr val="0B1D3A"/>
                </a:solidFill>
                <a:latin typeface="Gill Sans"/>
                <a:ea typeface="Gill Sans"/>
                <a:cs typeface="Gill Sans"/>
                <a:sym typeface="Gill Sans"/>
              </a:rPr>
              <a:t>Bag count</a:t>
            </a:r>
            <a:endParaRPr b="0" i="0" sz="810" u="none" cap="none" strike="noStrike">
              <a:solidFill>
                <a:schemeClr val="dk1"/>
              </a:solidFill>
              <a:latin typeface="Gill Sans"/>
              <a:ea typeface="Gill Sans"/>
              <a:cs typeface="Gill Sans"/>
              <a:sym typeface="Gill Sans"/>
            </a:endParaRPr>
          </a:p>
        </p:txBody>
      </p:sp>
      <p:sp>
        <p:nvSpPr>
          <p:cNvPr id="606" name="Google Shape;606;p11"/>
          <p:cNvSpPr/>
          <p:nvPr/>
        </p:nvSpPr>
        <p:spPr>
          <a:xfrm>
            <a:off x="2226564" y="4040734"/>
            <a:ext cx="3291840" cy="427939"/>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810"/>
              <a:buFont typeface="Arial"/>
              <a:buNone/>
            </a:pPr>
            <a:r>
              <a:rPr b="0" i="0" lang="en-US" sz="810" u="none" cap="none" strike="noStrike">
                <a:solidFill>
                  <a:srgbClr val="2C3E50"/>
                </a:solidFill>
                <a:latin typeface="Gill Sans"/>
                <a:ea typeface="Gill Sans"/>
                <a:cs typeface="Gill Sans"/>
                <a:sym typeface="Gill Sans"/>
              </a:rPr>
              <a:t>0, 1, or 2+ checked bags</a:t>
            </a:r>
            <a:endParaRPr b="0" i="0" sz="810" u="none" cap="none" strike="noStrike">
              <a:solidFill>
                <a:schemeClr val="dk1"/>
              </a:solidFill>
              <a:latin typeface="Gill Sans"/>
              <a:ea typeface="Gill Sans"/>
              <a:cs typeface="Gill Sans"/>
              <a:sym typeface="Gill Sans"/>
            </a:endParaRPr>
          </a:p>
        </p:txBody>
      </p:sp>
      <p:sp>
        <p:nvSpPr>
          <p:cNvPr id="607" name="Google Shape;607;p11"/>
          <p:cNvSpPr/>
          <p:nvPr/>
        </p:nvSpPr>
        <p:spPr>
          <a:xfrm>
            <a:off x="5559552" y="4040734"/>
            <a:ext cx="2715768" cy="427939"/>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765"/>
              <a:buFont typeface="Arial"/>
              <a:buNone/>
            </a:pPr>
            <a:r>
              <a:rPr b="0" i="1" lang="en-US" sz="765" u="none" cap="none" strike="noStrike">
                <a:solidFill>
                  <a:srgbClr val="5D6D7E"/>
                </a:solidFill>
                <a:latin typeface="Gill Sans"/>
                <a:ea typeface="Gill Sans"/>
                <a:cs typeface="Gill Sans"/>
                <a:sym typeface="Gill Sans"/>
              </a:rPr>
              <a:t>Determines how long the passenger stays at the baggage belt</a:t>
            </a:r>
            <a:endParaRPr b="0" i="0" sz="765" u="none" cap="none" strike="noStrike">
              <a:solidFill>
                <a:schemeClr val="dk1"/>
              </a:solidFill>
              <a:latin typeface="Gill Sans"/>
              <a:ea typeface="Gill Sans"/>
              <a:cs typeface="Gill Sans"/>
              <a:sym typeface="Gill Sans"/>
            </a:endParaRPr>
          </a:p>
        </p:txBody>
      </p:sp>
      <p:sp>
        <p:nvSpPr>
          <p:cNvPr id="608" name="Google Shape;608;p11"/>
          <p:cNvSpPr/>
          <p:nvPr/>
        </p:nvSpPr>
        <p:spPr>
          <a:xfrm>
            <a:off x="786384" y="4468673"/>
            <a:ext cx="7571232" cy="16459"/>
          </a:xfrm>
          <a:prstGeom prst="rect">
            <a:avLst/>
          </a:prstGeom>
          <a:solidFill>
            <a:srgbClr val="0B1D3A"/>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20"/>
              <a:buFont typeface="Arial"/>
              <a:buNone/>
            </a:pPr>
            <a:r>
              <a:t/>
            </a:r>
            <a:endParaRPr b="0" i="0" sz="1620" u="none" cap="none" strike="noStrike">
              <a:solidFill>
                <a:schemeClr val="dk1"/>
              </a:solidFill>
              <a:latin typeface="Calibri"/>
              <a:ea typeface="Calibri"/>
              <a:cs typeface="Calibri"/>
              <a:sym typeface="Calibri"/>
            </a:endParaRPr>
          </a:p>
        </p:txBody>
      </p:sp>
      <p:sp>
        <p:nvSpPr>
          <p:cNvPr id="609" name="Google Shape;609;p11"/>
          <p:cNvSpPr/>
          <p:nvPr/>
        </p:nvSpPr>
        <p:spPr>
          <a:xfrm>
            <a:off x="786384" y="4567428"/>
            <a:ext cx="7571232" cy="24688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765"/>
              <a:buFont typeface="Arial"/>
              <a:buNone/>
            </a:pPr>
            <a:r>
              <a:t/>
            </a:r>
            <a:endParaRPr b="0" i="0" sz="765" u="none" cap="none" strike="noStrik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4" name="Shape 614"/>
        <p:cNvGrpSpPr/>
        <p:nvPr/>
      </p:nvGrpSpPr>
      <p:grpSpPr>
        <a:xfrm>
          <a:off x="0" y="0"/>
          <a:ext cx="0" cy="0"/>
          <a:chOff x="0" y="0"/>
          <a:chExt cx="0" cy="0"/>
        </a:xfrm>
      </p:grpSpPr>
      <p:sp>
        <p:nvSpPr>
          <p:cNvPr id="615" name="Google Shape;615;p12"/>
          <p:cNvSpPr/>
          <p:nvPr/>
        </p:nvSpPr>
        <p:spPr>
          <a:xfrm>
            <a:off x="802825" y="131675"/>
            <a:ext cx="7571400" cy="329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CC0099"/>
                </a:solidFill>
                <a:latin typeface="Gill Sans"/>
                <a:ea typeface="Gill Sans"/>
                <a:cs typeface="Gill Sans"/>
                <a:sym typeface="Gill Sans"/>
              </a:rPr>
              <a:t>Simulation Approach ( Conditions &amp; Decision Logic )</a:t>
            </a:r>
            <a:endParaRPr b="0" i="0" sz="1800" u="none" cap="none" strike="noStrike">
              <a:solidFill>
                <a:srgbClr val="CC0099"/>
              </a:solidFill>
              <a:latin typeface="Gill Sans"/>
              <a:ea typeface="Gill Sans"/>
              <a:cs typeface="Gill Sans"/>
              <a:sym typeface="Gill Sans"/>
            </a:endParaRPr>
          </a:p>
        </p:txBody>
      </p:sp>
      <p:sp>
        <p:nvSpPr>
          <p:cNvPr id="616" name="Google Shape;616;p12"/>
          <p:cNvSpPr/>
          <p:nvPr/>
        </p:nvSpPr>
        <p:spPr>
          <a:xfrm>
            <a:off x="786384" y="452628"/>
            <a:ext cx="7406640" cy="19751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945"/>
              <a:buFont typeface="Arial"/>
              <a:buNone/>
            </a:pPr>
            <a:r>
              <a:rPr b="0" i="1" lang="en-US" sz="945" u="none" cap="none" strike="noStrike">
                <a:solidFill>
                  <a:srgbClr val="5D6D7E"/>
                </a:solidFill>
                <a:latin typeface="Gill Sans"/>
                <a:ea typeface="Gill Sans"/>
                <a:cs typeface="Gill Sans"/>
                <a:sym typeface="Gill Sans"/>
              </a:rPr>
              <a:t>The routing rules, processing times and disruption scenarios applied at each decision point in the model</a:t>
            </a:r>
            <a:endParaRPr b="0" i="0" sz="945" u="none" cap="none" strike="noStrike">
              <a:solidFill>
                <a:schemeClr val="dk1"/>
              </a:solidFill>
              <a:latin typeface="Gill Sans"/>
              <a:ea typeface="Gill Sans"/>
              <a:cs typeface="Gill Sans"/>
              <a:sym typeface="Gill Sans"/>
            </a:endParaRPr>
          </a:p>
        </p:txBody>
      </p:sp>
      <p:sp>
        <p:nvSpPr>
          <p:cNvPr id="617" name="Google Shape;617;p12"/>
          <p:cNvSpPr/>
          <p:nvPr/>
        </p:nvSpPr>
        <p:spPr>
          <a:xfrm>
            <a:off x="992124" y="4896612"/>
            <a:ext cx="3291840" cy="20574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720"/>
              <a:buFont typeface="Arial"/>
              <a:buNone/>
            </a:pPr>
            <a:r>
              <a:t/>
            </a:r>
            <a:endParaRPr b="0" i="0" sz="720" u="none" cap="none" strike="noStrike">
              <a:solidFill>
                <a:schemeClr val="dk1"/>
              </a:solidFill>
              <a:latin typeface="Calibri"/>
              <a:ea typeface="Calibri"/>
              <a:cs typeface="Calibri"/>
              <a:sym typeface="Calibri"/>
            </a:endParaRPr>
          </a:p>
        </p:txBody>
      </p:sp>
      <p:sp>
        <p:nvSpPr>
          <p:cNvPr id="618" name="Google Shape;618;p12"/>
          <p:cNvSpPr/>
          <p:nvPr/>
        </p:nvSpPr>
        <p:spPr>
          <a:xfrm>
            <a:off x="786384" y="740664"/>
            <a:ext cx="7571232" cy="246888"/>
          </a:xfrm>
          <a:prstGeom prst="rect">
            <a:avLst/>
          </a:prstGeom>
          <a:solidFill>
            <a:srgbClr val="0E7C8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20"/>
              <a:buFont typeface="Arial"/>
              <a:buNone/>
            </a:pPr>
            <a:r>
              <a:t/>
            </a:r>
            <a:endParaRPr b="0" i="0" sz="1620" u="none" cap="none" strike="noStrike">
              <a:solidFill>
                <a:schemeClr val="dk1"/>
              </a:solidFill>
              <a:latin typeface="Calibri"/>
              <a:ea typeface="Calibri"/>
              <a:cs typeface="Calibri"/>
              <a:sym typeface="Calibri"/>
            </a:endParaRPr>
          </a:p>
        </p:txBody>
      </p:sp>
      <p:sp>
        <p:nvSpPr>
          <p:cNvPr id="619" name="Google Shape;619;p12"/>
          <p:cNvSpPr/>
          <p:nvPr/>
        </p:nvSpPr>
        <p:spPr>
          <a:xfrm>
            <a:off x="868680" y="740664"/>
            <a:ext cx="7406640" cy="24688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rgbClr val="FFFFFF"/>
                </a:solidFill>
                <a:latin typeface="Gill Sans"/>
                <a:ea typeface="Gill Sans"/>
                <a:cs typeface="Gill Sans"/>
                <a:sym typeface="Gill Sans"/>
              </a:rPr>
              <a:t>Routing conditions ( where does each passenger go?)</a:t>
            </a:r>
            <a:endParaRPr b="0" i="0" sz="900" u="none" cap="none" strike="noStrike">
              <a:solidFill>
                <a:schemeClr val="dk1"/>
              </a:solidFill>
              <a:latin typeface="Gill Sans"/>
              <a:ea typeface="Gill Sans"/>
              <a:cs typeface="Gill Sans"/>
              <a:sym typeface="Gill Sans"/>
            </a:endParaRPr>
          </a:p>
        </p:txBody>
      </p:sp>
      <p:sp>
        <p:nvSpPr>
          <p:cNvPr id="620" name="Google Shape;620;p12"/>
          <p:cNvSpPr/>
          <p:nvPr/>
        </p:nvSpPr>
        <p:spPr>
          <a:xfrm>
            <a:off x="786384" y="1020471"/>
            <a:ext cx="7571232" cy="238658"/>
          </a:xfrm>
          <a:prstGeom prst="rect">
            <a:avLst/>
          </a:prstGeom>
          <a:solidFill>
            <a:srgbClr val="EAF4F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20"/>
              <a:buFont typeface="Arial"/>
              <a:buNone/>
            </a:pPr>
            <a:r>
              <a:t/>
            </a:r>
            <a:endParaRPr b="0" i="0" sz="1620" u="none" cap="none" strike="noStrike">
              <a:solidFill>
                <a:schemeClr val="dk1"/>
              </a:solidFill>
              <a:latin typeface="Calibri"/>
              <a:ea typeface="Calibri"/>
              <a:cs typeface="Calibri"/>
              <a:sym typeface="Calibri"/>
            </a:endParaRPr>
          </a:p>
        </p:txBody>
      </p:sp>
      <p:sp>
        <p:nvSpPr>
          <p:cNvPr id="621" name="Google Shape;621;p12"/>
          <p:cNvSpPr/>
          <p:nvPr/>
        </p:nvSpPr>
        <p:spPr>
          <a:xfrm>
            <a:off x="868680" y="1020471"/>
            <a:ext cx="1069848" cy="23865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765"/>
              <a:buFont typeface="Arial"/>
              <a:buNone/>
            </a:pPr>
            <a:r>
              <a:rPr b="1" i="0" lang="en-US" sz="765" u="none" cap="none" strike="noStrike">
                <a:solidFill>
                  <a:srgbClr val="0B1D3A"/>
                </a:solidFill>
                <a:latin typeface="Gill Sans"/>
                <a:ea typeface="Gill Sans"/>
                <a:cs typeface="Gill Sans"/>
                <a:sym typeface="Gill Sans"/>
              </a:rPr>
              <a:t>At entry</a:t>
            </a:r>
            <a:endParaRPr b="0" i="0" sz="765" u="none" cap="none" strike="noStrike">
              <a:solidFill>
                <a:schemeClr val="dk1"/>
              </a:solidFill>
              <a:latin typeface="Gill Sans"/>
              <a:ea typeface="Gill Sans"/>
              <a:cs typeface="Gill Sans"/>
              <a:sym typeface="Gill Sans"/>
            </a:endParaRPr>
          </a:p>
        </p:txBody>
      </p:sp>
      <p:sp>
        <p:nvSpPr>
          <p:cNvPr id="622" name="Google Shape;622;p12"/>
          <p:cNvSpPr/>
          <p:nvPr/>
        </p:nvSpPr>
        <p:spPr>
          <a:xfrm>
            <a:off x="2020824" y="1020471"/>
            <a:ext cx="6254496" cy="23865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765"/>
              <a:buFont typeface="Arial"/>
              <a:buNone/>
            </a:pPr>
            <a:r>
              <a:rPr b="0" i="0" lang="en-US" sz="765" u="none" cap="none" strike="noStrike">
                <a:solidFill>
                  <a:srgbClr val="2C3E50"/>
                </a:solidFill>
                <a:latin typeface="Gill Sans"/>
                <a:ea typeface="Gill Sans"/>
                <a:cs typeface="Gill Sans"/>
                <a:sym typeface="Gill Sans"/>
              </a:rPr>
              <a:t>If arrival mode = coach → enter as batch of 96 for 1 bus  with transit delay. </a:t>
            </a:r>
            <a:endParaRPr b="0" i="0" sz="1400" u="none" cap="none" strike="noStrike">
              <a:solidFill>
                <a:srgbClr val="000000"/>
              </a:solidFill>
              <a:latin typeface="Gill Sans"/>
              <a:ea typeface="Gill Sans"/>
              <a:cs typeface="Gill Sans"/>
              <a:sym typeface="Gill Sans"/>
            </a:endParaRPr>
          </a:p>
          <a:p>
            <a:pPr indent="0" lvl="0" marL="0" marR="0" rtl="0" algn="l">
              <a:lnSpc>
                <a:spcPct val="100000"/>
              </a:lnSpc>
              <a:spcBef>
                <a:spcPts val="0"/>
              </a:spcBef>
              <a:spcAft>
                <a:spcPts val="0"/>
              </a:spcAft>
              <a:buClr>
                <a:srgbClr val="000000"/>
              </a:buClr>
              <a:buSzPts val="765"/>
              <a:buFont typeface="Arial"/>
              <a:buNone/>
            </a:pPr>
            <a:r>
              <a:rPr b="0" i="0" lang="en-US" sz="765" u="none" cap="none" strike="noStrike">
                <a:solidFill>
                  <a:srgbClr val="2C3E50"/>
                </a:solidFill>
                <a:latin typeface="Gill Sans"/>
                <a:ea typeface="Gill Sans"/>
                <a:cs typeface="Gill Sans"/>
                <a:sym typeface="Gill Sans"/>
              </a:rPr>
              <a:t>If walk-in → continuous trickle from airbridge</a:t>
            </a:r>
            <a:endParaRPr b="0" i="0" sz="765" u="none" cap="none" strike="noStrike">
              <a:solidFill>
                <a:schemeClr val="dk1"/>
              </a:solidFill>
              <a:latin typeface="Gill Sans"/>
              <a:ea typeface="Gill Sans"/>
              <a:cs typeface="Gill Sans"/>
              <a:sym typeface="Gill Sans"/>
            </a:endParaRPr>
          </a:p>
        </p:txBody>
      </p:sp>
      <p:sp>
        <p:nvSpPr>
          <p:cNvPr id="623" name="Google Shape;623;p12"/>
          <p:cNvSpPr/>
          <p:nvPr/>
        </p:nvSpPr>
        <p:spPr>
          <a:xfrm>
            <a:off x="786384" y="1267359"/>
            <a:ext cx="7571232" cy="238658"/>
          </a:xfrm>
          <a:prstGeom prst="rect">
            <a:avLst/>
          </a:pr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20"/>
              <a:buFont typeface="Arial"/>
              <a:buNone/>
            </a:pPr>
            <a:r>
              <a:t/>
            </a:r>
            <a:endParaRPr b="0" i="0" sz="1620" u="none" cap="none" strike="noStrike">
              <a:solidFill>
                <a:schemeClr val="dk1"/>
              </a:solidFill>
              <a:latin typeface="Calibri"/>
              <a:ea typeface="Calibri"/>
              <a:cs typeface="Calibri"/>
              <a:sym typeface="Calibri"/>
            </a:endParaRPr>
          </a:p>
        </p:txBody>
      </p:sp>
      <p:sp>
        <p:nvSpPr>
          <p:cNvPr id="624" name="Google Shape;624;p12"/>
          <p:cNvSpPr/>
          <p:nvPr/>
        </p:nvSpPr>
        <p:spPr>
          <a:xfrm>
            <a:off x="868680" y="1267359"/>
            <a:ext cx="1069848" cy="23865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765"/>
              <a:buFont typeface="Arial"/>
              <a:buNone/>
            </a:pPr>
            <a:r>
              <a:rPr b="1" i="0" lang="en-US" sz="765" u="none" cap="none" strike="noStrike">
                <a:solidFill>
                  <a:srgbClr val="0B1D3A"/>
                </a:solidFill>
                <a:latin typeface="Gill Sans"/>
                <a:ea typeface="Gill Sans"/>
                <a:cs typeface="Gill Sans"/>
                <a:sym typeface="Gill Sans"/>
              </a:rPr>
              <a:t>Queue split</a:t>
            </a:r>
            <a:endParaRPr b="0" i="0" sz="765" u="none" cap="none" strike="noStrike">
              <a:solidFill>
                <a:schemeClr val="dk1"/>
              </a:solidFill>
              <a:latin typeface="Gill Sans"/>
              <a:ea typeface="Gill Sans"/>
              <a:cs typeface="Gill Sans"/>
              <a:sym typeface="Gill Sans"/>
            </a:endParaRPr>
          </a:p>
        </p:txBody>
      </p:sp>
      <p:sp>
        <p:nvSpPr>
          <p:cNvPr id="625" name="Google Shape;625;p12"/>
          <p:cNvSpPr/>
          <p:nvPr/>
        </p:nvSpPr>
        <p:spPr>
          <a:xfrm>
            <a:off x="2020824" y="1267359"/>
            <a:ext cx="6254496" cy="23865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765"/>
              <a:buFont typeface="Arial"/>
              <a:buNone/>
            </a:pPr>
            <a:r>
              <a:rPr b="0" i="0" lang="en-US" sz="765" u="none" cap="none" strike="noStrike">
                <a:solidFill>
                  <a:srgbClr val="2C3E50"/>
                </a:solidFill>
                <a:latin typeface="Gill Sans"/>
                <a:ea typeface="Gill Sans"/>
                <a:cs typeface="Gill Sans"/>
                <a:sym typeface="Gill Sans"/>
              </a:rPr>
              <a:t>Staff directs the pax from serpentine queue based on passport→ e-gate lane. </a:t>
            </a:r>
            <a:endParaRPr b="0" i="0" sz="1400" u="none" cap="none" strike="noStrike">
              <a:solidFill>
                <a:srgbClr val="000000"/>
              </a:solidFill>
              <a:latin typeface="Gill Sans"/>
              <a:ea typeface="Gill Sans"/>
              <a:cs typeface="Gill Sans"/>
              <a:sym typeface="Gill Sans"/>
            </a:endParaRPr>
          </a:p>
          <a:p>
            <a:pPr indent="0" lvl="0" marL="0" marR="0" rtl="0" algn="l">
              <a:lnSpc>
                <a:spcPct val="100000"/>
              </a:lnSpc>
              <a:spcBef>
                <a:spcPts val="0"/>
              </a:spcBef>
              <a:spcAft>
                <a:spcPts val="0"/>
              </a:spcAft>
              <a:buClr>
                <a:srgbClr val="000000"/>
              </a:buClr>
              <a:buSzPts val="765"/>
              <a:buFont typeface="Arial"/>
              <a:buNone/>
            </a:pPr>
            <a:r>
              <a:rPr b="0" i="0" lang="en-US" sz="765" u="none" cap="none" strike="noStrike">
                <a:solidFill>
                  <a:srgbClr val="2C3E50"/>
                </a:solidFill>
                <a:latin typeface="Gill Sans"/>
                <a:ea typeface="Gill Sans"/>
                <a:cs typeface="Gill Sans"/>
                <a:sym typeface="Gill Sans"/>
              </a:rPr>
              <a:t>Non-EU or Visa stamping needed→ manned desk lane</a:t>
            </a:r>
            <a:endParaRPr b="0" i="0" sz="765" u="none" cap="none" strike="noStrike">
              <a:solidFill>
                <a:schemeClr val="dk1"/>
              </a:solidFill>
              <a:latin typeface="Gill Sans"/>
              <a:ea typeface="Gill Sans"/>
              <a:cs typeface="Gill Sans"/>
              <a:sym typeface="Gill Sans"/>
            </a:endParaRPr>
          </a:p>
        </p:txBody>
      </p:sp>
      <p:sp>
        <p:nvSpPr>
          <p:cNvPr id="626" name="Google Shape;626;p12"/>
          <p:cNvSpPr/>
          <p:nvPr/>
        </p:nvSpPr>
        <p:spPr>
          <a:xfrm>
            <a:off x="786384" y="1514247"/>
            <a:ext cx="7571232" cy="238658"/>
          </a:xfrm>
          <a:prstGeom prst="rect">
            <a:avLst/>
          </a:prstGeom>
          <a:solidFill>
            <a:srgbClr val="EAF4F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20"/>
              <a:buFont typeface="Arial"/>
              <a:buNone/>
            </a:pPr>
            <a:r>
              <a:t/>
            </a:r>
            <a:endParaRPr b="0" i="0" sz="1620" u="none" cap="none" strike="noStrike">
              <a:solidFill>
                <a:schemeClr val="dk1"/>
              </a:solidFill>
              <a:latin typeface="Calibri"/>
              <a:ea typeface="Calibri"/>
              <a:cs typeface="Calibri"/>
              <a:sym typeface="Calibri"/>
            </a:endParaRPr>
          </a:p>
        </p:txBody>
      </p:sp>
      <p:sp>
        <p:nvSpPr>
          <p:cNvPr id="627" name="Google Shape;627;p12"/>
          <p:cNvSpPr/>
          <p:nvPr/>
        </p:nvSpPr>
        <p:spPr>
          <a:xfrm>
            <a:off x="868680" y="1514247"/>
            <a:ext cx="1069848" cy="23865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765"/>
              <a:buFont typeface="Arial"/>
              <a:buNone/>
            </a:pPr>
            <a:r>
              <a:rPr b="1" i="0" lang="en-US" sz="765" u="none" cap="none" strike="noStrike">
                <a:solidFill>
                  <a:srgbClr val="0B1D3A"/>
                </a:solidFill>
                <a:latin typeface="Gill Sans"/>
                <a:ea typeface="Gill Sans"/>
                <a:cs typeface="Gill Sans"/>
                <a:sym typeface="Gill Sans"/>
              </a:rPr>
              <a:t>PRM routing</a:t>
            </a:r>
            <a:endParaRPr b="0" i="0" sz="765" u="none" cap="none" strike="noStrike">
              <a:solidFill>
                <a:schemeClr val="dk1"/>
              </a:solidFill>
              <a:latin typeface="Gill Sans"/>
              <a:ea typeface="Gill Sans"/>
              <a:cs typeface="Gill Sans"/>
              <a:sym typeface="Gill Sans"/>
            </a:endParaRPr>
          </a:p>
        </p:txBody>
      </p:sp>
      <p:sp>
        <p:nvSpPr>
          <p:cNvPr id="628" name="Google Shape;628;p12"/>
          <p:cNvSpPr/>
          <p:nvPr/>
        </p:nvSpPr>
        <p:spPr>
          <a:xfrm>
            <a:off x="2020824" y="1514247"/>
            <a:ext cx="6254496" cy="23865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765"/>
              <a:buFont typeface="Arial"/>
              <a:buNone/>
            </a:pPr>
            <a:r>
              <a:rPr b="0" i="0" lang="en-US" sz="765" u="none" cap="none" strike="noStrike">
                <a:solidFill>
                  <a:srgbClr val="2C3E50"/>
                </a:solidFill>
                <a:latin typeface="Gill Sans"/>
                <a:ea typeface="Gill Sans"/>
                <a:cs typeface="Gill Sans"/>
                <a:sym typeface="Gill Sans"/>
              </a:rPr>
              <a:t>If mobility = PRM or UM = yes → bypass serpentine entirely escorted directly to special assistance manned desk from airside</a:t>
            </a:r>
            <a:endParaRPr b="0" i="0" sz="765" u="none" cap="none" strike="noStrike">
              <a:solidFill>
                <a:schemeClr val="dk1"/>
              </a:solidFill>
              <a:latin typeface="Gill Sans"/>
              <a:ea typeface="Gill Sans"/>
              <a:cs typeface="Gill Sans"/>
              <a:sym typeface="Gill Sans"/>
            </a:endParaRPr>
          </a:p>
        </p:txBody>
      </p:sp>
      <p:sp>
        <p:nvSpPr>
          <p:cNvPr id="629" name="Google Shape;629;p12"/>
          <p:cNvSpPr/>
          <p:nvPr/>
        </p:nvSpPr>
        <p:spPr>
          <a:xfrm>
            <a:off x="786384" y="1761135"/>
            <a:ext cx="7571232" cy="238658"/>
          </a:xfrm>
          <a:prstGeom prst="rect">
            <a:avLst/>
          </a:pr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20"/>
              <a:buFont typeface="Arial"/>
              <a:buNone/>
            </a:pPr>
            <a:r>
              <a:t/>
            </a:r>
            <a:endParaRPr b="0" i="0" sz="1620" u="none" cap="none" strike="noStrike">
              <a:solidFill>
                <a:schemeClr val="dk1"/>
              </a:solidFill>
              <a:latin typeface="Calibri"/>
              <a:ea typeface="Calibri"/>
              <a:cs typeface="Calibri"/>
              <a:sym typeface="Calibri"/>
            </a:endParaRPr>
          </a:p>
        </p:txBody>
      </p:sp>
      <p:sp>
        <p:nvSpPr>
          <p:cNvPr id="630" name="Google Shape;630;p12"/>
          <p:cNvSpPr/>
          <p:nvPr/>
        </p:nvSpPr>
        <p:spPr>
          <a:xfrm>
            <a:off x="868680" y="1761135"/>
            <a:ext cx="1069848" cy="23865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765"/>
              <a:buFont typeface="Arial"/>
              <a:buNone/>
            </a:pPr>
            <a:r>
              <a:rPr b="1" i="0" lang="en-US" sz="765" u="none" cap="none" strike="noStrike">
                <a:solidFill>
                  <a:srgbClr val="0B1D3A"/>
                </a:solidFill>
                <a:latin typeface="Gill Sans"/>
                <a:ea typeface="Gill Sans"/>
                <a:cs typeface="Gill Sans"/>
                <a:sym typeface="Gill Sans"/>
              </a:rPr>
              <a:t>Belt allocation</a:t>
            </a:r>
            <a:endParaRPr b="0" i="0" sz="765" u="none" cap="none" strike="noStrike">
              <a:solidFill>
                <a:schemeClr val="dk1"/>
              </a:solidFill>
              <a:latin typeface="Gill Sans"/>
              <a:ea typeface="Gill Sans"/>
              <a:cs typeface="Gill Sans"/>
              <a:sym typeface="Gill Sans"/>
            </a:endParaRPr>
          </a:p>
        </p:txBody>
      </p:sp>
      <p:sp>
        <p:nvSpPr>
          <p:cNvPr id="631" name="Google Shape;631;p12"/>
          <p:cNvSpPr/>
          <p:nvPr/>
        </p:nvSpPr>
        <p:spPr>
          <a:xfrm>
            <a:off x="2020824" y="1761135"/>
            <a:ext cx="6254496" cy="23865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765"/>
              <a:buFont typeface="Arial"/>
              <a:buNone/>
            </a:pPr>
            <a:r>
              <a:rPr b="0" i="0" lang="en-US" sz="765" u="none" cap="none" strike="noStrike">
                <a:solidFill>
                  <a:srgbClr val="2C3E50"/>
                </a:solidFill>
                <a:latin typeface="Gill Sans"/>
                <a:ea typeface="Gill Sans"/>
                <a:cs typeface="Gill Sans"/>
                <a:sym typeface="Gill Sans"/>
              </a:rPr>
              <a:t>Flight number → belt mapping rule. </a:t>
            </a:r>
            <a:endParaRPr b="0" i="0" sz="1400" u="none" cap="none" strike="noStrike">
              <a:solidFill>
                <a:srgbClr val="000000"/>
              </a:solidFill>
              <a:latin typeface="Gill Sans"/>
              <a:ea typeface="Gill Sans"/>
              <a:cs typeface="Gill Sans"/>
              <a:sym typeface="Gill Sans"/>
            </a:endParaRPr>
          </a:p>
          <a:p>
            <a:pPr indent="0" lvl="0" marL="0" marR="0" rtl="0" algn="l">
              <a:lnSpc>
                <a:spcPct val="100000"/>
              </a:lnSpc>
              <a:spcBef>
                <a:spcPts val="0"/>
              </a:spcBef>
              <a:spcAft>
                <a:spcPts val="0"/>
              </a:spcAft>
              <a:buClr>
                <a:srgbClr val="000000"/>
              </a:buClr>
              <a:buSzPts val="765"/>
              <a:buFont typeface="Arial"/>
              <a:buNone/>
            </a:pPr>
            <a:r>
              <a:rPr b="0" i="0" lang="en-US" sz="765" u="none" cap="none" strike="noStrike">
                <a:solidFill>
                  <a:srgbClr val="2C3E50"/>
                </a:solidFill>
                <a:latin typeface="Gill Sans"/>
                <a:ea typeface="Gill Sans"/>
                <a:cs typeface="Gill Sans"/>
                <a:sym typeface="Gill Sans"/>
              </a:rPr>
              <a:t>If allocated belt full → overflow to flex Belt 3 (if peak activated)</a:t>
            </a:r>
            <a:endParaRPr b="0" i="0" sz="765" u="none" cap="none" strike="noStrike">
              <a:solidFill>
                <a:schemeClr val="dk1"/>
              </a:solidFill>
              <a:latin typeface="Gill Sans"/>
              <a:ea typeface="Gill Sans"/>
              <a:cs typeface="Gill Sans"/>
              <a:sym typeface="Gill Sans"/>
            </a:endParaRPr>
          </a:p>
        </p:txBody>
      </p:sp>
      <p:sp>
        <p:nvSpPr>
          <p:cNvPr id="632" name="Google Shape;632;p12"/>
          <p:cNvSpPr/>
          <p:nvPr/>
        </p:nvSpPr>
        <p:spPr>
          <a:xfrm>
            <a:off x="786384" y="2008023"/>
            <a:ext cx="7571232" cy="238658"/>
          </a:xfrm>
          <a:prstGeom prst="rect">
            <a:avLst/>
          </a:prstGeom>
          <a:solidFill>
            <a:srgbClr val="EAF4F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20"/>
              <a:buFont typeface="Arial"/>
              <a:buNone/>
            </a:pPr>
            <a:r>
              <a:t/>
            </a:r>
            <a:endParaRPr b="0" i="0" sz="1620" u="none" cap="none" strike="noStrike">
              <a:solidFill>
                <a:schemeClr val="dk1"/>
              </a:solidFill>
              <a:latin typeface="Calibri"/>
              <a:ea typeface="Calibri"/>
              <a:cs typeface="Calibri"/>
              <a:sym typeface="Calibri"/>
            </a:endParaRPr>
          </a:p>
        </p:txBody>
      </p:sp>
      <p:sp>
        <p:nvSpPr>
          <p:cNvPr id="633" name="Google Shape;633;p12"/>
          <p:cNvSpPr/>
          <p:nvPr/>
        </p:nvSpPr>
        <p:spPr>
          <a:xfrm>
            <a:off x="868680" y="2008023"/>
            <a:ext cx="1069848" cy="23865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765"/>
              <a:buFont typeface="Arial"/>
              <a:buNone/>
            </a:pPr>
            <a:r>
              <a:rPr b="1" i="0" lang="en-US" sz="765" u="none" cap="none" strike="noStrike">
                <a:solidFill>
                  <a:srgbClr val="0B1D3A"/>
                </a:solidFill>
                <a:latin typeface="Gill Sans"/>
                <a:ea typeface="Gill Sans"/>
                <a:cs typeface="Gill Sans"/>
                <a:sym typeface="Gill Sans"/>
              </a:rPr>
              <a:t>Exit decision</a:t>
            </a:r>
            <a:endParaRPr b="0" i="0" sz="765" u="none" cap="none" strike="noStrike">
              <a:solidFill>
                <a:schemeClr val="dk1"/>
              </a:solidFill>
              <a:latin typeface="Gill Sans"/>
              <a:ea typeface="Gill Sans"/>
              <a:cs typeface="Gill Sans"/>
              <a:sym typeface="Gill Sans"/>
            </a:endParaRPr>
          </a:p>
        </p:txBody>
      </p:sp>
      <p:sp>
        <p:nvSpPr>
          <p:cNvPr id="634" name="Google Shape;634;p12"/>
          <p:cNvSpPr/>
          <p:nvPr/>
        </p:nvSpPr>
        <p:spPr>
          <a:xfrm>
            <a:off x="2020824" y="2008023"/>
            <a:ext cx="6254496" cy="23865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765"/>
              <a:buFont typeface="Arial"/>
              <a:buNone/>
            </a:pPr>
            <a:r>
              <a:rPr b="0" i="0" lang="en-US" sz="765" u="none" cap="none" strike="noStrike">
                <a:solidFill>
                  <a:srgbClr val="2C3E50"/>
                </a:solidFill>
                <a:latin typeface="Gill Sans"/>
                <a:ea typeface="Gill Sans"/>
                <a:cs typeface="Gill Sans"/>
                <a:sym typeface="Gill Sans"/>
              </a:rPr>
              <a:t>If trolley needed (probability based on bag count) → add trolley collection time, otherwise walk directly to exit</a:t>
            </a:r>
            <a:endParaRPr b="0" i="0" sz="765" u="none" cap="none" strike="noStrike">
              <a:solidFill>
                <a:schemeClr val="dk1"/>
              </a:solidFill>
              <a:latin typeface="Gill Sans"/>
              <a:ea typeface="Gill Sans"/>
              <a:cs typeface="Gill Sans"/>
              <a:sym typeface="Gill Sans"/>
            </a:endParaRPr>
          </a:p>
        </p:txBody>
      </p:sp>
      <p:sp>
        <p:nvSpPr>
          <p:cNvPr id="635" name="Google Shape;635;p12"/>
          <p:cNvSpPr/>
          <p:nvPr/>
        </p:nvSpPr>
        <p:spPr>
          <a:xfrm>
            <a:off x="786384" y="2345436"/>
            <a:ext cx="7571232" cy="246888"/>
          </a:xfrm>
          <a:prstGeom prst="rect">
            <a:avLst/>
          </a:prstGeom>
          <a:solidFill>
            <a:srgbClr val="143B6B"/>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20"/>
              <a:buFont typeface="Arial"/>
              <a:buNone/>
            </a:pPr>
            <a:r>
              <a:t/>
            </a:r>
            <a:endParaRPr b="0" i="0" sz="1620" u="none" cap="none" strike="noStrike">
              <a:solidFill>
                <a:schemeClr val="dk1"/>
              </a:solidFill>
              <a:latin typeface="Calibri"/>
              <a:ea typeface="Calibri"/>
              <a:cs typeface="Calibri"/>
              <a:sym typeface="Calibri"/>
            </a:endParaRPr>
          </a:p>
        </p:txBody>
      </p:sp>
      <p:sp>
        <p:nvSpPr>
          <p:cNvPr id="636" name="Google Shape;636;p12"/>
          <p:cNvSpPr/>
          <p:nvPr/>
        </p:nvSpPr>
        <p:spPr>
          <a:xfrm>
            <a:off x="868680" y="2345436"/>
            <a:ext cx="7406640" cy="24688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rgbClr val="FFFFFF"/>
                </a:solidFill>
                <a:latin typeface="Calibri"/>
                <a:ea typeface="Calibri"/>
                <a:cs typeface="Calibri"/>
                <a:sym typeface="Calibri"/>
              </a:rPr>
              <a:t>Processing times (how long does each step take?)</a:t>
            </a:r>
            <a:endParaRPr b="0" i="0" sz="900" u="none" cap="none" strike="noStrike">
              <a:solidFill>
                <a:schemeClr val="dk1"/>
              </a:solidFill>
              <a:latin typeface="Calibri"/>
              <a:ea typeface="Calibri"/>
              <a:cs typeface="Calibri"/>
              <a:sym typeface="Calibri"/>
            </a:endParaRPr>
          </a:p>
        </p:txBody>
      </p:sp>
      <p:sp>
        <p:nvSpPr>
          <p:cNvPr id="637" name="Google Shape;637;p12"/>
          <p:cNvSpPr/>
          <p:nvPr/>
        </p:nvSpPr>
        <p:spPr>
          <a:xfrm>
            <a:off x="786384" y="2625243"/>
            <a:ext cx="7571232" cy="238658"/>
          </a:xfrm>
          <a:prstGeom prst="rect">
            <a:avLst/>
          </a:prstGeom>
          <a:solidFill>
            <a:srgbClr val="EAF4F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20"/>
              <a:buFont typeface="Arial"/>
              <a:buNone/>
            </a:pPr>
            <a:r>
              <a:t/>
            </a:r>
            <a:endParaRPr b="0" i="0" sz="1620" u="none" cap="none" strike="noStrike">
              <a:solidFill>
                <a:schemeClr val="dk1"/>
              </a:solidFill>
              <a:latin typeface="Calibri"/>
              <a:ea typeface="Calibri"/>
              <a:cs typeface="Calibri"/>
              <a:sym typeface="Calibri"/>
            </a:endParaRPr>
          </a:p>
        </p:txBody>
      </p:sp>
      <p:sp>
        <p:nvSpPr>
          <p:cNvPr id="638" name="Google Shape;638;p12"/>
          <p:cNvSpPr/>
          <p:nvPr/>
        </p:nvSpPr>
        <p:spPr>
          <a:xfrm>
            <a:off x="868680" y="2625243"/>
            <a:ext cx="1234440" cy="23865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765"/>
              <a:buFont typeface="Arial"/>
              <a:buNone/>
            </a:pPr>
            <a:r>
              <a:rPr b="1" i="0" lang="en-US" sz="765" u="none" cap="none" strike="noStrike">
                <a:solidFill>
                  <a:srgbClr val="0B1D3A"/>
                </a:solidFill>
                <a:latin typeface="Gill Sans"/>
                <a:ea typeface="Gill Sans"/>
                <a:cs typeface="Gill Sans"/>
                <a:sym typeface="Gill Sans"/>
              </a:rPr>
              <a:t>E-gate</a:t>
            </a:r>
            <a:endParaRPr b="0" i="0" sz="765" u="none" cap="none" strike="noStrike">
              <a:solidFill>
                <a:schemeClr val="dk1"/>
              </a:solidFill>
              <a:latin typeface="Gill Sans"/>
              <a:ea typeface="Gill Sans"/>
              <a:cs typeface="Gill Sans"/>
              <a:sym typeface="Gill Sans"/>
            </a:endParaRPr>
          </a:p>
        </p:txBody>
      </p:sp>
      <p:sp>
        <p:nvSpPr>
          <p:cNvPr id="639" name="Google Shape;639;p12"/>
          <p:cNvSpPr/>
          <p:nvPr/>
        </p:nvSpPr>
        <p:spPr>
          <a:xfrm>
            <a:off x="2144268" y="2625243"/>
            <a:ext cx="6131052" cy="23865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765"/>
              <a:buFont typeface="Arial"/>
              <a:buNone/>
            </a:pPr>
            <a:r>
              <a:rPr b="0" i="0" lang="en-US" sz="765" u="none" cap="none" strike="noStrike">
                <a:solidFill>
                  <a:srgbClr val="2C3E50"/>
                </a:solidFill>
                <a:latin typeface="Gill Sans"/>
                <a:ea typeface="Gill Sans"/>
                <a:cs typeface="Gill Sans"/>
                <a:sym typeface="Gill Sans"/>
              </a:rPr>
              <a:t>Stochastic triangular distribution: min ~25 sec, mode ~45 sec, max ~70 sec per passenger</a:t>
            </a:r>
            <a:endParaRPr b="0" i="0" sz="765" u="none" cap="none" strike="noStrike">
              <a:solidFill>
                <a:schemeClr val="dk1"/>
              </a:solidFill>
              <a:latin typeface="Gill Sans"/>
              <a:ea typeface="Gill Sans"/>
              <a:cs typeface="Gill Sans"/>
              <a:sym typeface="Gill Sans"/>
            </a:endParaRPr>
          </a:p>
        </p:txBody>
      </p:sp>
      <p:sp>
        <p:nvSpPr>
          <p:cNvPr id="640" name="Google Shape;640;p12"/>
          <p:cNvSpPr/>
          <p:nvPr/>
        </p:nvSpPr>
        <p:spPr>
          <a:xfrm>
            <a:off x="786384" y="2872131"/>
            <a:ext cx="7571232" cy="238658"/>
          </a:xfrm>
          <a:prstGeom prst="rect">
            <a:avLst/>
          </a:pr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20"/>
              <a:buFont typeface="Arial"/>
              <a:buNone/>
            </a:pPr>
            <a:r>
              <a:t/>
            </a:r>
            <a:endParaRPr b="0" i="0" sz="1620" u="none" cap="none" strike="noStrike">
              <a:solidFill>
                <a:schemeClr val="dk1"/>
              </a:solidFill>
              <a:latin typeface="Calibri"/>
              <a:ea typeface="Calibri"/>
              <a:cs typeface="Calibri"/>
              <a:sym typeface="Calibri"/>
            </a:endParaRPr>
          </a:p>
        </p:txBody>
      </p:sp>
      <p:sp>
        <p:nvSpPr>
          <p:cNvPr id="641" name="Google Shape;641;p12"/>
          <p:cNvSpPr/>
          <p:nvPr/>
        </p:nvSpPr>
        <p:spPr>
          <a:xfrm>
            <a:off x="868680" y="2872131"/>
            <a:ext cx="1234440" cy="23865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765"/>
              <a:buFont typeface="Arial"/>
              <a:buNone/>
            </a:pPr>
            <a:r>
              <a:rPr b="1" i="0" lang="en-US" sz="765" u="none" cap="none" strike="noStrike">
                <a:solidFill>
                  <a:srgbClr val="0B1D3A"/>
                </a:solidFill>
                <a:latin typeface="Gill Sans"/>
                <a:ea typeface="Gill Sans"/>
                <a:cs typeface="Gill Sans"/>
                <a:sym typeface="Gill Sans"/>
              </a:rPr>
              <a:t>Manned desk</a:t>
            </a:r>
            <a:endParaRPr b="0" i="0" sz="765" u="none" cap="none" strike="noStrike">
              <a:solidFill>
                <a:schemeClr val="dk1"/>
              </a:solidFill>
              <a:latin typeface="Gill Sans"/>
              <a:ea typeface="Gill Sans"/>
              <a:cs typeface="Gill Sans"/>
              <a:sym typeface="Gill Sans"/>
            </a:endParaRPr>
          </a:p>
        </p:txBody>
      </p:sp>
      <p:sp>
        <p:nvSpPr>
          <p:cNvPr id="642" name="Google Shape;642;p12"/>
          <p:cNvSpPr/>
          <p:nvPr/>
        </p:nvSpPr>
        <p:spPr>
          <a:xfrm>
            <a:off x="2144268" y="2872131"/>
            <a:ext cx="6131052" cy="23865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765"/>
              <a:buFont typeface="Arial"/>
              <a:buNone/>
            </a:pPr>
            <a:r>
              <a:rPr b="0" i="0" lang="en-US" sz="765" u="none" cap="none" strike="noStrike">
                <a:solidFill>
                  <a:srgbClr val="2C3E50"/>
                </a:solidFill>
                <a:latin typeface="Gill Sans"/>
                <a:ea typeface="Gill Sans"/>
                <a:cs typeface="Gill Sans"/>
                <a:sym typeface="Gill Sans"/>
              </a:rPr>
              <a:t>Varies by passport type</a:t>
            </a:r>
            <a:endParaRPr b="0" i="0" sz="765" u="none" cap="none" strike="noStrike">
              <a:solidFill>
                <a:schemeClr val="dk1"/>
              </a:solidFill>
              <a:latin typeface="Gill Sans"/>
              <a:ea typeface="Gill Sans"/>
              <a:cs typeface="Gill Sans"/>
              <a:sym typeface="Gill Sans"/>
            </a:endParaRPr>
          </a:p>
        </p:txBody>
      </p:sp>
      <p:sp>
        <p:nvSpPr>
          <p:cNvPr id="643" name="Google Shape;643;p12"/>
          <p:cNvSpPr/>
          <p:nvPr/>
        </p:nvSpPr>
        <p:spPr>
          <a:xfrm>
            <a:off x="786384" y="3119019"/>
            <a:ext cx="7571232" cy="238658"/>
          </a:xfrm>
          <a:prstGeom prst="rect">
            <a:avLst/>
          </a:prstGeom>
          <a:solidFill>
            <a:srgbClr val="EAF4F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20"/>
              <a:buFont typeface="Arial"/>
              <a:buNone/>
            </a:pPr>
            <a:r>
              <a:t/>
            </a:r>
            <a:endParaRPr b="0" i="0" sz="1620" u="none" cap="none" strike="noStrike">
              <a:solidFill>
                <a:schemeClr val="dk1"/>
              </a:solidFill>
              <a:latin typeface="Calibri"/>
              <a:ea typeface="Calibri"/>
              <a:cs typeface="Calibri"/>
              <a:sym typeface="Calibri"/>
            </a:endParaRPr>
          </a:p>
        </p:txBody>
      </p:sp>
      <p:sp>
        <p:nvSpPr>
          <p:cNvPr id="644" name="Google Shape;644;p12"/>
          <p:cNvSpPr/>
          <p:nvPr/>
        </p:nvSpPr>
        <p:spPr>
          <a:xfrm>
            <a:off x="868680" y="3119019"/>
            <a:ext cx="1234440" cy="23865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765"/>
              <a:buFont typeface="Arial"/>
              <a:buNone/>
            </a:pPr>
            <a:r>
              <a:rPr b="1" i="0" lang="en-US" sz="765" u="none" cap="none" strike="noStrike">
                <a:solidFill>
                  <a:srgbClr val="0B1D3A"/>
                </a:solidFill>
                <a:latin typeface="Gill Sans"/>
                <a:ea typeface="Gill Sans"/>
                <a:cs typeface="Gill Sans"/>
                <a:sym typeface="Gill Sans"/>
              </a:rPr>
              <a:t>Special assistance</a:t>
            </a:r>
            <a:endParaRPr b="0" i="0" sz="765" u="none" cap="none" strike="noStrike">
              <a:solidFill>
                <a:schemeClr val="dk1"/>
              </a:solidFill>
              <a:latin typeface="Gill Sans"/>
              <a:ea typeface="Gill Sans"/>
              <a:cs typeface="Gill Sans"/>
              <a:sym typeface="Gill Sans"/>
            </a:endParaRPr>
          </a:p>
        </p:txBody>
      </p:sp>
      <p:sp>
        <p:nvSpPr>
          <p:cNvPr id="645" name="Google Shape;645;p12"/>
          <p:cNvSpPr/>
          <p:nvPr/>
        </p:nvSpPr>
        <p:spPr>
          <a:xfrm>
            <a:off x="2144268" y="3119019"/>
            <a:ext cx="6131052" cy="23865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765"/>
              <a:buFont typeface="Arial"/>
              <a:buNone/>
            </a:pPr>
            <a:r>
              <a:rPr b="0" i="0" lang="en-US" sz="765" u="none" cap="none" strike="noStrike">
                <a:solidFill>
                  <a:srgbClr val="2C3E50"/>
                </a:solidFill>
                <a:latin typeface="Gill Sans"/>
                <a:ea typeface="Gill Sans"/>
                <a:cs typeface="Gill Sans"/>
                <a:sym typeface="Gill Sans"/>
              </a:rPr>
              <a:t>PRM/UM processing ~4-5 mins including escort handoff and document check</a:t>
            </a:r>
            <a:endParaRPr b="0" i="0" sz="765" u="none" cap="none" strike="noStrike">
              <a:solidFill>
                <a:schemeClr val="dk1"/>
              </a:solidFill>
              <a:latin typeface="Gill Sans"/>
              <a:ea typeface="Gill Sans"/>
              <a:cs typeface="Gill Sans"/>
              <a:sym typeface="Gill Sans"/>
            </a:endParaRPr>
          </a:p>
        </p:txBody>
      </p:sp>
      <p:sp>
        <p:nvSpPr>
          <p:cNvPr id="646" name="Google Shape;646;p12"/>
          <p:cNvSpPr/>
          <p:nvPr/>
        </p:nvSpPr>
        <p:spPr>
          <a:xfrm>
            <a:off x="786384" y="3365907"/>
            <a:ext cx="7571232" cy="238658"/>
          </a:xfrm>
          <a:prstGeom prst="rect">
            <a:avLst/>
          </a:pr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20"/>
              <a:buFont typeface="Arial"/>
              <a:buNone/>
            </a:pPr>
            <a:r>
              <a:t/>
            </a:r>
            <a:endParaRPr b="0" i="0" sz="1620" u="none" cap="none" strike="noStrike">
              <a:solidFill>
                <a:schemeClr val="dk1"/>
              </a:solidFill>
              <a:latin typeface="Calibri"/>
              <a:ea typeface="Calibri"/>
              <a:cs typeface="Calibri"/>
              <a:sym typeface="Calibri"/>
            </a:endParaRPr>
          </a:p>
        </p:txBody>
      </p:sp>
      <p:sp>
        <p:nvSpPr>
          <p:cNvPr id="647" name="Google Shape;647;p12"/>
          <p:cNvSpPr/>
          <p:nvPr/>
        </p:nvSpPr>
        <p:spPr>
          <a:xfrm>
            <a:off x="868680" y="3365907"/>
            <a:ext cx="1234440" cy="23865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765"/>
              <a:buFont typeface="Arial"/>
              <a:buNone/>
            </a:pPr>
            <a:r>
              <a:rPr b="1" i="0" lang="en-US" sz="765" u="none" cap="none" strike="noStrike">
                <a:solidFill>
                  <a:srgbClr val="0B1D3A"/>
                </a:solidFill>
                <a:latin typeface="Calibri"/>
                <a:ea typeface="Calibri"/>
                <a:cs typeface="Calibri"/>
                <a:sym typeface="Calibri"/>
              </a:rPr>
              <a:t>Baggage delivery</a:t>
            </a:r>
            <a:endParaRPr b="0" i="0" sz="765" u="none" cap="none" strike="noStrike">
              <a:solidFill>
                <a:schemeClr val="dk1"/>
              </a:solidFill>
              <a:latin typeface="Calibri"/>
              <a:ea typeface="Calibri"/>
              <a:cs typeface="Calibri"/>
              <a:sym typeface="Calibri"/>
            </a:endParaRPr>
          </a:p>
        </p:txBody>
      </p:sp>
      <p:sp>
        <p:nvSpPr>
          <p:cNvPr id="648" name="Google Shape;648;p12"/>
          <p:cNvSpPr/>
          <p:nvPr/>
        </p:nvSpPr>
        <p:spPr>
          <a:xfrm>
            <a:off x="2144268" y="3365907"/>
            <a:ext cx="6131052" cy="23865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765"/>
              <a:buFont typeface="Arial"/>
              <a:buNone/>
            </a:pPr>
            <a:r>
              <a:rPr b="0" i="0" lang="en-US" sz="765" u="none" cap="none" strike="noStrike">
                <a:solidFill>
                  <a:srgbClr val="2C3E50"/>
                </a:solidFill>
                <a:latin typeface="Calibri"/>
                <a:ea typeface="Calibri"/>
                <a:cs typeface="Calibri"/>
                <a:sym typeface="Calibri"/>
              </a:rPr>
              <a:t>First bag: 15–25 min after aircraft arrival. Last bag: 25–45 min. Varies by aircraft type and delay conditions</a:t>
            </a:r>
            <a:endParaRPr b="0" i="0" sz="765" u="none" cap="none" strike="noStrike">
              <a:solidFill>
                <a:schemeClr val="dk1"/>
              </a:solidFill>
              <a:latin typeface="Calibri"/>
              <a:ea typeface="Calibri"/>
              <a:cs typeface="Calibri"/>
              <a:sym typeface="Calibri"/>
            </a:endParaRPr>
          </a:p>
        </p:txBody>
      </p:sp>
      <p:sp>
        <p:nvSpPr>
          <p:cNvPr id="649" name="Google Shape;649;p12"/>
          <p:cNvSpPr/>
          <p:nvPr/>
        </p:nvSpPr>
        <p:spPr>
          <a:xfrm>
            <a:off x="786384" y="3415284"/>
            <a:ext cx="7571232" cy="246888"/>
          </a:xfrm>
          <a:prstGeom prst="rect">
            <a:avLst/>
          </a:prstGeom>
          <a:solidFill>
            <a:srgbClr val="E67E2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20"/>
              <a:buFont typeface="Arial"/>
              <a:buNone/>
            </a:pPr>
            <a:r>
              <a:t/>
            </a:r>
            <a:endParaRPr b="0" i="0" sz="1620" u="none" cap="none" strike="noStrike">
              <a:solidFill>
                <a:schemeClr val="dk1"/>
              </a:solidFill>
              <a:latin typeface="Calibri"/>
              <a:ea typeface="Calibri"/>
              <a:cs typeface="Calibri"/>
              <a:sym typeface="Calibri"/>
            </a:endParaRPr>
          </a:p>
        </p:txBody>
      </p:sp>
      <p:sp>
        <p:nvSpPr>
          <p:cNvPr id="650" name="Google Shape;650;p12"/>
          <p:cNvSpPr/>
          <p:nvPr/>
        </p:nvSpPr>
        <p:spPr>
          <a:xfrm>
            <a:off x="868680" y="3415284"/>
            <a:ext cx="7406640" cy="24688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rgbClr val="FFFFFF"/>
                </a:solidFill>
                <a:latin typeface="Calibri"/>
                <a:ea typeface="Calibri"/>
                <a:cs typeface="Calibri"/>
                <a:sym typeface="Calibri"/>
              </a:rPr>
              <a:t>Disruption conditions (what triggers delays in the model?)</a:t>
            </a:r>
            <a:endParaRPr b="0" i="0" sz="900" u="none" cap="none" strike="noStrike">
              <a:solidFill>
                <a:schemeClr val="dk1"/>
              </a:solidFill>
              <a:latin typeface="Calibri"/>
              <a:ea typeface="Calibri"/>
              <a:cs typeface="Calibri"/>
              <a:sym typeface="Calibri"/>
            </a:endParaRPr>
          </a:p>
        </p:txBody>
      </p:sp>
      <p:sp>
        <p:nvSpPr>
          <p:cNvPr id="651" name="Google Shape;651;p12"/>
          <p:cNvSpPr/>
          <p:nvPr/>
        </p:nvSpPr>
        <p:spPr>
          <a:xfrm>
            <a:off x="786384" y="3695090"/>
            <a:ext cx="7571232" cy="205740"/>
          </a:xfrm>
          <a:prstGeom prst="rect">
            <a:avLst/>
          </a:prstGeom>
          <a:solidFill>
            <a:srgbClr val="EAF4F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20"/>
              <a:buFont typeface="Arial"/>
              <a:buNone/>
            </a:pPr>
            <a:r>
              <a:t/>
            </a:r>
            <a:endParaRPr b="0" i="0" sz="1620" u="none" cap="none" strike="noStrike">
              <a:solidFill>
                <a:schemeClr val="dk1"/>
              </a:solidFill>
              <a:latin typeface="Calibri"/>
              <a:ea typeface="Calibri"/>
              <a:cs typeface="Calibri"/>
              <a:sym typeface="Calibri"/>
            </a:endParaRPr>
          </a:p>
        </p:txBody>
      </p:sp>
      <p:sp>
        <p:nvSpPr>
          <p:cNvPr id="652" name="Google Shape;652;p12"/>
          <p:cNvSpPr/>
          <p:nvPr/>
        </p:nvSpPr>
        <p:spPr>
          <a:xfrm>
            <a:off x="868680" y="3695090"/>
            <a:ext cx="1234440" cy="2057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720"/>
              <a:buFont typeface="Arial"/>
              <a:buNone/>
            </a:pPr>
            <a:r>
              <a:rPr b="1" i="0" lang="en-US" sz="720" u="none" cap="none" strike="noStrike">
                <a:solidFill>
                  <a:srgbClr val="0B1D3A"/>
                </a:solidFill>
                <a:latin typeface="Gill Sans"/>
                <a:ea typeface="Gill Sans"/>
                <a:cs typeface="Gill Sans"/>
                <a:sym typeface="Gill Sans"/>
              </a:rPr>
              <a:t>Ramp staff shortage</a:t>
            </a:r>
            <a:endParaRPr b="0" i="0" sz="720" u="none" cap="none" strike="noStrike">
              <a:solidFill>
                <a:schemeClr val="dk1"/>
              </a:solidFill>
              <a:latin typeface="Gill Sans"/>
              <a:ea typeface="Gill Sans"/>
              <a:cs typeface="Gill Sans"/>
              <a:sym typeface="Gill Sans"/>
            </a:endParaRPr>
          </a:p>
        </p:txBody>
      </p:sp>
      <p:sp>
        <p:nvSpPr>
          <p:cNvPr id="653" name="Google Shape;653;p12"/>
          <p:cNvSpPr/>
          <p:nvPr/>
        </p:nvSpPr>
        <p:spPr>
          <a:xfrm>
            <a:off x="2144268" y="3695090"/>
            <a:ext cx="6131052" cy="2057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720"/>
              <a:buFont typeface="Arial"/>
              <a:buNone/>
            </a:pPr>
            <a:r>
              <a:rPr b="0" i="0" lang="en-US" sz="720" u="none" cap="none" strike="noStrike">
                <a:solidFill>
                  <a:srgbClr val="2C3E50"/>
                </a:solidFill>
                <a:latin typeface="Gill Sans"/>
                <a:ea typeface="Gill Sans"/>
                <a:cs typeface="Gill Sans"/>
                <a:sym typeface="Gill Sans"/>
              </a:rPr>
              <a:t>Probability event → offload delayed 10–30+ min </a:t>
            </a:r>
            <a:endParaRPr b="0" i="0" sz="1400" u="none" cap="none" strike="noStrike">
              <a:solidFill>
                <a:srgbClr val="000000"/>
              </a:solidFill>
              <a:latin typeface="Gill Sans"/>
              <a:ea typeface="Gill Sans"/>
              <a:cs typeface="Gill Sans"/>
              <a:sym typeface="Gill Sans"/>
            </a:endParaRPr>
          </a:p>
          <a:p>
            <a:pPr indent="0" lvl="0" marL="0" marR="0" rtl="0" algn="l">
              <a:lnSpc>
                <a:spcPct val="100000"/>
              </a:lnSpc>
              <a:spcBef>
                <a:spcPts val="0"/>
              </a:spcBef>
              <a:spcAft>
                <a:spcPts val="0"/>
              </a:spcAft>
              <a:buClr>
                <a:srgbClr val="000000"/>
              </a:buClr>
              <a:buSzPts val="720"/>
              <a:buFont typeface="Arial"/>
              <a:buNone/>
            </a:pPr>
            <a:r>
              <a:rPr b="0" i="0" lang="en-US" sz="720" u="none" cap="none" strike="noStrike">
                <a:solidFill>
                  <a:srgbClr val="2C3E50"/>
                </a:solidFill>
                <a:latin typeface="Gill Sans"/>
                <a:ea typeface="Gill Sans"/>
                <a:cs typeface="Gill Sans"/>
                <a:sym typeface="Gill Sans"/>
              </a:rPr>
              <a:t>Passengers clear immigration but bags aren’t there → reclaim crowding</a:t>
            </a:r>
            <a:endParaRPr b="0" i="0" sz="720" u="none" cap="none" strike="noStrike">
              <a:solidFill>
                <a:schemeClr val="dk1"/>
              </a:solidFill>
              <a:latin typeface="Gill Sans"/>
              <a:ea typeface="Gill Sans"/>
              <a:cs typeface="Gill Sans"/>
              <a:sym typeface="Gill Sans"/>
            </a:endParaRPr>
          </a:p>
        </p:txBody>
      </p:sp>
      <p:sp>
        <p:nvSpPr>
          <p:cNvPr id="654" name="Google Shape;654;p12"/>
          <p:cNvSpPr/>
          <p:nvPr/>
        </p:nvSpPr>
        <p:spPr>
          <a:xfrm>
            <a:off x="786384" y="3909060"/>
            <a:ext cx="7571232" cy="205740"/>
          </a:xfrm>
          <a:prstGeom prst="rect">
            <a:avLst/>
          </a:pr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20"/>
              <a:buFont typeface="Arial"/>
              <a:buNone/>
            </a:pPr>
            <a:r>
              <a:t/>
            </a:r>
            <a:endParaRPr b="0" i="0" sz="1620" u="none" cap="none" strike="noStrike">
              <a:solidFill>
                <a:schemeClr val="dk1"/>
              </a:solidFill>
              <a:latin typeface="Calibri"/>
              <a:ea typeface="Calibri"/>
              <a:cs typeface="Calibri"/>
              <a:sym typeface="Calibri"/>
            </a:endParaRPr>
          </a:p>
        </p:txBody>
      </p:sp>
      <p:sp>
        <p:nvSpPr>
          <p:cNvPr id="655" name="Google Shape;655;p12"/>
          <p:cNvSpPr/>
          <p:nvPr/>
        </p:nvSpPr>
        <p:spPr>
          <a:xfrm>
            <a:off x="868680" y="3909060"/>
            <a:ext cx="1234440" cy="2057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720"/>
              <a:buFont typeface="Arial"/>
              <a:buNone/>
            </a:pPr>
            <a:r>
              <a:rPr b="1" i="0" lang="en-US" sz="720" u="none" cap="none" strike="noStrike">
                <a:solidFill>
                  <a:srgbClr val="0B1D3A"/>
                </a:solidFill>
                <a:latin typeface="Gill Sans"/>
                <a:ea typeface="Gill Sans"/>
                <a:cs typeface="Gill Sans"/>
                <a:sym typeface="Gill Sans"/>
              </a:rPr>
              <a:t>High winds</a:t>
            </a:r>
            <a:endParaRPr b="0" i="0" sz="720" u="none" cap="none" strike="noStrike">
              <a:solidFill>
                <a:schemeClr val="dk1"/>
              </a:solidFill>
              <a:latin typeface="Gill Sans"/>
              <a:ea typeface="Gill Sans"/>
              <a:cs typeface="Gill Sans"/>
              <a:sym typeface="Gill Sans"/>
            </a:endParaRPr>
          </a:p>
        </p:txBody>
      </p:sp>
      <p:sp>
        <p:nvSpPr>
          <p:cNvPr id="656" name="Google Shape;656;p12"/>
          <p:cNvSpPr/>
          <p:nvPr/>
        </p:nvSpPr>
        <p:spPr>
          <a:xfrm>
            <a:off x="2144268" y="3909060"/>
            <a:ext cx="6131052" cy="2057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720"/>
              <a:buFont typeface="Arial"/>
              <a:buNone/>
            </a:pPr>
            <a:r>
              <a:rPr b="0" i="0" lang="en-US" sz="720" u="none" cap="none" strike="noStrike">
                <a:solidFill>
                  <a:srgbClr val="2C3E50"/>
                </a:solidFill>
                <a:latin typeface="Gill Sans"/>
                <a:ea typeface="Gill Sans"/>
                <a:cs typeface="Gill Sans"/>
                <a:sym typeface="Gill Sans"/>
              </a:rPr>
              <a:t>If wind speed exceeds threshold → ALL flights’ baggage offload paused for event duration → system wide congestion</a:t>
            </a:r>
            <a:endParaRPr b="0" i="0" sz="720" u="none" cap="none" strike="noStrike">
              <a:solidFill>
                <a:schemeClr val="dk1"/>
              </a:solidFill>
              <a:latin typeface="Gill Sans"/>
              <a:ea typeface="Gill Sans"/>
              <a:cs typeface="Gill Sans"/>
              <a:sym typeface="Gill Sans"/>
            </a:endParaRPr>
          </a:p>
        </p:txBody>
      </p:sp>
      <p:sp>
        <p:nvSpPr>
          <p:cNvPr id="657" name="Google Shape;657;p12"/>
          <p:cNvSpPr/>
          <p:nvPr/>
        </p:nvSpPr>
        <p:spPr>
          <a:xfrm>
            <a:off x="786384" y="4123030"/>
            <a:ext cx="7571232" cy="205740"/>
          </a:xfrm>
          <a:prstGeom prst="rect">
            <a:avLst/>
          </a:prstGeom>
          <a:solidFill>
            <a:srgbClr val="EAF4F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20"/>
              <a:buFont typeface="Arial"/>
              <a:buNone/>
            </a:pPr>
            <a:r>
              <a:t/>
            </a:r>
            <a:endParaRPr b="0" i="0" sz="1620" u="none" cap="none" strike="noStrike">
              <a:solidFill>
                <a:schemeClr val="dk1"/>
              </a:solidFill>
              <a:latin typeface="Calibri"/>
              <a:ea typeface="Calibri"/>
              <a:cs typeface="Calibri"/>
              <a:sym typeface="Calibri"/>
            </a:endParaRPr>
          </a:p>
        </p:txBody>
      </p:sp>
      <p:sp>
        <p:nvSpPr>
          <p:cNvPr id="658" name="Google Shape;658;p12"/>
          <p:cNvSpPr/>
          <p:nvPr/>
        </p:nvSpPr>
        <p:spPr>
          <a:xfrm>
            <a:off x="868680" y="4123030"/>
            <a:ext cx="1234440" cy="2057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720"/>
              <a:buFont typeface="Arial"/>
              <a:buNone/>
            </a:pPr>
            <a:r>
              <a:rPr b="1" i="0" lang="en-US" sz="720" u="none" cap="none" strike="noStrike">
                <a:solidFill>
                  <a:srgbClr val="0B1D3A"/>
                </a:solidFill>
                <a:latin typeface="Gill Sans"/>
                <a:ea typeface="Gill Sans"/>
                <a:cs typeface="Gill Sans"/>
                <a:sym typeface="Gill Sans"/>
              </a:rPr>
              <a:t>Aircraft trim</a:t>
            </a:r>
            <a:endParaRPr b="0" i="0" sz="720" u="none" cap="none" strike="noStrike">
              <a:solidFill>
                <a:schemeClr val="dk1"/>
              </a:solidFill>
              <a:latin typeface="Gill Sans"/>
              <a:ea typeface="Gill Sans"/>
              <a:cs typeface="Gill Sans"/>
              <a:sym typeface="Gill Sans"/>
            </a:endParaRPr>
          </a:p>
        </p:txBody>
      </p:sp>
      <p:sp>
        <p:nvSpPr>
          <p:cNvPr id="659" name="Google Shape;659;p12"/>
          <p:cNvSpPr/>
          <p:nvPr/>
        </p:nvSpPr>
        <p:spPr>
          <a:xfrm>
            <a:off x="2144268" y="4123030"/>
            <a:ext cx="6131052" cy="2057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720"/>
              <a:buFont typeface="Arial"/>
              <a:buNone/>
            </a:pPr>
            <a:r>
              <a:rPr b="0" i="0" lang="en-US" sz="720" u="none" cap="none" strike="noStrike">
                <a:solidFill>
                  <a:srgbClr val="2C3E50"/>
                </a:solidFill>
                <a:latin typeface="Gill Sans"/>
                <a:ea typeface="Gill Sans"/>
                <a:cs typeface="Gill Sans"/>
                <a:sym typeface="Gill Sans"/>
              </a:rPr>
              <a:t>If aircraft type = older model → offload waits until last passenger disembarks. </a:t>
            </a:r>
            <a:endParaRPr b="0" i="0" sz="1400" u="none" cap="none" strike="noStrike">
              <a:solidFill>
                <a:srgbClr val="000000"/>
              </a:solidFill>
              <a:latin typeface="Gill Sans"/>
              <a:ea typeface="Gill Sans"/>
              <a:cs typeface="Gill Sans"/>
              <a:sym typeface="Gill Sans"/>
            </a:endParaRPr>
          </a:p>
          <a:p>
            <a:pPr indent="0" lvl="0" marL="0" marR="0" rtl="0" algn="l">
              <a:lnSpc>
                <a:spcPct val="100000"/>
              </a:lnSpc>
              <a:spcBef>
                <a:spcPts val="0"/>
              </a:spcBef>
              <a:spcAft>
                <a:spcPts val="0"/>
              </a:spcAft>
              <a:buClr>
                <a:srgbClr val="000000"/>
              </a:buClr>
              <a:buSzPts val="720"/>
              <a:buFont typeface="Arial"/>
              <a:buNone/>
            </a:pPr>
            <a:r>
              <a:rPr b="0" i="0" lang="en-US" sz="720" u="none" cap="none" strike="noStrike">
                <a:solidFill>
                  <a:srgbClr val="2C3E50"/>
                </a:solidFill>
                <a:latin typeface="Gill Sans"/>
                <a:ea typeface="Gill Sans"/>
                <a:cs typeface="Gill Sans"/>
                <a:sym typeface="Gill Sans"/>
              </a:rPr>
              <a:t>Adds 10–20 min to first bag time</a:t>
            </a:r>
            <a:endParaRPr b="0" i="0" sz="720" u="none" cap="none" strike="noStrike">
              <a:solidFill>
                <a:schemeClr val="dk1"/>
              </a:solidFill>
              <a:latin typeface="Gill Sans"/>
              <a:ea typeface="Gill Sans"/>
              <a:cs typeface="Gill Sans"/>
              <a:sym typeface="Gill Sans"/>
            </a:endParaRPr>
          </a:p>
        </p:txBody>
      </p:sp>
      <p:sp>
        <p:nvSpPr>
          <p:cNvPr id="660" name="Google Shape;660;p12"/>
          <p:cNvSpPr/>
          <p:nvPr/>
        </p:nvSpPr>
        <p:spPr>
          <a:xfrm>
            <a:off x="786384" y="4336999"/>
            <a:ext cx="7571232" cy="205740"/>
          </a:xfrm>
          <a:prstGeom prst="rect">
            <a:avLst/>
          </a:pr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20"/>
              <a:buFont typeface="Arial"/>
              <a:buNone/>
            </a:pPr>
            <a:r>
              <a:t/>
            </a:r>
            <a:endParaRPr b="0" i="0" sz="1620" u="none" cap="none" strike="noStrike">
              <a:solidFill>
                <a:schemeClr val="dk1"/>
              </a:solidFill>
              <a:latin typeface="Calibri"/>
              <a:ea typeface="Calibri"/>
              <a:cs typeface="Calibri"/>
              <a:sym typeface="Calibri"/>
            </a:endParaRPr>
          </a:p>
        </p:txBody>
      </p:sp>
      <p:sp>
        <p:nvSpPr>
          <p:cNvPr id="661" name="Google Shape;661;p12"/>
          <p:cNvSpPr/>
          <p:nvPr/>
        </p:nvSpPr>
        <p:spPr>
          <a:xfrm>
            <a:off x="868680" y="4336999"/>
            <a:ext cx="1234440" cy="2057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720"/>
              <a:buFont typeface="Arial"/>
              <a:buNone/>
            </a:pPr>
            <a:r>
              <a:rPr b="1" i="0" lang="en-US" sz="720" u="none" cap="none" strike="noStrike">
                <a:solidFill>
                  <a:srgbClr val="0B1D3A"/>
                </a:solidFill>
                <a:latin typeface="Gill Sans"/>
                <a:ea typeface="Gill Sans"/>
                <a:cs typeface="Gill Sans"/>
                <a:sym typeface="Gill Sans"/>
              </a:rPr>
              <a:t>Belt congestion</a:t>
            </a:r>
            <a:endParaRPr b="0" i="0" sz="720" u="none" cap="none" strike="noStrike">
              <a:solidFill>
                <a:schemeClr val="dk1"/>
              </a:solidFill>
              <a:latin typeface="Gill Sans"/>
              <a:ea typeface="Gill Sans"/>
              <a:cs typeface="Gill Sans"/>
              <a:sym typeface="Gill Sans"/>
            </a:endParaRPr>
          </a:p>
        </p:txBody>
      </p:sp>
      <p:sp>
        <p:nvSpPr>
          <p:cNvPr id="662" name="Google Shape;662;p12"/>
          <p:cNvSpPr/>
          <p:nvPr/>
        </p:nvSpPr>
        <p:spPr>
          <a:xfrm>
            <a:off x="2144268" y="4336999"/>
            <a:ext cx="6131052" cy="2057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720"/>
              <a:buFont typeface="Arial"/>
              <a:buNone/>
            </a:pPr>
            <a:r>
              <a:rPr b="0" i="0" lang="en-US" sz="720" u="none" cap="none" strike="noStrike">
                <a:solidFill>
                  <a:srgbClr val="2C3E50"/>
                </a:solidFill>
                <a:latin typeface="Gill Sans"/>
                <a:ea typeface="Gill Sans"/>
                <a:cs typeface="Gill Sans"/>
                <a:sym typeface="Gill Sans"/>
              </a:rPr>
              <a:t>If belt still occupied by previous flight → new flight bags queue at offload position until space clears</a:t>
            </a:r>
            <a:endParaRPr b="0" i="0" sz="720" u="none" cap="none" strike="noStrike">
              <a:solidFill>
                <a:schemeClr val="dk1"/>
              </a:solidFill>
              <a:latin typeface="Gill Sans"/>
              <a:ea typeface="Gill Sans"/>
              <a:cs typeface="Gill Sans"/>
              <a:sym typeface="Gill Sans"/>
            </a:endParaRPr>
          </a:p>
        </p:txBody>
      </p:sp>
      <p:sp>
        <p:nvSpPr>
          <p:cNvPr id="663" name="Google Shape;663;p12"/>
          <p:cNvSpPr/>
          <p:nvPr/>
        </p:nvSpPr>
        <p:spPr>
          <a:xfrm>
            <a:off x="786384" y="4550969"/>
            <a:ext cx="7571232" cy="205740"/>
          </a:xfrm>
          <a:prstGeom prst="rect">
            <a:avLst/>
          </a:prstGeom>
          <a:solidFill>
            <a:srgbClr val="EAF4F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20"/>
              <a:buFont typeface="Arial"/>
              <a:buNone/>
            </a:pPr>
            <a:r>
              <a:t/>
            </a:r>
            <a:endParaRPr b="0" i="0" sz="1620" u="none" cap="none" strike="noStrike">
              <a:solidFill>
                <a:schemeClr val="dk1"/>
              </a:solidFill>
              <a:latin typeface="Calibri"/>
              <a:ea typeface="Calibri"/>
              <a:cs typeface="Calibri"/>
              <a:sym typeface="Calibri"/>
            </a:endParaRPr>
          </a:p>
        </p:txBody>
      </p:sp>
      <p:sp>
        <p:nvSpPr>
          <p:cNvPr id="664" name="Google Shape;664;p12"/>
          <p:cNvSpPr/>
          <p:nvPr/>
        </p:nvSpPr>
        <p:spPr>
          <a:xfrm>
            <a:off x="868680" y="4550969"/>
            <a:ext cx="1234440" cy="2057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720"/>
              <a:buFont typeface="Arial"/>
              <a:buNone/>
            </a:pPr>
            <a:r>
              <a:rPr b="1" i="0" lang="en-US" sz="720" u="none" cap="none" strike="noStrike">
                <a:solidFill>
                  <a:srgbClr val="0B1D3A"/>
                </a:solidFill>
                <a:latin typeface="Gill Sans"/>
                <a:ea typeface="Gill Sans"/>
                <a:cs typeface="Gill Sans"/>
                <a:sym typeface="Gill Sans"/>
              </a:rPr>
              <a:t>E-gate outage</a:t>
            </a:r>
            <a:endParaRPr b="0" i="0" sz="720" u="none" cap="none" strike="noStrike">
              <a:solidFill>
                <a:schemeClr val="dk1"/>
              </a:solidFill>
              <a:latin typeface="Gill Sans"/>
              <a:ea typeface="Gill Sans"/>
              <a:cs typeface="Gill Sans"/>
              <a:sym typeface="Gill Sans"/>
            </a:endParaRPr>
          </a:p>
        </p:txBody>
      </p:sp>
      <p:sp>
        <p:nvSpPr>
          <p:cNvPr id="665" name="Google Shape;665;p12"/>
          <p:cNvSpPr/>
          <p:nvPr/>
        </p:nvSpPr>
        <p:spPr>
          <a:xfrm>
            <a:off x="2144268" y="4550969"/>
            <a:ext cx="6131052" cy="2057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720"/>
              <a:buFont typeface="Arial"/>
              <a:buNone/>
            </a:pPr>
            <a:r>
              <a:rPr b="0" i="0" lang="en-US" sz="720" u="none" cap="none" strike="noStrike">
                <a:solidFill>
                  <a:srgbClr val="2C3E50"/>
                </a:solidFill>
                <a:latin typeface="Gill Sans"/>
                <a:ea typeface="Gill Sans"/>
                <a:cs typeface="Gill Sans"/>
                <a:sym typeface="Gill Sans"/>
              </a:rPr>
              <a:t>If e gates go down → ALL egates eligible passengers redirect to manned desks → manned queue surges instantly</a:t>
            </a:r>
            <a:endParaRPr b="0" i="0" sz="720" u="none" cap="none" strike="noStrike">
              <a:solidFill>
                <a:schemeClr val="dk1"/>
              </a:solidFill>
              <a:latin typeface="Gill Sans"/>
              <a:ea typeface="Gill Sans"/>
              <a:cs typeface="Gill Sans"/>
              <a:sym typeface="Gill Sans"/>
            </a:endParaRPr>
          </a:p>
        </p:txBody>
      </p:sp>
      <p:sp>
        <p:nvSpPr>
          <p:cNvPr id="666" name="Google Shape;666;p12"/>
          <p:cNvSpPr/>
          <p:nvPr/>
        </p:nvSpPr>
        <p:spPr>
          <a:xfrm>
            <a:off x="786384" y="4764938"/>
            <a:ext cx="7571232" cy="205740"/>
          </a:xfrm>
          <a:prstGeom prst="rect">
            <a:avLst/>
          </a:pr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20"/>
              <a:buFont typeface="Arial"/>
              <a:buNone/>
            </a:pPr>
            <a:r>
              <a:t/>
            </a:r>
            <a:endParaRPr b="0" i="0" sz="1620" u="none" cap="none" strike="noStrike">
              <a:solidFill>
                <a:schemeClr val="dk1"/>
              </a:solidFill>
              <a:latin typeface="Calibri"/>
              <a:ea typeface="Calibri"/>
              <a:cs typeface="Calibri"/>
              <a:sym typeface="Calibri"/>
            </a:endParaRPr>
          </a:p>
        </p:txBody>
      </p:sp>
      <p:sp>
        <p:nvSpPr>
          <p:cNvPr id="667" name="Google Shape;667;p12"/>
          <p:cNvSpPr/>
          <p:nvPr/>
        </p:nvSpPr>
        <p:spPr>
          <a:xfrm>
            <a:off x="868680" y="4764938"/>
            <a:ext cx="1234440" cy="2057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720"/>
              <a:buFont typeface="Arial"/>
              <a:buNone/>
            </a:pPr>
            <a:r>
              <a:rPr b="1" i="0" lang="en-US" sz="720" u="none" cap="none" strike="noStrike">
                <a:solidFill>
                  <a:srgbClr val="0B1D3A"/>
                </a:solidFill>
                <a:latin typeface="Gill Sans"/>
                <a:ea typeface="Gill Sans"/>
                <a:cs typeface="Gill Sans"/>
                <a:sym typeface="Gill Sans"/>
              </a:rPr>
              <a:t>Door malfunction</a:t>
            </a:r>
            <a:endParaRPr b="0" i="0" sz="720" u="none" cap="none" strike="noStrike">
              <a:solidFill>
                <a:schemeClr val="dk1"/>
              </a:solidFill>
              <a:latin typeface="Gill Sans"/>
              <a:ea typeface="Gill Sans"/>
              <a:cs typeface="Gill Sans"/>
              <a:sym typeface="Gill Sans"/>
            </a:endParaRPr>
          </a:p>
        </p:txBody>
      </p:sp>
      <p:sp>
        <p:nvSpPr>
          <p:cNvPr id="668" name="Google Shape;668;p12"/>
          <p:cNvSpPr/>
          <p:nvPr/>
        </p:nvSpPr>
        <p:spPr>
          <a:xfrm>
            <a:off x="2144268" y="4764938"/>
            <a:ext cx="6131052" cy="2057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720"/>
              <a:buFont typeface="Arial"/>
              <a:buNone/>
            </a:pPr>
            <a:r>
              <a:rPr b="0" i="0" lang="en-US" sz="720" u="none" cap="none" strike="noStrike">
                <a:solidFill>
                  <a:srgbClr val="2C3E50"/>
                </a:solidFill>
                <a:latin typeface="Gill Sans"/>
                <a:ea typeface="Gill Sans"/>
                <a:cs typeface="Gill Sans"/>
                <a:sym typeface="Gill Sans"/>
              </a:rPr>
              <a:t>If airbridge/stand door fails → passengers held at aircraft until resolved. Entire flight delayed entering system</a:t>
            </a:r>
            <a:endParaRPr b="0" i="0" sz="720" u="none" cap="none" strike="noStrike">
              <a:solidFill>
                <a:schemeClr val="dk1"/>
              </a:solidFill>
              <a:latin typeface="Gill Sans"/>
              <a:ea typeface="Gill Sans"/>
              <a:cs typeface="Gill Sans"/>
              <a:sym typeface="Gill Sans"/>
            </a:endParaRPr>
          </a:p>
        </p:txBody>
      </p:sp>
      <p:sp>
        <p:nvSpPr>
          <p:cNvPr id="669" name="Google Shape;669;p12"/>
          <p:cNvSpPr/>
          <p:nvPr/>
        </p:nvSpPr>
        <p:spPr>
          <a:xfrm>
            <a:off x="795377" y="4933645"/>
            <a:ext cx="7571232" cy="205740"/>
          </a:xfrm>
          <a:prstGeom prst="rect">
            <a:avLst/>
          </a:prstGeom>
          <a:solidFill>
            <a:srgbClr val="EAF4F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chemeClr val="dk1"/>
              </a:solidFill>
              <a:latin typeface="Calibri"/>
              <a:ea typeface="Calibri"/>
              <a:cs typeface="Calibri"/>
              <a:sym typeface="Calibri"/>
            </a:endParaRPr>
          </a:p>
        </p:txBody>
      </p:sp>
      <p:sp>
        <p:nvSpPr>
          <p:cNvPr id="670" name="Google Shape;670;p12"/>
          <p:cNvSpPr/>
          <p:nvPr/>
        </p:nvSpPr>
        <p:spPr>
          <a:xfrm>
            <a:off x="795377" y="4933645"/>
            <a:ext cx="1234440" cy="205740"/>
          </a:xfrm>
          <a:prstGeom prst="rect">
            <a:avLst/>
          </a:prstGeom>
          <a:solidFill>
            <a:srgbClr val="EAF4F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720"/>
              <a:buFont typeface="Arial"/>
              <a:buNone/>
            </a:pPr>
            <a:r>
              <a:rPr b="1" i="0" lang="en-US" sz="720" u="none" cap="none" strike="noStrike">
                <a:solidFill>
                  <a:schemeClr val="dk1"/>
                </a:solidFill>
                <a:latin typeface="Gill Sans"/>
                <a:ea typeface="Gill Sans"/>
                <a:cs typeface="Gill Sans"/>
                <a:sym typeface="Gill Sans"/>
              </a:rPr>
              <a:t>Coach delay</a:t>
            </a:r>
            <a:endParaRPr b="0" i="0" sz="1400" u="none" cap="none" strike="noStrike">
              <a:solidFill>
                <a:srgbClr val="000000"/>
              </a:solidFill>
              <a:latin typeface="Gill Sans"/>
              <a:ea typeface="Gill Sans"/>
              <a:cs typeface="Gill Sans"/>
              <a:sym typeface="Gill Sans"/>
            </a:endParaRPr>
          </a:p>
        </p:txBody>
      </p:sp>
      <p:sp>
        <p:nvSpPr>
          <p:cNvPr id="671" name="Google Shape;671;p12"/>
          <p:cNvSpPr/>
          <p:nvPr/>
        </p:nvSpPr>
        <p:spPr>
          <a:xfrm>
            <a:off x="2061972" y="4941632"/>
            <a:ext cx="6213348" cy="201868"/>
          </a:xfrm>
          <a:prstGeom prst="rect">
            <a:avLst/>
          </a:prstGeom>
          <a:solidFill>
            <a:srgbClr val="EAF4F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600"/>
              <a:buFont typeface="Arial"/>
              <a:buNone/>
            </a:pPr>
            <a:r>
              <a:rPr b="0" i="0" lang="en-US" sz="600" u="none" cap="none" strike="noStrike">
                <a:solidFill>
                  <a:schemeClr val="dk1"/>
                </a:solidFill>
                <a:latin typeface="Gill Sans"/>
                <a:ea typeface="Gill Sans"/>
                <a:cs typeface="Gill Sans"/>
                <a:sym typeface="Gill Sans"/>
              </a:rPr>
              <a:t>If no coach/ no availability of steps due to demand for a remote stand flight → passengers held on aircraft until a coach/steps is dispatched. Delays entry into the immigration hall by the coach wait time compressing the arrival pulse</a:t>
            </a:r>
            <a:endParaRPr b="0" i="0" sz="600" u="none" cap="none" strike="noStrike">
              <a:solidFill>
                <a:schemeClr val="dk1"/>
              </a:solidFill>
              <a:latin typeface="Gill Sans"/>
              <a:ea typeface="Gill Sans"/>
              <a:cs typeface="Gill Sans"/>
              <a:sym typeface="Gill Sans"/>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6" name="Shape 676"/>
        <p:cNvGrpSpPr/>
        <p:nvPr/>
      </p:nvGrpSpPr>
      <p:grpSpPr>
        <a:xfrm>
          <a:off x="0" y="0"/>
          <a:ext cx="0" cy="0"/>
          <a:chOff x="0" y="0"/>
          <a:chExt cx="0" cy="0"/>
        </a:xfrm>
      </p:grpSpPr>
      <p:sp>
        <p:nvSpPr>
          <p:cNvPr id="677" name="Google Shape;677;p13"/>
          <p:cNvSpPr/>
          <p:nvPr/>
        </p:nvSpPr>
        <p:spPr>
          <a:xfrm>
            <a:off x="365750" y="128025"/>
            <a:ext cx="8430900" cy="365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B1D3A"/>
              </a:buClr>
              <a:buSzPts val="2000"/>
              <a:buFont typeface="Georgia"/>
              <a:buNone/>
            </a:pPr>
            <a:r>
              <a:rPr b="1" i="0" lang="en-US" sz="2000" u="none" cap="none" strike="noStrike">
                <a:solidFill>
                  <a:srgbClr val="CC0099"/>
                </a:solidFill>
                <a:latin typeface="Gill Sans"/>
                <a:ea typeface="Gill Sans"/>
                <a:cs typeface="Gill Sans"/>
                <a:sym typeface="Gill Sans"/>
              </a:rPr>
              <a:t>What the Simulation Will Deliver</a:t>
            </a:r>
            <a:endParaRPr b="0" i="0" sz="2000" u="none" cap="none" strike="noStrike">
              <a:solidFill>
                <a:srgbClr val="CC0099"/>
              </a:solidFill>
              <a:latin typeface="Gill Sans"/>
              <a:ea typeface="Gill Sans"/>
              <a:cs typeface="Gill Sans"/>
              <a:sym typeface="Gill Sans"/>
            </a:endParaRPr>
          </a:p>
        </p:txBody>
      </p:sp>
      <p:sp>
        <p:nvSpPr>
          <p:cNvPr id="678" name="Google Shape;678;p13"/>
          <p:cNvSpPr/>
          <p:nvPr/>
        </p:nvSpPr>
        <p:spPr>
          <a:xfrm>
            <a:off x="365760" y="475488"/>
            <a:ext cx="8229600"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D6D7E"/>
              </a:buClr>
              <a:buSzPts val="1050"/>
              <a:buFont typeface="Calibri"/>
              <a:buNone/>
            </a:pPr>
            <a:r>
              <a:rPr b="0" i="1" lang="en-US" sz="1050" u="none" cap="none" strike="noStrike">
                <a:solidFill>
                  <a:srgbClr val="5D6D7E"/>
                </a:solidFill>
                <a:latin typeface="Gill Sans"/>
                <a:ea typeface="Gill Sans"/>
                <a:cs typeface="Gill Sans"/>
                <a:sym typeface="Gill Sans"/>
              </a:rPr>
              <a:t>The key performance indicators I will track and the outputs that the project team will receive</a:t>
            </a:r>
            <a:endParaRPr b="0" i="0" sz="1050" u="none" cap="none" strike="noStrike">
              <a:solidFill>
                <a:schemeClr val="dk1"/>
              </a:solidFill>
              <a:latin typeface="Gill Sans"/>
              <a:ea typeface="Gill Sans"/>
              <a:cs typeface="Gill Sans"/>
              <a:sym typeface="Gill Sans"/>
            </a:endParaRPr>
          </a:p>
        </p:txBody>
      </p:sp>
      <p:sp>
        <p:nvSpPr>
          <p:cNvPr id="679" name="Google Shape;679;p13"/>
          <p:cNvSpPr/>
          <p:nvPr/>
        </p:nvSpPr>
        <p:spPr>
          <a:xfrm>
            <a:off x="365760" y="749808"/>
            <a:ext cx="4572000" cy="21945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B1D3A"/>
              </a:buClr>
              <a:buSzPts val="1200"/>
              <a:buFont typeface="Calibri"/>
              <a:buNone/>
            </a:pPr>
            <a:r>
              <a:rPr b="1" i="0" lang="en-US" sz="1200" u="none" cap="none" strike="noStrike">
                <a:solidFill>
                  <a:srgbClr val="0B1D3A"/>
                </a:solidFill>
                <a:latin typeface="Gill Sans"/>
                <a:ea typeface="Gill Sans"/>
                <a:cs typeface="Gill Sans"/>
                <a:sym typeface="Gill Sans"/>
              </a:rPr>
              <a:t>Key performance indicators</a:t>
            </a:r>
            <a:endParaRPr b="0" i="0" sz="1200" u="none" cap="none" strike="noStrike">
              <a:solidFill>
                <a:schemeClr val="dk1"/>
              </a:solidFill>
              <a:latin typeface="Gill Sans"/>
              <a:ea typeface="Gill Sans"/>
              <a:cs typeface="Gill Sans"/>
              <a:sym typeface="Gill Sans"/>
            </a:endParaRPr>
          </a:p>
        </p:txBody>
      </p:sp>
      <p:sp>
        <p:nvSpPr>
          <p:cNvPr id="680" name="Google Shape;680;p13"/>
          <p:cNvSpPr/>
          <p:nvPr/>
        </p:nvSpPr>
        <p:spPr>
          <a:xfrm>
            <a:off x="365760" y="1024128"/>
            <a:ext cx="2606040" cy="960120"/>
          </a:xfrm>
          <a:prstGeom prst="rect">
            <a:avLst/>
          </a:prstGeom>
          <a:solidFill>
            <a:srgbClr val="FFFFFF"/>
          </a:solidFill>
          <a:ln cap="flat" cmpd="sng" w="9525">
            <a:solidFill>
              <a:srgbClr val="E8E8E8"/>
            </a:solidFill>
            <a:prstDash val="solid"/>
            <a:round/>
            <a:headEnd len="sm" w="sm" type="none"/>
            <a:tailEnd len="sm" w="sm" type="none"/>
          </a:ln>
          <a:effectLst>
            <a:outerShdw blurRad="50800" rotWithShape="0" algn="bl" dir="8100000" dist="12700">
              <a:srgbClr val="000000">
                <a:alpha val="7843"/>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81" name="Google Shape;681;p13"/>
          <p:cNvSpPr/>
          <p:nvPr/>
        </p:nvSpPr>
        <p:spPr>
          <a:xfrm>
            <a:off x="365760" y="1024128"/>
            <a:ext cx="2606040" cy="36576"/>
          </a:xfrm>
          <a:prstGeom prst="rect">
            <a:avLst/>
          </a:prstGeom>
          <a:solidFill>
            <a:srgbClr val="0E7C8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82" name="Google Shape;682;p13"/>
          <p:cNvSpPr/>
          <p:nvPr/>
        </p:nvSpPr>
        <p:spPr>
          <a:xfrm>
            <a:off x="841248" y="1133856"/>
            <a:ext cx="2011680" cy="21945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B1D3A"/>
              </a:buClr>
              <a:buSzPts val="1050"/>
              <a:buFont typeface="Calibri"/>
              <a:buNone/>
            </a:pPr>
            <a:r>
              <a:rPr b="1" i="0" lang="en-US" sz="1050" u="none" cap="none" strike="noStrike">
                <a:solidFill>
                  <a:srgbClr val="0B1D3A"/>
                </a:solidFill>
                <a:latin typeface="Gill Sans"/>
                <a:ea typeface="Gill Sans"/>
                <a:cs typeface="Gill Sans"/>
                <a:sym typeface="Gill Sans"/>
              </a:rPr>
              <a:t>Queue wait time</a:t>
            </a:r>
            <a:endParaRPr b="0" i="0" sz="1050" u="none" cap="none" strike="noStrike">
              <a:solidFill>
                <a:schemeClr val="dk1"/>
              </a:solidFill>
              <a:latin typeface="Gill Sans"/>
              <a:ea typeface="Gill Sans"/>
              <a:cs typeface="Gill Sans"/>
              <a:sym typeface="Gill Sans"/>
            </a:endParaRPr>
          </a:p>
        </p:txBody>
      </p:sp>
      <p:sp>
        <p:nvSpPr>
          <p:cNvPr id="683" name="Google Shape;683;p13"/>
          <p:cNvSpPr/>
          <p:nvPr/>
        </p:nvSpPr>
        <p:spPr>
          <a:xfrm>
            <a:off x="841248" y="1389888"/>
            <a:ext cx="2011680" cy="5029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D6D7E"/>
              </a:buClr>
              <a:buSzPts val="850"/>
              <a:buFont typeface="Calibri"/>
              <a:buNone/>
            </a:pPr>
            <a:r>
              <a:rPr b="0" i="0" lang="en-US" sz="850" u="none" cap="none" strike="noStrike">
                <a:solidFill>
                  <a:srgbClr val="5D6D7E"/>
                </a:solidFill>
                <a:latin typeface="Gill Sans"/>
                <a:ea typeface="Gill Sans"/>
                <a:cs typeface="Gill Sans"/>
                <a:sym typeface="Gill Sans"/>
              </a:rPr>
              <a:t>Average and max wait at serpentine queue and each passport control lane processing</a:t>
            </a:r>
            <a:endParaRPr b="0" i="0" sz="850" u="none" cap="none" strike="noStrike">
              <a:solidFill>
                <a:schemeClr val="dk1"/>
              </a:solidFill>
              <a:latin typeface="Gill Sans"/>
              <a:ea typeface="Gill Sans"/>
              <a:cs typeface="Gill Sans"/>
              <a:sym typeface="Gill Sans"/>
            </a:endParaRPr>
          </a:p>
        </p:txBody>
      </p:sp>
      <p:sp>
        <p:nvSpPr>
          <p:cNvPr id="684" name="Google Shape;684;p13"/>
          <p:cNvSpPr/>
          <p:nvPr/>
        </p:nvSpPr>
        <p:spPr>
          <a:xfrm>
            <a:off x="3136392" y="1024128"/>
            <a:ext cx="2606040" cy="960120"/>
          </a:xfrm>
          <a:prstGeom prst="rect">
            <a:avLst/>
          </a:prstGeom>
          <a:solidFill>
            <a:srgbClr val="FFFFFF"/>
          </a:solidFill>
          <a:ln cap="flat" cmpd="sng" w="9525">
            <a:solidFill>
              <a:srgbClr val="E8E8E8"/>
            </a:solidFill>
            <a:prstDash val="solid"/>
            <a:round/>
            <a:headEnd len="sm" w="sm" type="none"/>
            <a:tailEnd len="sm" w="sm" type="none"/>
          </a:ln>
          <a:effectLst>
            <a:outerShdw blurRad="50800" rotWithShape="0" algn="bl" dir="8100000" dist="12700">
              <a:srgbClr val="000000">
                <a:alpha val="7843"/>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85" name="Google Shape;685;p13"/>
          <p:cNvSpPr/>
          <p:nvPr/>
        </p:nvSpPr>
        <p:spPr>
          <a:xfrm>
            <a:off x="3136392" y="1024128"/>
            <a:ext cx="2606040" cy="36576"/>
          </a:xfrm>
          <a:prstGeom prst="rect">
            <a:avLst/>
          </a:prstGeom>
          <a:solidFill>
            <a:srgbClr val="0E7C8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86" name="Google Shape;686;p13"/>
          <p:cNvSpPr/>
          <p:nvPr/>
        </p:nvSpPr>
        <p:spPr>
          <a:xfrm>
            <a:off x="3611880" y="1133856"/>
            <a:ext cx="2011680" cy="21945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B1D3A"/>
              </a:buClr>
              <a:buSzPts val="1050"/>
              <a:buFont typeface="Calibri"/>
              <a:buNone/>
            </a:pPr>
            <a:r>
              <a:rPr b="1" i="0" lang="en-US" sz="1050" u="none" cap="none" strike="noStrike">
                <a:solidFill>
                  <a:srgbClr val="0B1D3A"/>
                </a:solidFill>
                <a:latin typeface="Gill Sans"/>
                <a:ea typeface="Gill Sans"/>
                <a:cs typeface="Gill Sans"/>
                <a:sym typeface="Gill Sans"/>
              </a:rPr>
              <a:t>Hall occupancy</a:t>
            </a:r>
            <a:endParaRPr b="0" i="0" sz="1050" u="none" cap="none" strike="noStrike">
              <a:solidFill>
                <a:schemeClr val="dk1"/>
              </a:solidFill>
              <a:latin typeface="Gill Sans"/>
              <a:ea typeface="Gill Sans"/>
              <a:cs typeface="Gill Sans"/>
              <a:sym typeface="Gill Sans"/>
            </a:endParaRPr>
          </a:p>
        </p:txBody>
      </p:sp>
      <p:sp>
        <p:nvSpPr>
          <p:cNvPr id="687" name="Google Shape;687;p13"/>
          <p:cNvSpPr/>
          <p:nvPr/>
        </p:nvSpPr>
        <p:spPr>
          <a:xfrm>
            <a:off x="3611880" y="1389888"/>
            <a:ext cx="2011680" cy="5029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D6D7E"/>
              </a:buClr>
              <a:buSzPts val="850"/>
              <a:buFont typeface="Calibri"/>
              <a:buNone/>
            </a:pPr>
            <a:r>
              <a:rPr b="0" i="0" lang="en-US" sz="850" u="none" cap="none" strike="noStrike">
                <a:solidFill>
                  <a:srgbClr val="5D6D7E"/>
                </a:solidFill>
                <a:latin typeface="Gill Sans"/>
                <a:ea typeface="Gill Sans"/>
                <a:cs typeface="Gill Sans"/>
                <a:sym typeface="Gill Sans"/>
              </a:rPr>
              <a:t>Peak passenger count in immigration hall vs. fire safety capacity limit</a:t>
            </a:r>
            <a:endParaRPr b="0" i="0" sz="850" u="none" cap="none" strike="noStrike">
              <a:solidFill>
                <a:schemeClr val="dk1"/>
              </a:solidFill>
              <a:latin typeface="Gill Sans"/>
              <a:ea typeface="Gill Sans"/>
              <a:cs typeface="Gill Sans"/>
              <a:sym typeface="Gill Sans"/>
            </a:endParaRPr>
          </a:p>
        </p:txBody>
      </p:sp>
      <p:sp>
        <p:nvSpPr>
          <p:cNvPr id="688" name="Google Shape;688;p13"/>
          <p:cNvSpPr/>
          <p:nvPr/>
        </p:nvSpPr>
        <p:spPr>
          <a:xfrm>
            <a:off x="5907024" y="1024128"/>
            <a:ext cx="2606040" cy="960120"/>
          </a:xfrm>
          <a:prstGeom prst="rect">
            <a:avLst/>
          </a:prstGeom>
          <a:solidFill>
            <a:srgbClr val="FFFFFF"/>
          </a:solidFill>
          <a:ln cap="flat" cmpd="sng" w="9525">
            <a:solidFill>
              <a:srgbClr val="E8E8E8"/>
            </a:solidFill>
            <a:prstDash val="solid"/>
            <a:round/>
            <a:headEnd len="sm" w="sm" type="none"/>
            <a:tailEnd len="sm" w="sm" type="none"/>
          </a:ln>
          <a:effectLst>
            <a:outerShdw blurRad="50800" rotWithShape="0" algn="bl" dir="8100000" dist="12700">
              <a:srgbClr val="000000">
                <a:alpha val="7843"/>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89" name="Google Shape;689;p13"/>
          <p:cNvSpPr/>
          <p:nvPr/>
        </p:nvSpPr>
        <p:spPr>
          <a:xfrm>
            <a:off x="5907024" y="1024128"/>
            <a:ext cx="2606040" cy="36576"/>
          </a:xfrm>
          <a:prstGeom prst="rect">
            <a:avLst/>
          </a:prstGeom>
          <a:solidFill>
            <a:srgbClr val="0E7C8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90" name="Google Shape;690;p13"/>
          <p:cNvSpPr/>
          <p:nvPr/>
        </p:nvSpPr>
        <p:spPr>
          <a:xfrm>
            <a:off x="6382512" y="1133856"/>
            <a:ext cx="2011680" cy="21945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B1D3A"/>
              </a:buClr>
              <a:buSzPts val="1050"/>
              <a:buFont typeface="Calibri"/>
              <a:buNone/>
            </a:pPr>
            <a:r>
              <a:rPr b="1" i="0" lang="en-US" sz="1050" u="none" cap="none" strike="noStrike">
                <a:solidFill>
                  <a:srgbClr val="0B1D3A"/>
                </a:solidFill>
                <a:latin typeface="Gill Sans"/>
                <a:ea typeface="Gill Sans"/>
                <a:cs typeface="Gill Sans"/>
                <a:sym typeface="Gill Sans"/>
              </a:rPr>
              <a:t>Journey time</a:t>
            </a:r>
            <a:endParaRPr b="0" i="0" sz="1050" u="none" cap="none" strike="noStrike">
              <a:solidFill>
                <a:schemeClr val="dk1"/>
              </a:solidFill>
              <a:latin typeface="Gill Sans"/>
              <a:ea typeface="Gill Sans"/>
              <a:cs typeface="Gill Sans"/>
              <a:sym typeface="Gill Sans"/>
            </a:endParaRPr>
          </a:p>
        </p:txBody>
      </p:sp>
      <p:sp>
        <p:nvSpPr>
          <p:cNvPr id="691" name="Google Shape;691;p13"/>
          <p:cNvSpPr/>
          <p:nvPr/>
        </p:nvSpPr>
        <p:spPr>
          <a:xfrm>
            <a:off x="6382512" y="1389888"/>
            <a:ext cx="2011680" cy="5029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D6D7E"/>
              </a:buClr>
              <a:buSzPts val="850"/>
              <a:buFont typeface="Calibri"/>
              <a:buNone/>
            </a:pPr>
            <a:r>
              <a:rPr b="0" i="0" lang="en-US" sz="850" u="none" cap="none" strike="noStrike">
                <a:solidFill>
                  <a:srgbClr val="5D6D7E"/>
                </a:solidFill>
                <a:latin typeface="Gill Sans"/>
                <a:ea typeface="Gill Sans"/>
                <a:cs typeface="Gill Sans"/>
                <a:sym typeface="Gill Sans"/>
              </a:rPr>
              <a:t>End to end time from entry to exit for each passenger type</a:t>
            </a:r>
            <a:endParaRPr b="0" i="0" sz="850" u="none" cap="none" strike="noStrike">
              <a:solidFill>
                <a:schemeClr val="dk1"/>
              </a:solidFill>
              <a:latin typeface="Gill Sans"/>
              <a:ea typeface="Gill Sans"/>
              <a:cs typeface="Gill Sans"/>
              <a:sym typeface="Gill Sans"/>
            </a:endParaRPr>
          </a:p>
        </p:txBody>
      </p:sp>
      <p:sp>
        <p:nvSpPr>
          <p:cNvPr id="692" name="Google Shape;692;p13"/>
          <p:cNvSpPr/>
          <p:nvPr/>
        </p:nvSpPr>
        <p:spPr>
          <a:xfrm>
            <a:off x="365760" y="2148840"/>
            <a:ext cx="2606040" cy="960120"/>
          </a:xfrm>
          <a:prstGeom prst="rect">
            <a:avLst/>
          </a:prstGeom>
          <a:solidFill>
            <a:srgbClr val="FFFFFF"/>
          </a:solidFill>
          <a:ln cap="flat" cmpd="sng" w="9525">
            <a:solidFill>
              <a:srgbClr val="E8E8E8"/>
            </a:solidFill>
            <a:prstDash val="solid"/>
            <a:round/>
            <a:headEnd len="sm" w="sm" type="none"/>
            <a:tailEnd len="sm" w="sm" type="none"/>
          </a:ln>
          <a:effectLst>
            <a:outerShdw blurRad="50800" rotWithShape="0" algn="bl" dir="8100000" dist="12700">
              <a:srgbClr val="000000">
                <a:alpha val="7843"/>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93" name="Google Shape;693;p13"/>
          <p:cNvSpPr/>
          <p:nvPr/>
        </p:nvSpPr>
        <p:spPr>
          <a:xfrm>
            <a:off x="365760" y="2148840"/>
            <a:ext cx="2606040" cy="36576"/>
          </a:xfrm>
          <a:prstGeom prst="rect">
            <a:avLst/>
          </a:prstGeom>
          <a:solidFill>
            <a:srgbClr val="0E7C8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94" name="Google Shape;694;p13"/>
          <p:cNvSpPr/>
          <p:nvPr/>
        </p:nvSpPr>
        <p:spPr>
          <a:xfrm>
            <a:off x="841248" y="2258568"/>
            <a:ext cx="2011680" cy="21945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B1D3A"/>
              </a:buClr>
              <a:buSzPts val="1050"/>
              <a:buFont typeface="Calibri"/>
              <a:buNone/>
            </a:pPr>
            <a:r>
              <a:rPr b="1" i="0" lang="en-US" sz="1050" u="none" cap="none" strike="noStrike">
                <a:solidFill>
                  <a:srgbClr val="0B1D3A"/>
                </a:solidFill>
                <a:latin typeface="Gill Sans"/>
                <a:ea typeface="Gill Sans"/>
                <a:cs typeface="Gill Sans"/>
                <a:sym typeface="Gill Sans"/>
              </a:rPr>
              <a:t>Bag wait time</a:t>
            </a:r>
            <a:endParaRPr b="0" i="0" sz="1050" u="none" cap="none" strike="noStrike">
              <a:solidFill>
                <a:schemeClr val="dk1"/>
              </a:solidFill>
              <a:latin typeface="Gill Sans"/>
              <a:ea typeface="Gill Sans"/>
              <a:cs typeface="Gill Sans"/>
              <a:sym typeface="Gill Sans"/>
            </a:endParaRPr>
          </a:p>
        </p:txBody>
      </p:sp>
      <p:sp>
        <p:nvSpPr>
          <p:cNvPr id="695" name="Google Shape;695;p13"/>
          <p:cNvSpPr/>
          <p:nvPr/>
        </p:nvSpPr>
        <p:spPr>
          <a:xfrm>
            <a:off x="841248" y="2514600"/>
            <a:ext cx="2011680" cy="5029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D6D7E"/>
              </a:buClr>
              <a:buSzPts val="850"/>
              <a:buFont typeface="Calibri"/>
              <a:buNone/>
            </a:pPr>
            <a:r>
              <a:rPr b="0" i="0" lang="en-US" sz="850" u="none" cap="none" strike="noStrike">
                <a:solidFill>
                  <a:srgbClr val="5D6D7E"/>
                </a:solidFill>
                <a:latin typeface="Gill Sans"/>
                <a:ea typeface="Gill Sans"/>
                <a:cs typeface="Gill Sans"/>
                <a:sym typeface="Gill Sans"/>
              </a:rPr>
              <a:t>Time passengers wait at belt for first bag by flight and aircraft type</a:t>
            </a:r>
            <a:endParaRPr b="0" i="0" sz="850" u="none" cap="none" strike="noStrike">
              <a:solidFill>
                <a:schemeClr val="dk1"/>
              </a:solidFill>
              <a:latin typeface="Gill Sans"/>
              <a:ea typeface="Gill Sans"/>
              <a:cs typeface="Gill Sans"/>
              <a:sym typeface="Gill Sans"/>
            </a:endParaRPr>
          </a:p>
        </p:txBody>
      </p:sp>
      <p:sp>
        <p:nvSpPr>
          <p:cNvPr id="696" name="Google Shape;696;p13"/>
          <p:cNvSpPr/>
          <p:nvPr/>
        </p:nvSpPr>
        <p:spPr>
          <a:xfrm>
            <a:off x="3136392" y="2148840"/>
            <a:ext cx="2606040" cy="960120"/>
          </a:xfrm>
          <a:prstGeom prst="rect">
            <a:avLst/>
          </a:prstGeom>
          <a:solidFill>
            <a:srgbClr val="FFFFFF"/>
          </a:solidFill>
          <a:ln cap="flat" cmpd="sng" w="9525">
            <a:solidFill>
              <a:srgbClr val="E8E8E8"/>
            </a:solidFill>
            <a:prstDash val="solid"/>
            <a:round/>
            <a:headEnd len="sm" w="sm" type="none"/>
            <a:tailEnd len="sm" w="sm" type="none"/>
          </a:ln>
          <a:effectLst>
            <a:outerShdw blurRad="50800" rotWithShape="0" algn="bl" dir="8100000" dist="12700">
              <a:srgbClr val="000000">
                <a:alpha val="7843"/>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97" name="Google Shape;697;p13"/>
          <p:cNvSpPr/>
          <p:nvPr/>
        </p:nvSpPr>
        <p:spPr>
          <a:xfrm>
            <a:off x="3136392" y="2148840"/>
            <a:ext cx="2606040" cy="36576"/>
          </a:xfrm>
          <a:prstGeom prst="rect">
            <a:avLst/>
          </a:prstGeom>
          <a:solidFill>
            <a:srgbClr val="0E7C8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98" name="Google Shape;698;p13"/>
          <p:cNvSpPr/>
          <p:nvPr/>
        </p:nvSpPr>
        <p:spPr>
          <a:xfrm>
            <a:off x="3611880" y="2258568"/>
            <a:ext cx="2011680" cy="21945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B1D3A"/>
              </a:buClr>
              <a:buSzPts val="1050"/>
              <a:buFont typeface="Calibri"/>
              <a:buNone/>
            </a:pPr>
            <a:r>
              <a:rPr b="1" i="0" lang="en-US" sz="1050" u="none" cap="none" strike="noStrike">
                <a:solidFill>
                  <a:srgbClr val="0B1D3A"/>
                </a:solidFill>
                <a:latin typeface="Gill Sans"/>
                <a:ea typeface="Gill Sans"/>
                <a:cs typeface="Gill Sans"/>
                <a:sym typeface="Gill Sans"/>
              </a:rPr>
              <a:t>Bottleneck detection</a:t>
            </a:r>
            <a:endParaRPr b="0" i="0" sz="1050" u="none" cap="none" strike="noStrike">
              <a:solidFill>
                <a:schemeClr val="dk1"/>
              </a:solidFill>
              <a:latin typeface="Gill Sans"/>
              <a:ea typeface="Gill Sans"/>
              <a:cs typeface="Gill Sans"/>
              <a:sym typeface="Gill Sans"/>
            </a:endParaRPr>
          </a:p>
        </p:txBody>
      </p:sp>
      <p:sp>
        <p:nvSpPr>
          <p:cNvPr id="699" name="Google Shape;699;p13"/>
          <p:cNvSpPr/>
          <p:nvPr/>
        </p:nvSpPr>
        <p:spPr>
          <a:xfrm>
            <a:off x="3611880" y="2514600"/>
            <a:ext cx="2011680" cy="5029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D6D7E"/>
              </a:buClr>
              <a:buSzPts val="850"/>
              <a:buFont typeface="Calibri"/>
              <a:buNone/>
            </a:pPr>
            <a:r>
              <a:rPr b="0" i="0" lang="en-US" sz="850" u="none" cap="none" strike="noStrike">
                <a:solidFill>
                  <a:srgbClr val="5D6D7E"/>
                </a:solidFill>
                <a:latin typeface="Gill Sans"/>
                <a:ea typeface="Gill Sans"/>
                <a:cs typeface="Gill Sans"/>
                <a:sym typeface="Gill Sans"/>
              </a:rPr>
              <a:t>Which process point fails first under peak demand and at what threshold</a:t>
            </a:r>
            <a:endParaRPr b="0" i="0" sz="850" u="none" cap="none" strike="noStrike">
              <a:solidFill>
                <a:schemeClr val="dk1"/>
              </a:solidFill>
              <a:latin typeface="Gill Sans"/>
              <a:ea typeface="Gill Sans"/>
              <a:cs typeface="Gill Sans"/>
              <a:sym typeface="Gill Sans"/>
            </a:endParaRPr>
          </a:p>
        </p:txBody>
      </p:sp>
      <p:sp>
        <p:nvSpPr>
          <p:cNvPr id="700" name="Google Shape;700;p13"/>
          <p:cNvSpPr/>
          <p:nvPr/>
        </p:nvSpPr>
        <p:spPr>
          <a:xfrm>
            <a:off x="5907024" y="2148840"/>
            <a:ext cx="2606040" cy="960120"/>
          </a:xfrm>
          <a:prstGeom prst="rect">
            <a:avLst/>
          </a:prstGeom>
          <a:solidFill>
            <a:srgbClr val="FFFFFF"/>
          </a:solidFill>
          <a:ln cap="flat" cmpd="sng" w="9525">
            <a:solidFill>
              <a:srgbClr val="E8E8E8"/>
            </a:solidFill>
            <a:prstDash val="solid"/>
            <a:round/>
            <a:headEnd len="sm" w="sm" type="none"/>
            <a:tailEnd len="sm" w="sm" type="none"/>
          </a:ln>
          <a:effectLst>
            <a:outerShdw blurRad="50800" rotWithShape="0" algn="bl" dir="8100000" dist="12700">
              <a:srgbClr val="000000">
                <a:alpha val="7843"/>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01" name="Google Shape;701;p13"/>
          <p:cNvSpPr/>
          <p:nvPr/>
        </p:nvSpPr>
        <p:spPr>
          <a:xfrm>
            <a:off x="5907024" y="2148840"/>
            <a:ext cx="2606040" cy="36576"/>
          </a:xfrm>
          <a:prstGeom prst="rect">
            <a:avLst/>
          </a:prstGeom>
          <a:solidFill>
            <a:srgbClr val="0E7C8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02" name="Google Shape;702;p13"/>
          <p:cNvSpPr/>
          <p:nvPr/>
        </p:nvSpPr>
        <p:spPr>
          <a:xfrm>
            <a:off x="6382512" y="2258568"/>
            <a:ext cx="2011680" cy="21945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B1D3A"/>
              </a:buClr>
              <a:buSzPts val="1050"/>
              <a:buFont typeface="Calibri"/>
              <a:buNone/>
            </a:pPr>
            <a:r>
              <a:rPr b="1" i="0" lang="en-US" sz="1050" u="none" cap="none" strike="noStrike">
                <a:solidFill>
                  <a:srgbClr val="0B1D3A"/>
                </a:solidFill>
                <a:latin typeface="Gill Sans"/>
                <a:ea typeface="Gill Sans"/>
                <a:cs typeface="Gill Sans"/>
                <a:sym typeface="Gill Sans"/>
              </a:rPr>
              <a:t>Scenario comparison</a:t>
            </a:r>
            <a:endParaRPr b="0" i="0" sz="1050" u="none" cap="none" strike="noStrike">
              <a:solidFill>
                <a:schemeClr val="dk1"/>
              </a:solidFill>
              <a:latin typeface="Gill Sans"/>
              <a:ea typeface="Gill Sans"/>
              <a:cs typeface="Gill Sans"/>
              <a:sym typeface="Gill Sans"/>
            </a:endParaRPr>
          </a:p>
        </p:txBody>
      </p:sp>
      <p:sp>
        <p:nvSpPr>
          <p:cNvPr id="703" name="Google Shape;703;p13"/>
          <p:cNvSpPr/>
          <p:nvPr/>
        </p:nvSpPr>
        <p:spPr>
          <a:xfrm>
            <a:off x="6382512" y="2514600"/>
            <a:ext cx="2011680" cy="5029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D6D7E"/>
              </a:buClr>
              <a:buSzPts val="850"/>
              <a:buFont typeface="Calibri"/>
              <a:buNone/>
            </a:pPr>
            <a:r>
              <a:rPr b="0" i="0" lang="en-US" sz="850" u="none" cap="none" strike="noStrike">
                <a:solidFill>
                  <a:srgbClr val="5D6D7E"/>
                </a:solidFill>
                <a:latin typeface="Gill Sans"/>
                <a:ea typeface="Gill Sans"/>
                <a:cs typeface="Gill Sans"/>
                <a:sym typeface="Gill Sans"/>
              </a:rPr>
              <a:t>2 belts vs 3 staffing levels, egate outage impact, peak vs offpeak</a:t>
            </a:r>
            <a:endParaRPr b="0" i="0" sz="850" u="none" cap="none" strike="noStrike">
              <a:solidFill>
                <a:schemeClr val="dk1"/>
              </a:solidFill>
              <a:latin typeface="Gill Sans"/>
              <a:ea typeface="Gill Sans"/>
              <a:cs typeface="Gill Sans"/>
              <a:sym typeface="Gill Sans"/>
            </a:endParaRPr>
          </a:p>
        </p:txBody>
      </p:sp>
      <p:sp>
        <p:nvSpPr>
          <p:cNvPr id="704" name="Google Shape;704;p13"/>
          <p:cNvSpPr/>
          <p:nvPr/>
        </p:nvSpPr>
        <p:spPr>
          <a:xfrm>
            <a:off x="365760" y="3246120"/>
            <a:ext cx="4572000" cy="21945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B1D3A"/>
              </a:buClr>
              <a:buSzPts val="1200"/>
              <a:buFont typeface="Calibri"/>
              <a:buNone/>
            </a:pPr>
            <a:r>
              <a:rPr b="1" i="0" lang="en-US" sz="1200" u="none" cap="none" strike="noStrike">
                <a:solidFill>
                  <a:srgbClr val="0B1D3A"/>
                </a:solidFill>
                <a:latin typeface="Calibri"/>
                <a:ea typeface="Calibri"/>
                <a:cs typeface="Calibri"/>
                <a:sym typeface="Calibri"/>
              </a:rPr>
              <a:t>What the project team receives</a:t>
            </a:r>
            <a:endParaRPr b="0" i="0" sz="1200" u="none" cap="none" strike="noStrike">
              <a:solidFill>
                <a:schemeClr val="dk1"/>
              </a:solidFill>
              <a:latin typeface="Calibri"/>
              <a:ea typeface="Calibri"/>
              <a:cs typeface="Calibri"/>
              <a:sym typeface="Calibri"/>
            </a:endParaRPr>
          </a:p>
        </p:txBody>
      </p:sp>
      <p:sp>
        <p:nvSpPr>
          <p:cNvPr id="705" name="Google Shape;705;p13"/>
          <p:cNvSpPr/>
          <p:nvPr/>
        </p:nvSpPr>
        <p:spPr>
          <a:xfrm>
            <a:off x="365760" y="3538728"/>
            <a:ext cx="2606040" cy="1115568"/>
          </a:xfrm>
          <a:prstGeom prst="rect">
            <a:avLst/>
          </a:prstGeom>
          <a:solidFill>
            <a:srgbClr val="0E7C86"/>
          </a:solidFill>
          <a:ln>
            <a:noFill/>
          </a:ln>
          <a:effectLst>
            <a:outerShdw blurRad="50800" rotWithShape="0" algn="bl" dir="8100000" dist="12700">
              <a:srgbClr val="000000">
                <a:alpha val="7843"/>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descr="preencoded.png" id="706" name="Google Shape;706;p13"/>
          <p:cNvPicPr preferRelativeResize="0"/>
          <p:nvPr/>
        </p:nvPicPr>
        <p:blipFill rotWithShape="1">
          <a:blip r:embed="rId3">
            <a:alphaModFix/>
          </a:blip>
          <a:srcRect b="0" l="0" r="0" t="0"/>
          <a:stretch/>
        </p:blipFill>
        <p:spPr>
          <a:xfrm>
            <a:off x="502920" y="3675888"/>
            <a:ext cx="274320" cy="274320"/>
          </a:xfrm>
          <a:prstGeom prst="rect">
            <a:avLst/>
          </a:prstGeom>
          <a:noFill/>
          <a:ln>
            <a:noFill/>
          </a:ln>
        </p:spPr>
      </p:pic>
      <p:sp>
        <p:nvSpPr>
          <p:cNvPr id="707" name="Google Shape;707;p13"/>
          <p:cNvSpPr/>
          <p:nvPr/>
        </p:nvSpPr>
        <p:spPr>
          <a:xfrm>
            <a:off x="868680" y="3630168"/>
            <a:ext cx="1965960"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000"/>
              <a:buFont typeface="Calibri"/>
              <a:buNone/>
            </a:pPr>
            <a:r>
              <a:rPr b="1" i="0" lang="en-US" sz="1000" u="none" cap="none" strike="noStrike">
                <a:solidFill>
                  <a:srgbClr val="FFFFFF"/>
                </a:solidFill>
                <a:latin typeface="Gill Sans"/>
                <a:ea typeface="Gill Sans"/>
                <a:cs typeface="Gill Sans"/>
                <a:sym typeface="Gill Sans"/>
              </a:rPr>
              <a:t>Working simulation model</a:t>
            </a:r>
            <a:endParaRPr b="0" i="0" sz="1000" u="none" cap="none" strike="noStrike">
              <a:solidFill>
                <a:schemeClr val="dk1"/>
              </a:solidFill>
              <a:latin typeface="Gill Sans"/>
              <a:ea typeface="Gill Sans"/>
              <a:cs typeface="Gill Sans"/>
              <a:sym typeface="Gill Sans"/>
            </a:endParaRPr>
          </a:p>
        </p:txBody>
      </p:sp>
      <p:sp>
        <p:nvSpPr>
          <p:cNvPr id="708" name="Google Shape;708;p13"/>
          <p:cNvSpPr/>
          <p:nvPr/>
        </p:nvSpPr>
        <p:spPr>
          <a:xfrm>
            <a:off x="502920" y="3995928"/>
            <a:ext cx="2331720" cy="5943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FFFF"/>
              </a:buClr>
              <a:buSzPts val="850"/>
              <a:buFont typeface="Calibri"/>
              <a:buNone/>
            </a:pPr>
            <a:r>
              <a:rPr b="0" i="0" lang="en-US" sz="850" u="none" cap="none" strike="noStrike">
                <a:solidFill>
                  <a:srgbClr val="FFFFFF"/>
                </a:solidFill>
                <a:latin typeface="Gill Sans"/>
                <a:ea typeface="Gill Sans"/>
                <a:cs typeface="Gill Sans"/>
                <a:sym typeface="Gill Sans"/>
              </a:rPr>
              <a:t>A calibrated model of the new international arrivals layout that can be reused for future scenario testing and layout changes</a:t>
            </a:r>
            <a:endParaRPr b="0" i="0" sz="850" u="none" cap="none" strike="noStrike">
              <a:solidFill>
                <a:schemeClr val="dk1"/>
              </a:solidFill>
              <a:latin typeface="Gill Sans"/>
              <a:ea typeface="Gill Sans"/>
              <a:cs typeface="Gill Sans"/>
              <a:sym typeface="Gill Sans"/>
            </a:endParaRPr>
          </a:p>
        </p:txBody>
      </p:sp>
      <p:sp>
        <p:nvSpPr>
          <p:cNvPr id="709" name="Google Shape;709;p13"/>
          <p:cNvSpPr/>
          <p:nvPr/>
        </p:nvSpPr>
        <p:spPr>
          <a:xfrm>
            <a:off x="3136392" y="3538728"/>
            <a:ext cx="2606040" cy="1115568"/>
          </a:xfrm>
          <a:prstGeom prst="rect">
            <a:avLst/>
          </a:prstGeom>
          <a:solidFill>
            <a:srgbClr val="143B6B"/>
          </a:solidFill>
          <a:ln>
            <a:noFill/>
          </a:ln>
          <a:effectLst>
            <a:outerShdw blurRad="50800" rotWithShape="0" algn="bl" dir="8100000" dist="12700">
              <a:srgbClr val="000000">
                <a:alpha val="7843"/>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descr="preencoded.png" id="710" name="Google Shape;710;p13"/>
          <p:cNvPicPr preferRelativeResize="0"/>
          <p:nvPr/>
        </p:nvPicPr>
        <p:blipFill rotWithShape="1">
          <a:blip r:embed="rId4">
            <a:alphaModFix/>
          </a:blip>
          <a:srcRect b="0" l="0" r="0" t="0"/>
          <a:stretch/>
        </p:blipFill>
        <p:spPr>
          <a:xfrm>
            <a:off x="3273552" y="3675888"/>
            <a:ext cx="274320" cy="274320"/>
          </a:xfrm>
          <a:prstGeom prst="rect">
            <a:avLst/>
          </a:prstGeom>
          <a:noFill/>
          <a:ln>
            <a:noFill/>
          </a:ln>
        </p:spPr>
      </p:pic>
      <p:sp>
        <p:nvSpPr>
          <p:cNvPr id="711" name="Google Shape;711;p13"/>
          <p:cNvSpPr/>
          <p:nvPr/>
        </p:nvSpPr>
        <p:spPr>
          <a:xfrm>
            <a:off x="3639312" y="3630168"/>
            <a:ext cx="1965960"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000"/>
              <a:buFont typeface="Calibri"/>
              <a:buNone/>
            </a:pPr>
            <a:r>
              <a:rPr b="1" i="0" lang="en-US" sz="1000" u="none" cap="none" strike="noStrike">
                <a:solidFill>
                  <a:srgbClr val="FFFFFF"/>
                </a:solidFill>
                <a:latin typeface="Gill Sans"/>
                <a:ea typeface="Gill Sans"/>
                <a:cs typeface="Gill Sans"/>
                <a:sym typeface="Gill Sans"/>
              </a:rPr>
              <a:t>Results report with visualisations</a:t>
            </a:r>
            <a:endParaRPr b="0" i="0" sz="1000" u="none" cap="none" strike="noStrike">
              <a:solidFill>
                <a:schemeClr val="dk1"/>
              </a:solidFill>
              <a:latin typeface="Gill Sans"/>
              <a:ea typeface="Gill Sans"/>
              <a:cs typeface="Gill Sans"/>
              <a:sym typeface="Gill Sans"/>
            </a:endParaRPr>
          </a:p>
        </p:txBody>
      </p:sp>
      <p:sp>
        <p:nvSpPr>
          <p:cNvPr id="712" name="Google Shape;712;p13"/>
          <p:cNvSpPr/>
          <p:nvPr/>
        </p:nvSpPr>
        <p:spPr>
          <a:xfrm>
            <a:off x="3273552" y="3995928"/>
            <a:ext cx="2331720" cy="5943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FFFF"/>
              </a:buClr>
              <a:buSzPts val="850"/>
              <a:buFont typeface="Calibri"/>
              <a:buNone/>
            </a:pPr>
            <a:r>
              <a:rPr b="0" i="0" lang="en-US" sz="850" u="none" cap="none" strike="noStrike">
                <a:solidFill>
                  <a:srgbClr val="FFFFFF"/>
                </a:solidFill>
                <a:latin typeface="Gill Sans"/>
                <a:ea typeface="Gill Sans"/>
                <a:cs typeface="Gill Sans"/>
                <a:sym typeface="Gill Sans"/>
              </a:rPr>
              <a:t>A clear report covering KPI outputs with different visualisations showing congestion points, queue profiles over time, peak vs off peak comparison</a:t>
            </a:r>
            <a:endParaRPr b="0" i="0" sz="850" u="none" cap="none" strike="noStrike">
              <a:solidFill>
                <a:schemeClr val="dk1"/>
              </a:solidFill>
              <a:latin typeface="Gill Sans"/>
              <a:ea typeface="Gill Sans"/>
              <a:cs typeface="Gill Sans"/>
              <a:sym typeface="Gill Sans"/>
            </a:endParaRPr>
          </a:p>
        </p:txBody>
      </p:sp>
      <p:sp>
        <p:nvSpPr>
          <p:cNvPr id="713" name="Google Shape;713;p13"/>
          <p:cNvSpPr/>
          <p:nvPr/>
        </p:nvSpPr>
        <p:spPr>
          <a:xfrm>
            <a:off x="5907024" y="3538728"/>
            <a:ext cx="2606040" cy="1115568"/>
          </a:xfrm>
          <a:prstGeom prst="rect">
            <a:avLst/>
          </a:prstGeom>
          <a:solidFill>
            <a:srgbClr val="D4A843"/>
          </a:solidFill>
          <a:ln>
            <a:noFill/>
          </a:ln>
          <a:effectLst>
            <a:outerShdw blurRad="50800" rotWithShape="0" algn="bl" dir="8100000" dist="12700">
              <a:srgbClr val="000000">
                <a:alpha val="7843"/>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descr="preencoded.png" id="714" name="Google Shape;714;p13"/>
          <p:cNvPicPr preferRelativeResize="0"/>
          <p:nvPr/>
        </p:nvPicPr>
        <p:blipFill rotWithShape="1">
          <a:blip r:embed="rId5">
            <a:alphaModFix/>
          </a:blip>
          <a:srcRect b="0" l="0" r="0" t="0"/>
          <a:stretch/>
        </p:blipFill>
        <p:spPr>
          <a:xfrm>
            <a:off x="6044184" y="3675888"/>
            <a:ext cx="274320" cy="274320"/>
          </a:xfrm>
          <a:prstGeom prst="rect">
            <a:avLst/>
          </a:prstGeom>
          <a:noFill/>
          <a:ln>
            <a:noFill/>
          </a:ln>
        </p:spPr>
      </p:pic>
      <p:sp>
        <p:nvSpPr>
          <p:cNvPr id="715" name="Google Shape;715;p13"/>
          <p:cNvSpPr/>
          <p:nvPr/>
        </p:nvSpPr>
        <p:spPr>
          <a:xfrm>
            <a:off x="6409944" y="3630168"/>
            <a:ext cx="1965960"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000"/>
              <a:buFont typeface="Calibri"/>
              <a:buNone/>
            </a:pPr>
            <a:r>
              <a:rPr b="1" i="0" lang="en-US" sz="1000" u="none" cap="none" strike="noStrike">
                <a:solidFill>
                  <a:srgbClr val="FFFFFF"/>
                </a:solidFill>
                <a:latin typeface="Gill Sans"/>
                <a:ea typeface="Gill Sans"/>
                <a:cs typeface="Gill Sans"/>
                <a:sym typeface="Gill Sans"/>
              </a:rPr>
              <a:t>Recommendations for the project team</a:t>
            </a:r>
            <a:endParaRPr b="0" i="0" sz="1000" u="none" cap="none" strike="noStrike">
              <a:solidFill>
                <a:schemeClr val="dk1"/>
              </a:solidFill>
              <a:latin typeface="Gill Sans"/>
              <a:ea typeface="Gill Sans"/>
              <a:cs typeface="Gill Sans"/>
              <a:sym typeface="Gill Sans"/>
            </a:endParaRPr>
          </a:p>
        </p:txBody>
      </p:sp>
      <p:sp>
        <p:nvSpPr>
          <p:cNvPr id="716" name="Google Shape;716;p13"/>
          <p:cNvSpPr/>
          <p:nvPr/>
        </p:nvSpPr>
        <p:spPr>
          <a:xfrm>
            <a:off x="6044184" y="3995928"/>
            <a:ext cx="2331720" cy="5943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FFFF"/>
              </a:buClr>
              <a:buSzPts val="850"/>
              <a:buFont typeface="Calibri"/>
              <a:buNone/>
            </a:pPr>
            <a:r>
              <a:rPr b="0" i="0" lang="en-US" sz="850" u="none" cap="none" strike="noStrike">
                <a:solidFill>
                  <a:srgbClr val="FFFFFF"/>
                </a:solidFill>
                <a:latin typeface="Gill Sans"/>
                <a:ea typeface="Gill Sans"/>
                <a:cs typeface="Gill Sans"/>
                <a:sym typeface="Gill Sans"/>
              </a:rPr>
              <a:t>Evidence based suggestions on infrastructure sizing staffing levels and layout refinements supported by the simulation data</a:t>
            </a:r>
            <a:endParaRPr b="0" i="0" sz="850" u="none" cap="none" strike="noStrike">
              <a:solidFill>
                <a:schemeClr val="dk1"/>
              </a:solidFill>
              <a:latin typeface="Gill Sans"/>
              <a:ea typeface="Gill Sans"/>
              <a:cs typeface="Gill Sans"/>
              <a:sym typeface="Gill Sans"/>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721" name="Shape 721"/>
        <p:cNvGrpSpPr/>
        <p:nvPr/>
      </p:nvGrpSpPr>
      <p:grpSpPr>
        <a:xfrm>
          <a:off x="0" y="0"/>
          <a:ext cx="0" cy="0"/>
          <a:chOff x="0" y="0"/>
          <a:chExt cx="0" cy="0"/>
        </a:xfrm>
      </p:grpSpPr>
      <p:sp>
        <p:nvSpPr>
          <p:cNvPr id="722" name="Google Shape;722;p14"/>
          <p:cNvSpPr/>
          <p:nvPr/>
        </p:nvSpPr>
        <p:spPr>
          <a:xfrm>
            <a:off x="457200" y="274325"/>
            <a:ext cx="851100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CC0099"/>
                </a:solidFill>
                <a:latin typeface="Gill Sans"/>
                <a:ea typeface="Gill Sans"/>
                <a:cs typeface="Gill Sans"/>
                <a:sym typeface="Gill Sans"/>
              </a:rPr>
              <a:t>Estimated Time to Complete Simulation &amp; Deliver Insights</a:t>
            </a:r>
            <a:endParaRPr b="1" i="0" sz="2400" u="none" cap="none" strike="noStrike">
              <a:solidFill>
                <a:srgbClr val="CC0099"/>
              </a:solidFill>
              <a:latin typeface="Gill Sans"/>
              <a:ea typeface="Gill Sans"/>
              <a:cs typeface="Gill Sans"/>
              <a:sym typeface="Gill Sans"/>
            </a:endParaRPr>
          </a:p>
        </p:txBody>
      </p:sp>
      <p:sp>
        <p:nvSpPr>
          <p:cNvPr id="723" name="Google Shape;723;p14"/>
          <p:cNvSpPr/>
          <p:nvPr/>
        </p:nvSpPr>
        <p:spPr>
          <a:xfrm>
            <a:off x="8321040" y="4709160"/>
            <a:ext cx="457200" cy="32004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chemeClr val="dk1"/>
              </a:buClr>
              <a:buSzPts val="1000"/>
              <a:buFont typeface="Calibri"/>
              <a:buNone/>
            </a:pPr>
            <a:r>
              <a:t/>
            </a:r>
            <a:endParaRPr b="0" i="0" sz="1000" u="none" cap="none" strike="noStrike">
              <a:solidFill>
                <a:schemeClr val="dk1"/>
              </a:solidFill>
              <a:latin typeface="Calibri"/>
              <a:ea typeface="Calibri"/>
              <a:cs typeface="Calibri"/>
              <a:sym typeface="Calibri"/>
            </a:endParaRPr>
          </a:p>
        </p:txBody>
      </p:sp>
      <p:sp>
        <p:nvSpPr>
          <p:cNvPr id="724" name="Google Shape;724;p14"/>
          <p:cNvSpPr/>
          <p:nvPr/>
        </p:nvSpPr>
        <p:spPr>
          <a:xfrm>
            <a:off x="457200" y="914400"/>
            <a:ext cx="2377440" cy="530352"/>
          </a:xfrm>
          <a:prstGeom prst="rect">
            <a:avLst/>
          </a:prstGeom>
          <a:solidFill>
            <a:srgbClr val="1A274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25" name="Google Shape;725;p14"/>
          <p:cNvSpPr/>
          <p:nvPr/>
        </p:nvSpPr>
        <p:spPr>
          <a:xfrm>
            <a:off x="548640" y="914400"/>
            <a:ext cx="2194560" cy="53035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000"/>
              <a:buFont typeface="Calibri"/>
              <a:buNone/>
            </a:pPr>
            <a:r>
              <a:rPr b="1" i="0" lang="en-US" sz="1000" u="none" cap="none" strike="noStrike">
                <a:solidFill>
                  <a:srgbClr val="FFFFFF"/>
                </a:solidFill>
                <a:latin typeface="Gill Sans"/>
                <a:ea typeface="Gill Sans"/>
                <a:cs typeface="Gill Sans"/>
                <a:sym typeface="Gill Sans"/>
              </a:rPr>
              <a:t>Data Gathering &amp;</a:t>
            </a:r>
            <a:endParaRPr b="0" i="0" sz="1000" u="none" cap="none" strike="noStrike">
              <a:solidFill>
                <a:schemeClr val="dk1"/>
              </a:solidFill>
              <a:latin typeface="Gill Sans"/>
              <a:ea typeface="Gill Sans"/>
              <a:cs typeface="Gill Sans"/>
              <a:sym typeface="Gill Sans"/>
            </a:endParaRPr>
          </a:p>
          <a:p>
            <a:pPr indent="0" lvl="0" marL="0" marR="0" rtl="0" algn="l">
              <a:lnSpc>
                <a:spcPct val="100000"/>
              </a:lnSpc>
              <a:spcBef>
                <a:spcPts val="0"/>
              </a:spcBef>
              <a:spcAft>
                <a:spcPts val="0"/>
              </a:spcAft>
              <a:buClr>
                <a:srgbClr val="FFFFFF"/>
              </a:buClr>
              <a:buSzPts val="1000"/>
              <a:buFont typeface="Calibri"/>
              <a:buNone/>
            </a:pPr>
            <a:r>
              <a:rPr b="1" i="0" lang="en-US" sz="1000" u="none" cap="none" strike="noStrike">
                <a:solidFill>
                  <a:srgbClr val="FFFFFF"/>
                </a:solidFill>
                <a:latin typeface="Gill Sans"/>
                <a:ea typeface="Gill Sans"/>
                <a:cs typeface="Gill Sans"/>
                <a:sym typeface="Gill Sans"/>
              </a:rPr>
              <a:t>Stakeholder Consultation</a:t>
            </a:r>
            <a:endParaRPr b="0" i="0" sz="1000" u="none" cap="none" strike="noStrike">
              <a:solidFill>
                <a:schemeClr val="dk1"/>
              </a:solidFill>
              <a:latin typeface="Gill Sans"/>
              <a:ea typeface="Gill Sans"/>
              <a:cs typeface="Gill Sans"/>
              <a:sym typeface="Gill Sans"/>
            </a:endParaRPr>
          </a:p>
        </p:txBody>
      </p:sp>
      <p:sp>
        <p:nvSpPr>
          <p:cNvPr id="726" name="Google Shape;726;p14"/>
          <p:cNvSpPr/>
          <p:nvPr/>
        </p:nvSpPr>
        <p:spPr>
          <a:xfrm>
            <a:off x="2971800" y="1005840"/>
            <a:ext cx="868680" cy="347472"/>
          </a:xfrm>
          <a:prstGeom prst="rect">
            <a:avLst/>
          </a:prstGeom>
          <a:solidFill>
            <a:srgbClr val="E8A83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27" name="Google Shape;727;p14"/>
          <p:cNvSpPr/>
          <p:nvPr/>
        </p:nvSpPr>
        <p:spPr>
          <a:xfrm>
            <a:off x="2971800" y="1005840"/>
            <a:ext cx="868680" cy="34747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A2744"/>
              </a:buClr>
              <a:buSzPts val="1000"/>
              <a:buFont typeface="Calibri"/>
              <a:buNone/>
            </a:pPr>
            <a:r>
              <a:rPr b="1" i="0" lang="en-US" sz="1000" u="none" cap="none" strike="noStrike">
                <a:solidFill>
                  <a:srgbClr val="1A2744"/>
                </a:solidFill>
                <a:latin typeface="Calibri"/>
                <a:ea typeface="Calibri"/>
                <a:cs typeface="Calibri"/>
                <a:sym typeface="Calibri"/>
              </a:rPr>
              <a:t>8–10 hrs</a:t>
            </a:r>
            <a:endParaRPr b="0" i="0" sz="1000" u="none" cap="none" strike="noStrike">
              <a:solidFill>
                <a:schemeClr val="dk1"/>
              </a:solidFill>
              <a:latin typeface="Calibri"/>
              <a:ea typeface="Calibri"/>
              <a:cs typeface="Calibri"/>
              <a:sym typeface="Calibri"/>
            </a:endParaRPr>
          </a:p>
        </p:txBody>
      </p:sp>
      <p:sp>
        <p:nvSpPr>
          <p:cNvPr id="728" name="Google Shape;728;p14"/>
          <p:cNvSpPr/>
          <p:nvPr/>
        </p:nvSpPr>
        <p:spPr>
          <a:xfrm>
            <a:off x="4023360" y="914400"/>
            <a:ext cx="4663440" cy="53035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2C3E50"/>
                </a:solidFill>
                <a:latin typeface="Gill Sans"/>
                <a:ea typeface="Gill Sans"/>
                <a:cs typeface="Gill Sans"/>
                <a:sym typeface="Gill Sans"/>
              </a:rPr>
              <a:t>Stakeholder meetings with all seven teams identified in this proposal. Collect flight schedules, processing time data, staffing levels, disruption frequency, infrastructure specifications</a:t>
            </a:r>
            <a:endParaRPr b="0" i="0" sz="1000" u="none" cap="none" strike="noStrike">
              <a:solidFill>
                <a:schemeClr val="dk1"/>
              </a:solidFill>
              <a:latin typeface="Gill Sans"/>
              <a:ea typeface="Gill Sans"/>
              <a:cs typeface="Gill Sans"/>
              <a:sym typeface="Gill Sans"/>
            </a:endParaRPr>
          </a:p>
        </p:txBody>
      </p:sp>
      <p:sp>
        <p:nvSpPr>
          <p:cNvPr id="729" name="Google Shape;729;p14"/>
          <p:cNvSpPr/>
          <p:nvPr/>
        </p:nvSpPr>
        <p:spPr>
          <a:xfrm>
            <a:off x="457200" y="1536192"/>
            <a:ext cx="2377440" cy="530352"/>
          </a:xfrm>
          <a:prstGeom prst="rect">
            <a:avLst/>
          </a:prstGeom>
          <a:solidFill>
            <a:srgbClr val="0D737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30" name="Google Shape;730;p14"/>
          <p:cNvSpPr/>
          <p:nvPr/>
        </p:nvSpPr>
        <p:spPr>
          <a:xfrm>
            <a:off x="548640" y="1536192"/>
            <a:ext cx="2194560" cy="53035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000"/>
              <a:buFont typeface="Calibri"/>
              <a:buNone/>
            </a:pPr>
            <a:r>
              <a:rPr b="1" i="0" lang="en-US" sz="1000" u="none" cap="none" strike="noStrike">
                <a:solidFill>
                  <a:srgbClr val="FFFFFF"/>
                </a:solidFill>
                <a:latin typeface="Gill Sans"/>
                <a:ea typeface="Gill Sans"/>
                <a:cs typeface="Gill Sans"/>
                <a:sym typeface="Gill Sans"/>
              </a:rPr>
              <a:t>Data Cleaning,</a:t>
            </a:r>
            <a:endParaRPr b="0" i="0" sz="1000" u="none" cap="none" strike="noStrike">
              <a:solidFill>
                <a:schemeClr val="dk1"/>
              </a:solidFill>
              <a:latin typeface="Gill Sans"/>
              <a:ea typeface="Gill Sans"/>
              <a:cs typeface="Gill Sans"/>
              <a:sym typeface="Gill Sans"/>
            </a:endParaRPr>
          </a:p>
          <a:p>
            <a:pPr indent="0" lvl="0" marL="0" marR="0" rtl="0" algn="l">
              <a:lnSpc>
                <a:spcPct val="100000"/>
              </a:lnSpc>
              <a:spcBef>
                <a:spcPts val="0"/>
              </a:spcBef>
              <a:spcAft>
                <a:spcPts val="0"/>
              </a:spcAft>
              <a:buClr>
                <a:srgbClr val="FFFFFF"/>
              </a:buClr>
              <a:buSzPts val="1000"/>
              <a:buFont typeface="Calibri"/>
              <a:buNone/>
            </a:pPr>
            <a:r>
              <a:rPr b="1" i="0" lang="en-US" sz="1000" u="none" cap="none" strike="noStrike">
                <a:solidFill>
                  <a:srgbClr val="FFFFFF"/>
                </a:solidFill>
                <a:latin typeface="Gill Sans"/>
                <a:ea typeface="Gill Sans"/>
                <a:cs typeface="Gill Sans"/>
                <a:sym typeface="Gill Sans"/>
              </a:rPr>
              <a:t>Validation &amp; Preparation</a:t>
            </a:r>
            <a:endParaRPr b="0" i="0" sz="1000" u="none" cap="none" strike="noStrike">
              <a:solidFill>
                <a:schemeClr val="dk1"/>
              </a:solidFill>
              <a:latin typeface="Gill Sans"/>
              <a:ea typeface="Gill Sans"/>
              <a:cs typeface="Gill Sans"/>
              <a:sym typeface="Gill Sans"/>
            </a:endParaRPr>
          </a:p>
        </p:txBody>
      </p:sp>
      <p:sp>
        <p:nvSpPr>
          <p:cNvPr id="731" name="Google Shape;731;p14"/>
          <p:cNvSpPr/>
          <p:nvPr/>
        </p:nvSpPr>
        <p:spPr>
          <a:xfrm>
            <a:off x="2971800" y="1627632"/>
            <a:ext cx="868680" cy="347472"/>
          </a:xfrm>
          <a:prstGeom prst="rect">
            <a:avLst/>
          </a:prstGeom>
          <a:solidFill>
            <a:srgbClr val="E8A83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32" name="Google Shape;732;p14"/>
          <p:cNvSpPr/>
          <p:nvPr/>
        </p:nvSpPr>
        <p:spPr>
          <a:xfrm>
            <a:off x="2971800" y="1627632"/>
            <a:ext cx="868680" cy="34747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A2744"/>
              </a:buClr>
              <a:buSzPts val="1000"/>
              <a:buFont typeface="Calibri"/>
              <a:buNone/>
            </a:pPr>
            <a:r>
              <a:rPr b="1" i="0" lang="en-US" sz="1000" u="none" cap="none" strike="noStrike">
                <a:solidFill>
                  <a:srgbClr val="1A2744"/>
                </a:solidFill>
                <a:latin typeface="Calibri"/>
                <a:ea typeface="Calibri"/>
                <a:cs typeface="Calibri"/>
                <a:sym typeface="Calibri"/>
              </a:rPr>
              <a:t>6–8 hrs</a:t>
            </a:r>
            <a:endParaRPr b="0" i="0" sz="1000" u="none" cap="none" strike="noStrike">
              <a:solidFill>
                <a:schemeClr val="dk1"/>
              </a:solidFill>
              <a:latin typeface="Calibri"/>
              <a:ea typeface="Calibri"/>
              <a:cs typeface="Calibri"/>
              <a:sym typeface="Calibri"/>
            </a:endParaRPr>
          </a:p>
        </p:txBody>
      </p:sp>
      <p:sp>
        <p:nvSpPr>
          <p:cNvPr id="733" name="Google Shape;733;p14"/>
          <p:cNvSpPr/>
          <p:nvPr/>
        </p:nvSpPr>
        <p:spPr>
          <a:xfrm>
            <a:off x="4023360" y="1536192"/>
            <a:ext cx="4663440" cy="53035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2C3E50"/>
                </a:solidFill>
                <a:latin typeface="Gill Sans"/>
                <a:ea typeface="Gill Sans"/>
                <a:cs typeface="Gill Sans"/>
                <a:sym typeface="Gill Sans"/>
              </a:rPr>
              <a:t>Clean and format collected data into simulation ready inputs. </a:t>
            </a:r>
            <a:endParaRPr b="0" i="0" sz="1400" u="none" cap="none" strike="noStrike">
              <a:solidFill>
                <a:srgbClr val="000000"/>
              </a:solidFill>
              <a:latin typeface="Gill Sans"/>
              <a:ea typeface="Gill Sans"/>
              <a:cs typeface="Gill Sans"/>
              <a:sym typeface="Gill Sans"/>
            </a:endParaRPr>
          </a:p>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2C3E50"/>
                </a:solidFill>
                <a:latin typeface="Gill Sans"/>
                <a:ea typeface="Gill Sans"/>
                <a:cs typeface="Gill Sans"/>
                <a:sym typeface="Gill Sans"/>
              </a:rPr>
              <a:t>Build flight schedule profiles and define probability distributions for processing times and set up passenger attribute logic.</a:t>
            </a:r>
            <a:endParaRPr b="0" i="0" sz="1000" u="none" cap="none" strike="noStrike">
              <a:solidFill>
                <a:schemeClr val="dk1"/>
              </a:solidFill>
              <a:latin typeface="Gill Sans"/>
              <a:ea typeface="Gill Sans"/>
              <a:cs typeface="Gill Sans"/>
              <a:sym typeface="Gill Sans"/>
            </a:endParaRPr>
          </a:p>
        </p:txBody>
      </p:sp>
      <p:sp>
        <p:nvSpPr>
          <p:cNvPr id="734" name="Google Shape;734;p14"/>
          <p:cNvSpPr/>
          <p:nvPr/>
        </p:nvSpPr>
        <p:spPr>
          <a:xfrm>
            <a:off x="457200" y="2157984"/>
            <a:ext cx="2377440" cy="530352"/>
          </a:xfrm>
          <a:prstGeom prst="rect">
            <a:avLst/>
          </a:prstGeom>
          <a:solidFill>
            <a:srgbClr val="1A274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35" name="Google Shape;735;p14"/>
          <p:cNvSpPr/>
          <p:nvPr/>
        </p:nvSpPr>
        <p:spPr>
          <a:xfrm>
            <a:off x="548640" y="2157984"/>
            <a:ext cx="2194560" cy="53035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000"/>
              <a:buFont typeface="Calibri"/>
              <a:buNone/>
            </a:pPr>
            <a:r>
              <a:rPr b="1" i="0" lang="en-US" sz="1000" u="none" cap="none" strike="noStrike">
                <a:solidFill>
                  <a:srgbClr val="FFFFFF"/>
                </a:solidFill>
                <a:latin typeface="Gill Sans"/>
                <a:ea typeface="Gill Sans"/>
                <a:cs typeface="Gill Sans"/>
                <a:sym typeface="Gill Sans"/>
              </a:rPr>
              <a:t>Model Build</a:t>
            </a:r>
            <a:endParaRPr b="0" i="0" sz="1000" u="none" cap="none" strike="noStrike">
              <a:solidFill>
                <a:schemeClr val="dk1"/>
              </a:solidFill>
              <a:latin typeface="Gill Sans"/>
              <a:ea typeface="Gill Sans"/>
              <a:cs typeface="Gill Sans"/>
              <a:sym typeface="Gill Sans"/>
            </a:endParaRPr>
          </a:p>
          <a:p>
            <a:pPr indent="0" lvl="0" marL="0" marR="0" rtl="0" algn="l">
              <a:lnSpc>
                <a:spcPct val="100000"/>
              </a:lnSpc>
              <a:spcBef>
                <a:spcPts val="0"/>
              </a:spcBef>
              <a:spcAft>
                <a:spcPts val="0"/>
              </a:spcAft>
              <a:buClr>
                <a:srgbClr val="FFFFFF"/>
              </a:buClr>
              <a:buSzPts val="1000"/>
              <a:buFont typeface="Calibri"/>
              <a:buNone/>
            </a:pPr>
            <a:r>
              <a:rPr b="1" i="0" lang="en-US" sz="1000" u="none" cap="none" strike="noStrike">
                <a:solidFill>
                  <a:srgbClr val="FFFFFF"/>
                </a:solidFill>
                <a:latin typeface="Gill Sans"/>
                <a:ea typeface="Gill Sans"/>
                <a:cs typeface="Gill Sans"/>
                <a:sym typeface="Gill Sans"/>
              </a:rPr>
              <a:t>in AirTOP/CAST</a:t>
            </a:r>
            <a:endParaRPr b="0" i="0" sz="1000" u="none" cap="none" strike="noStrike">
              <a:solidFill>
                <a:schemeClr val="dk1"/>
              </a:solidFill>
              <a:latin typeface="Gill Sans"/>
              <a:ea typeface="Gill Sans"/>
              <a:cs typeface="Gill Sans"/>
              <a:sym typeface="Gill Sans"/>
            </a:endParaRPr>
          </a:p>
        </p:txBody>
      </p:sp>
      <p:sp>
        <p:nvSpPr>
          <p:cNvPr id="736" name="Google Shape;736;p14"/>
          <p:cNvSpPr/>
          <p:nvPr/>
        </p:nvSpPr>
        <p:spPr>
          <a:xfrm>
            <a:off x="2971800" y="2249424"/>
            <a:ext cx="868680" cy="347472"/>
          </a:xfrm>
          <a:prstGeom prst="rect">
            <a:avLst/>
          </a:prstGeom>
          <a:solidFill>
            <a:srgbClr val="E8A83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37" name="Google Shape;737;p14"/>
          <p:cNvSpPr/>
          <p:nvPr/>
        </p:nvSpPr>
        <p:spPr>
          <a:xfrm>
            <a:off x="2971800" y="2249424"/>
            <a:ext cx="868680" cy="34747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A2744"/>
              </a:buClr>
              <a:buSzPts val="1000"/>
              <a:buFont typeface="Calibri"/>
              <a:buNone/>
            </a:pPr>
            <a:r>
              <a:rPr b="1" i="0" lang="en-US" sz="1000" u="none" cap="none" strike="noStrike">
                <a:solidFill>
                  <a:srgbClr val="1A2744"/>
                </a:solidFill>
                <a:latin typeface="Calibri"/>
                <a:ea typeface="Calibri"/>
                <a:cs typeface="Calibri"/>
                <a:sym typeface="Calibri"/>
              </a:rPr>
              <a:t>15–20 hrs</a:t>
            </a:r>
            <a:endParaRPr b="0" i="0" sz="1000" u="none" cap="none" strike="noStrike">
              <a:solidFill>
                <a:schemeClr val="dk1"/>
              </a:solidFill>
              <a:latin typeface="Calibri"/>
              <a:ea typeface="Calibri"/>
              <a:cs typeface="Calibri"/>
              <a:sym typeface="Calibri"/>
            </a:endParaRPr>
          </a:p>
        </p:txBody>
      </p:sp>
      <p:sp>
        <p:nvSpPr>
          <p:cNvPr id="738" name="Google Shape;738;p14"/>
          <p:cNvSpPr/>
          <p:nvPr/>
        </p:nvSpPr>
        <p:spPr>
          <a:xfrm>
            <a:off x="4023360" y="2157984"/>
            <a:ext cx="4663440" cy="58521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2C3E50"/>
                </a:solidFill>
                <a:latin typeface="Gill Sans"/>
                <a:ea typeface="Gill Sans"/>
                <a:cs typeface="Gill Sans"/>
                <a:sym typeface="Gill Sans"/>
              </a:rPr>
              <a:t>Constructing the layout: </a:t>
            </a:r>
            <a:endParaRPr b="0" i="0" sz="1400" u="none" cap="none" strike="noStrike">
              <a:solidFill>
                <a:srgbClr val="000000"/>
              </a:solidFill>
              <a:latin typeface="Gill Sans"/>
              <a:ea typeface="Gill Sans"/>
              <a:cs typeface="Gill Sans"/>
              <a:sym typeface="Gill Sans"/>
            </a:endParaRPr>
          </a:p>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2C3E50"/>
                </a:solidFill>
                <a:latin typeface="Gill Sans"/>
                <a:ea typeface="Gill Sans"/>
                <a:cs typeface="Gill Sans"/>
                <a:sym typeface="Gill Sans"/>
              </a:rPr>
              <a:t>Immigration hall with three passport control lanes, serpentine queue, buffer zone, baggage reclaim with three belts</a:t>
            </a:r>
            <a:endParaRPr b="0" i="0" sz="1400" u="none" cap="none" strike="noStrike">
              <a:solidFill>
                <a:srgbClr val="000000"/>
              </a:solidFill>
              <a:latin typeface="Gill Sans"/>
              <a:ea typeface="Gill Sans"/>
              <a:cs typeface="Gill Sans"/>
              <a:sym typeface="Gill Sans"/>
            </a:endParaRPr>
          </a:p>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2C3E50"/>
                </a:solidFill>
                <a:latin typeface="Gill Sans"/>
                <a:ea typeface="Gill Sans"/>
                <a:cs typeface="Gill Sans"/>
                <a:sym typeface="Gill Sans"/>
              </a:rPr>
              <a:t>Define all passenger flow paths, routing conditions, entity attributes.</a:t>
            </a:r>
            <a:endParaRPr b="0" i="0" sz="1000" u="none" cap="none" strike="noStrike">
              <a:solidFill>
                <a:schemeClr val="dk1"/>
              </a:solidFill>
              <a:latin typeface="Gill Sans"/>
              <a:ea typeface="Gill Sans"/>
              <a:cs typeface="Gill Sans"/>
              <a:sym typeface="Gill Sans"/>
            </a:endParaRPr>
          </a:p>
        </p:txBody>
      </p:sp>
      <p:sp>
        <p:nvSpPr>
          <p:cNvPr id="739" name="Google Shape;739;p14"/>
          <p:cNvSpPr/>
          <p:nvPr/>
        </p:nvSpPr>
        <p:spPr>
          <a:xfrm>
            <a:off x="457200" y="2779776"/>
            <a:ext cx="2377440" cy="530352"/>
          </a:xfrm>
          <a:prstGeom prst="rect">
            <a:avLst/>
          </a:prstGeom>
          <a:solidFill>
            <a:srgbClr val="0D737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40" name="Google Shape;740;p14"/>
          <p:cNvSpPr/>
          <p:nvPr/>
        </p:nvSpPr>
        <p:spPr>
          <a:xfrm>
            <a:off x="548640" y="2779776"/>
            <a:ext cx="2194560" cy="53035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000"/>
              <a:buFont typeface="Calibri"/>
              <a:buNone/>
            </a:pPr>
            <a:r>
              <a:rPr b="1" i="0" lang="en-US" sz="1000" u="none" cap="none" strike="noStrike">
                <a:solidFill>
                  <a:srgbClr val="FFFFFF"/>
                </a:solidFill>
                <a:latin typeface="Gill Sans"/>
                <a:ea typeface="Gill Sans"/>
                <a:cs typeface="Gill Sans"/>
                <a:sym typeface="Gill Sans"/>
              </a:rPr>
              <a:t>Calibration</a:t>
            </a:r>
            <a:endParaRPr b="0" i="0" sz="1000" u="none" cap="none" strike="noStrike">
              <a:solidFill>
                <a:schemeClr val="dk1"/>
              </a:solidFill>
              <a:latin typeface="Gill Sans"/>
              <a:ea typeface="Gill Sans"/>
              <a:cs typeface="Gill Sans"/>
              <a:sym typeface="Gill Sans"/>
            </a:endParaRPr>
          </a:p>
          <a:p>
            <a:pPr indent="0" lvl="0" marL="0" marR="0" rtl="0" algn="l">
              <a:lnSpc>
                <a:spcPct val="100000"/>
              </a:lnSpc>
              <a:spcBef>
                <a:spcPts val="0"/>
              </a:spcBef>
              <a:spcAft>
                <a:spcPts val="0"/>
              </a:spcAft>
              <a:buClr>
                <a:srgbClr val="FFFFFF"/>
              </a:buClr>
              <a:buSzPts val="1000"/>
              <a:buFont typeface="Calibri"/>
              <a:buNone/>
            </a:pPr>
            <a:r>
              <a:rPr b="1" i="0" lang="en-US" sz="1000" u="none" cap="none" strike="noStrike">
                <a:solidFill>
                  <a:srgbClr val="FFFFFF"/>
                </a:solidFill>
                <a:latin typeface="Gill Sans"/>
                <a:ea typeface="Gill Sans"/>
                <a:cs typeface="Gill Sans"/>
                <a:sym typeface="Gill Sans"/>
              </a:rPr>
              <a:t>&amp; Validation</a:t>
            </a:r>
            <a:endParaRPr b="0" i="0" sz="1000" u="none" cap="none" strike="noStrike">
              <a:solidFill>
                <a:schemeClr val="dk1"/>
              </a:solidFill>
              <a:latin typeface="Gill Sans"/>
              <a:ea typeface="Gill Sans"/>
              <a:cs typeface="Gill Sans"/>
              <a:sym typeface="Gill Sans"/>
            </a:endParaRPr>
          </a:p>
        </p:txBody>
      </p:sp>
      <p:sp>
        <p:nvSpPr>
          <p:cNvPr id="741" name="Google Shape;741;p14"/>
          <p:cNvSpPr/>
          <p:nvPr/>
        </p:nvSpPr>
        <p:spPr>
          <a:xfrm>
            <a:off x="2971800" y="2871216"/>
            <a:ext cx="868680" cy="347472"/>
          </a:xfrm>
          <a:prstGeom prst="rect">
            <a:avLst/>
          </a:prstGeom>
          <a:solidFill>
            <a:srgbClr val="E8A83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42" name="Google Shape;742;p14"/>
          <p:cNvSpPr/>
          <p:nvPr/>
        </p:nvSpPr>
        <p:spPr>
          <a:xfrm>
            <a:off x="2971800" y="2871216"/>
            <a:ext cx="868680" cy="34747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A2744"/>
              </a:buClr>
              <a:buSzPts val="1000"/>
              <a:buFont typeface="Calibri"/>
              <a:buNone/>
            </a:pPr>
            <a:r>
              <a:rPr b="1" i="0" lang="en-US" sz="1000" u="none" cap="none" strike="noStrike">
                <a:solidFill>
                  <a:srgbClr val="1A2744"/>
                </a:solidFill>
                <a:latin typeface="Calibri"/>
                <a:ea typeface="Calibri"/>
                <a:cs typeface="Calibri"/>
                <a:sym typeface="Calibri"/>
              </a:rPr>
              <a:t>5–8 hrs</a:t>
            </a:r>
            <a:endParaRPr b="0" i="0" sz="1000" u="none" cap="none" strike="noStrike">
              <a:solidFill>
                <a:schemeClr val="dk1"/>
              </a:solidFill>
              <a:latin typeface="Calibri"/>
              <a:ea typeface="Calibri"/>
              <a:cs typeface="Calibri"/>
              <a:sym typeface="Calibri"/>
            </a:endParaRPr>
          </a:p>
        </p:txBody>
      </p:sp>
      <p:sp>
        <p:nvSpPr>
          <p:cNvPr id="743" name="Google Shape;743;p14"/>
          <p:cNvSpPr/>
          <p:nvPr/>
        </p:nvSpPr>
        <p:spPr>
          <a:xfrm>
            <a:off x="4023360" y="2779776"/>
            <a:ext cx="4663440" cy="53035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93B"/>
              </a:buClr>
              <a:buSzPts val="1000"/>
              <a:buFont typeface="Calibri"/>
              <a:buNone/>
            </a:pPr>
            <a:r>
              <a:rPr b="0" i="0" lang="en-US" sz="1000" u="none" cap="none" strike="noStrike">
                <a:solidFill>
                  <a:srgbClr val="1E293B"/>
                </a:solidFill>
                <a:latin typeface="Gill Sans"/>
                <a:ea typeface="Gill Sans"/>
                <a:cs typeface="Gill Sans"/>
                <a:sym typeface="Gill Sans"/>
              </a:rPr>
              <a:t>Running model against known scenarios. Comparing outputs with real world observations. Tune parameters.</a:t>
            </a:r>
            <a:endParaRPr b="0" i="0" sz="1000" u="none" cap="none" strike="noStrike">
              <a:solidFill>
                <a:schemeClr val="dk1"/>
              </a:solidFill>
              <a:latin typeface="Gill Sans"/>
              <a:ea typeface="Gill Sans"/>
              <a:cs typeface="Gill Sans"/>
              <a:sym typeface="Gill Sans"/>
            </a:endParaRPr>
          </a:p>
        </p:txBody>
      </p:sp>
      <p:sp>
        <p:nvSpPr>
          <p:cNvPr id="744" name="Google Shape;744;p14"/>
          <p:cNvSpPr/>
          <p:nvPr/>
        </p:nvSpPr>
        <p:spPr>
          <a:xfrm>
            <a:off x="457200" y="3401568"/>
            <a:ext cx="2377440" cy="530352"/>
          </a:xfrm>
          <a:prstGeom prst="rect">
            <a:avLst/>
          </a:prstGeom>
          <a:solidFill>
            <a:srgbClr val="1A274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45" name="Google Shape;745;p14"/>
          <p:cNvSpPr/>
          <p:nvPr/>
        </p:nvSpPr>
        <p:spPr>
          <a:xfrm>
            <a:off x="548640" y="3401568"/>
            <a:ext cx="2194560" cy="53035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000"/>
              <a:buFont typeface="Calibri"/>
              <a:buNone/>
            </a:pPr>
            <a:r>
              <a:rPr b="1" i="0" lang="en-US" sz="1000" u="none" cap="none" strike="noStrike">
                <a:solidFill>
                  <a:srgbClr val="FFFFFF"/>
                </a:solidFill>
                <a:latin typeface="Gill Sans"/>
                <a:ea typeface="Gill Sans"/>
                <a:cs typeface="Gill Sans"/>
                <a:sym typeface="Gill Sans"/>
              </a:rPr>
              <a:t>Scenario Testing</a:t>
            </a:r>
            <a:endParaRPr b="0" i="0" sz="1000" u="none" cap="none" strike="noStrike">
              <a:solidFill>
                <a:schemeClr val="dk1"/>
              </a:solidFill>
              <a:latin typeface="Gill Sans"/>
              <a:ea typeface="Gill Sans"/>
              <a:cs typeface="Gill Sans"/>
              <a:sym typeface="Gill Sans"/>
            </a:endParaRPr>
          </a:p>
          <a:p>
            <a:pPr indent="0" lvl="0" marL="0" marR="0" rtl="0" algn="l">
              <a:lnSpc>
                <a:spcPct val="100000"/>
              </a:lnSpc>
              <a:spcBef>
                <a:spcPts val="0"/>
              </a:spcBef>
              <a:spcAft>
                <a:spcPts val="0"/>
              </a:spcAft>
              <a:buClr>
                <a:srgbClr val="FFFFFF"/>
              </a:buClr>
              <a:buSzPts val="1000"/>
              <a:buFont typeface="Calibri"/>
              <a:buNone/>
            </a:pPr>
            <a:r>
              <a:rPr b="1" i="0" lang="en-US" sz="1000" u="none" cap="none" strike="noStrike">
                <a:solidFill>
                  <a:srgbClr val="FFFFFF"/>
                </a:solidFill>
                <a:latin typeface="Gill Sans"/>
                <a:ea typeface="Gill Sans"/>
                <a:cs typeface="Gill Sans"/>
                <a:sym typeface="Gill Sans"/>
              </a:rPr>
              <a:t>&amp; Analysis</a:t>
            </a:r>
            <a:endParaRPr b="0" i="0" sz="1000" u="none" cap="none" strike="noStrike">
              <a:solidFill>
                <a:schemeClr val="dk1"/>
              </a:solidFill>
              <a:latin typeface="Gill Sans"/>
              <a:ea typeface="Gill Sans"/>
              <a:cs typeface="Gill Sans"/>
              <a:sym typeface="Gill Sans"/>
            </a:endParaRPr>
          </a:p>
        </p:txBody>
      </p:sp>
      <p:sp>
        <p:nvSpPr>
          <p:cNvPr id="746" name="Google Shape;746;p14"/>
          <p:cNvSpPr/>
          <p:nvPr/>
        </p:nvSpPr>
        <p:spPr>
          <a:xfrm>
            <a:off x="2971800" y="3493008"/>
            <a:ext cx="868680" cy="347472"/>
          </a:xfrm>
          <a:prstGeom prst="rect">
            <a:avLst/>
          </a:prstGeom>
          <a:solidFill>
            <a:srgbClr val="E8A83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47" name="Google Shape;747;p14"/>
          <p:cNvSpPr/>
          <p:nvPr/>
        </p:nvSpPr>
        <p:spPr>
          <a:xfrm>
            <a:off x="2971800" y="3493008"/>
            <a:ext cx="868680" cy="34747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A2744"/>
              </a:buClr>
              <a:buSzPts val="1000"/>
              <a:buFont typeface="Calibri"/>
              <a:buNone/>
            </a:pPr>
            <a:r>
              <a:rPr b="1" i="0" lang="en-US" sz="1000" u="none" cap="none" strike="noStrike">
                <a:solidFill>
                  <a:srgbClr val="1A2744"/>
                </a:solidFill>
                <a:latin typeface="Calibri"/>
                <a:ea typeface="Calibri"/>
                <a:cs typeface="Calibri"/>
                <a:sym typeface="Calibri"/>
              </a:rPr>
              <a:t>8–10 hrs</a:t>
            </a:r>
            <a:endParaRPr b="0" i="0" sz="1000" u="none" cap="none" strike="noStrike">
              <a:solidFill>
                <a:schemeClr val="dk1"/>
              </a:solidFill>
              <a:latin typeface="Calibri"/>
              <a:ea typeface="Calibri"/>
              <a:cs typeface="Calibri"/>
              <a:sym typeface="Calibri"/>
            </a:endParaRPr>
          </a:p>
        </p:txBody>
      </p:sp>
      <p:sp>
        <p:nvSpPr>
          <p:cNvPr id="748" name="Google Shape;748;p14"/>
          <p:cNvSpPr/>
          <p:nvPr/>
        </p:nvSpPr>
        <p:spPr>
          <a:xfrm>
            <a:off x="4023360" y="3401568"/>
            <a:ext cx="4663440" cy="53035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93B"/>
              </a:buClr>
              <a:buSzPts val="1000"/>
              <a:buFont typeface="Calibri"/>
              <a:buNone/>
            </a:pPr>
            <a:r>
              <a:rPr b="0" i="0" lang="en-US" sz="1000" u="none" cap="none" strike="noStrike">
                <a:solidFill>
                  <a:srgbClr val="1E293B"/>
                </a:solidFill>
                <a:latin typeface="Gill Sans"/>
                <a:ea typeface="Gill Sans"/>
                <a:cs typeface="Gill Sans"/>
                <a:sym typeface="Gill Sans"/>
              </a:rPr>
              <a:t>Execute all 7 scenarios. Capture KPIs. Identify patterns, bottlenecks design sensitivities.</a:t>
            </a:r>
            <a:endParaRPr b="0" i="0" sz="1000" u="none" cap="none" strike="noStrike">
              <a:solidFill>
                <a:schemeClr val="dk1"/>
              </a:solidFill>
              <a:latin typeface="Gill Sans"/>
              <a:ea typeface="Gill Sans"/>
              <a:cs typeface="Gill Sans"/>
              <a:sym typeface="Gill Sans"/>
            </a:endParaRPr>
          </a:p>
        </p:txBody>
      </p:sp>
      <p:sp>
        <p:nvSpPr>
          <p:cNvPr id="749" name="Google Shape;749;p14"/>
          <p:cNvSpPr/>
          <p:nvPr/>
        </p:nvSpPr>
        <p:spPr>
          <a:xfrm>
            <a:off x="457200" y="4023360"/>
            <a:ext cx="2377440" cy="530352"/>
          </a:xfrm>
          <a:prstGeom prst="rect">
            <a:avLst/>
          </a:prstGeom>
          <a:solidFill>
            <a:srgbClr val="0D737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50" name="Google Shape;750;p14"/>
          <p:cNvSpPr/>
          <p:nvPr/>
        </p:nvSpPr>
        <p:spPr>
          <a:xfrm>
            <a:off x="548640" y="4023360"/>
            <a:ext cx="2194560" cy="53035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000"/>
              <a:buFont typeface="Calibri"/>
              <a:buNone/>
            </a:pPr>
            <a:r>
              <a:rPr b="1" i="0" lang="en-US" sz="1000" u="none" cap="none" strike="noStrike">
                <a:solidFill>
                  <a:srgbClr val="FFFFFF"/>
                </a:solidFill>
                <a:latin typeface="Gill Sans"/>
                <a:ea typeface="Gill Sans"/>
                <a:cs typeface="Gill Sans"/>
                <a:sym typeface="Gill Sans"/>
              </a:rPr>
              <a:t>Insight Generation</a:t>
            </a:r>
            <a:endParaRPr b="0" i="0" sz="1000" u="none" cap="none" strike="noStrike">
              <a:solidFill>
                <a:schemeClr val="dk1"/>
              </a:solidFill>
              <a:latin typeface="Gill Sans"/>
              <a:ea typeface="Gill Sans"/>
              <a:cs typeface="Gill Sans"/>
              <a:sym typeface="Gill Sans"/>
            </a:endParaRPr>
          </a:p>
          <a:p>
            <a:pPr indent="0" lvl="0" marL="0" marR="0" rtl="0" algn="l">
              <a:lnSpc>
                <a:spcPct val="100000"/>
              </a:lnSpc>
              <a:spcBef>
                <a:spcPts val="0"/>
              </a:spcBef>
              <a:spcAft>
                <a:spcPts val="0"/>
              </a:spcAft>
              <a:buClr>
                <a:srgbClr val="FFFFFF"/>
              </a:buClr>
              <a:buSzPts val="1000"/>
              <a:buFont typeface="Calibri"/>
              <a:buNone/>
            </a:pPr>
            <a:r>
              <a:rPr b="1" i="0" lang="en-US" sz="1000" u="none" cap="none" strike="noStrike">
                <a:solidFill>
                  <a:srgbClr val="FFFFFF"/>
                </a:solidFill>
                <a:latin typeface="Gill Sans"/>
                <a:ea typeface="Gill Sans"/>
                <a:cs typeface="Gill Sans"/>
                <a:sym typeface="Gill Sans"/>
              </a:rPr>
              <a:t>&amp; Presentation</a:t>
            </a:r>
            <a:endParaRPr b="0" i="0" sz="1000" u="none" cap="none" strike="noStrike">
              <a:solidFill>
                <a:schemeClr val="dk1"/>
              </a:solidFill>
              <a:latin typeface="Gill Sans"/>
              <a:ea typeface="Gill Sans"/>
              <a:cs typeface="Gill Sans"/>
              <a:sym typeface="Gill Sans"/>
            </a:endParaRPr>
          </a:p>
        </p:txBody>
      </p:sp>
      <p:sp>
        <p:nvSpPr>
          <p:cNvPr id="751" name="Google Shape;751;p14"/>
          <p:cNvSpPr/>
          <p:nvPr/>
        </p:nvSpPr>
        <p:spPr>
          <a:xfrm>
            <a:off x="2971800" y="4114800"/>
            <a:ext cx="868680" cy="347472"/>
          </a:xfrm>
          <a:prstGeom prst="rect">
            <a:avLst/>
          </a:prstGeom>
          <a:solidFill>
            <a:srgbClr val="E8A83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52" name="Google Shape;752;p14"/>
          <p:cNvSpPr/>
          <p:nvPr/>
        </p:nvSpPr>
        <p:spPr>
          <a:xfrm>
            <a:off x="2971800" y="4114800"/>
            <a:ext cx="868680" cy="34747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A2744"/>
              </a:buClr>
              <a:buSzPts val="1000"/>
              <a:buFont typeface="Calibri"/>
              <a:buNone/>
            </a:pPr>
            <a:r>
              <a:rPr b="1" i="0" lang="en-US" sz="1000" u="none" cap="none" strike="noStrike">
                <a:solidFill>
                  <a:srgbClr val="1A2744"/>
                </a:solidFill>
                <a:latin typeface="Calibri"/>
                <a:ea typeface="Calibri"/>
                <a:cs typeface="Calibri"/>
                <a:sym typeface="Calibri"/>
              </a:rPr>
              <a:t>5–8 hrs</a:t>
            </a:r>
            <a:endParaRPr b="0" i="0" sz="1000" u="none" cap="none" strike="noStrike">
              <a:solidFill>
                <a:schemeClr val="dk1"/>
              </a:solidFill>
              <a:latin typeface="Calibri"/>
              <a:ea typeface="Calibri"/>
              <a:cs typeface="Calibri"/>
              <a:sym typeface="Calibri"/>
            </a:endParaRPr>
          </a:p>
        </p:txBody>
      </p:sp>
      <p:sp>
        <p:nvSpPr>
          <p:cNvPr id="753" name="Google Shape;753;p14"/>
          <p:cNvSpPr/>
          <p:nvPr/>
        </p:nvSpPr>
        <p:spPr>
          <a:xfrm>
            <a:off x="4023360" y="4023360"/>
            <a:ext cx="4663440" cy="53035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2C3E50"/>
                </a:solidFill>
                <a:latin typeface="Gill Sans"/>
                <a:ea typeface="Gill Sans"/>
                <a:cs typeface="Gill Sans"/>
                <a:sym typeface="Gill Sans"/>
              </a:rPr>
              <a:t>Analyse the results, produce visualisations (heatmaps, queue profiles, journey time charts) and write the results report with bottleneck findings</a:t>
            </a:r>
            <a:endParaRPr b="0" i="0" sz="1400" u="none" cap="none" strike="noStrike">
              <a:solidFill>
                <a:srgbClr val="000000"/>
              </a:solidFill>
              <a:latin typeface="Gill Sans"/>
              <a:ea typeface="Gill Sans"/>
              <a:cs typeface="Gill Sans"/>
              <a:sym typeface="Gill Sans"/>
            </a:endParaRPr>
          </a:p>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2C3E50"/>
                </a:solidFill>
                <a:latin typeface="Gill Sans"/>
                <a:ea typeface="Gill Sans"/>
                <a:cs typeface="Gill Sans"/>
                <a:sym typeface="Gill Sans"/>
              </a:rPr>
              <a:t>Prepare recommendations for the project team</a:t>
            </a:r>
            <a:endParaRPr b="0" i="0" sz="1000" u="none" cap="none" strike="noStrike">
              <a:solidFill>
                <a:schemeClr val="dk1"/>
              </a:solidFill>
              <a:latin typeface="Gill Sans"/>
              <a:ea typeface="Gill Sans"/>
              <a:cs typeface="Gill Sans"/>
              <a:sym typeface="Gill Sans"/>
            </a:endParaRPr>
          </a:p>
        </p:txBody>
      </p:sp>
      <p:sp>
        <p:nvSpPr>
          <p:cNvPr id="754" name="Google Shape;754;p14"/>
          <p:cNvSpPr/>
          <p:nvPr/>
        </p:nvSpPr>
        <p:spPr>
          <a:xfrm>
            <a:off x="457200" y="4645152"/>
            <a:ext cx="822960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00"/>
              <a:buFont typeface="Arial"/>
              <a:buNone/>
            </a:pPr>
            <a:r>
              <a:rPr b="1" i="0" lang="en-US" sz="1300" u="none" cap="none" strike="noStrike">
                <a:solidFill>
                  <a:srgbClr val="000000"/>
                </a:solidFill>
                <a:latin typeface="Gill Sans"/>
                <a:ea typeface="Gill Sans"/>
                <a:cs typeface="Gill Sans"/>
                <a:sym typeface="Gill Sans"/>
              </a:rPr>
              <a:t>Total Estimated Effort:</a:t>
            </a:r>
            <a:r>
              <a:rPr b="0" i="0" lang="en-US" sz="1300" u="none" cap="none" strike="noStrike">
                <a:solidFill>
                  <a:srgbClr val="CC0099"/>
                </a:solidFill>
                <a:latin typeface="Calibri"/>
                <a:ea typeface="Calibri"/>
                <a:cs typeface="Calibri"/>
                <a:sym typeface="Calibri"/>
              </a:rPr>
              <a:t>  </a:t>
            </a:r>
            <a:r>
              <a:rPr b="1" i="0" lang="en-US" sz="1300" u="none" cap="none" strike="noStrike">
                <a:solidFill>
                  <a:srgbClr val="CC0099"/>
                </a:solidFill>
                <a:latin typeface="Gill Sans"/>
                <a:ea typeface="Gill Sans"/>
                <a:cs typeface="Gill Sans"/>
                <a:sym typeface="Gill Sans"/>
              </a:rPr>
              <a:t>~50–60 hours (7–8 working days)</a:t>
            </a:r>
            <a:r>
              <a:rPr b="0" i="1" lang="en-US" sz="1400" u="none" cap="none" strike="noStrike">
                <a:solidFill>
                  <a:srgbClr val="CC0099"/>
                </a:solidFill>
                <a:latin typeface="Gill Sans"/>
                <a:ea typeface="Gill Sans"/>
                <a:cs typeface="Gill Sans"/>
                <a:sym typeface="Gill Sans"/>
              </a:rPr>
              <a:t> </a:t>
            </a:r>
            <a:r>
              <a:rPr b="0" i="1" lang="en-US" sz="1000" u="none" cap="none" strike="noStrike">
                <a:solidFill>
                  <a:srgbClr val="000000"/>
                </a:solidFill>
                <a:latin typeface="Calibri"/>
                <a:ea typeface="Calibri"/>
                <a:cs typeface="Calibri"/>
                <a:sym typeface="Calibri"/>
              </a:rPr>
              <a:t>depending on the data availability and stakeholder response times.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00"/>
              <a:buFont typeface="Arial"/>
              <a:buNone/>
            </a:pPr>
            <a:r>
              <a:rPr b="0" i="1" lang="en-US" sz="1000" u="none" cap="none" strike="noStrike">
                <a:solidFill>
                  <a:srgbClr val="000000"/>
                </a:solidFill>
                <a:latin typeface="Calibri"/>
                <a:ea typeface="Calibri"/>
                <a:cs typeface="Calibri"/>
                <a:sym typeface="Calibri"/>
              </a:rPr>
              <a:t>Timelines may also vary if additional scenarios or layout variants are requested</a:t>
            </a:r>
            <a:endParaRPr b="0" i="0" sz="1000" u="none" cap="none" strike="noStrike">
              <a:solidFill>
                <a:srgbClr val="000000"/>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59" name="Shape 759"/>
        <p:cNvGrpSpPr/>
        <p:nvPr/>
      </p:nvGrpSpPr>
      <p:grpSpPr>
        <a:xfrm>
          <a:off x="0" y="0"/>
          <a:ext cx="0" cy="0"/>
          <a:chOff x="0" y="0"/>
          <a:chExt cx="0" cy="0"/>
        </a:xfrm>
      </p:grpSpPr>
      <p:pic>
        <p:nvPicPr>
          <p:cNvPr descr="preencoded.png" id="760" name="Google Shape;760;p15"/>
          <p:cNvPicPr preferRelativeResize="0"/>
          <p:nvPr/>
        </p:nvPicPr>
        <p:blipFill rotWithShape="1">
          <a:blip r:embed="rId3">
            <a:alphaModFix/>
          </a:blip>
          <a:srcRect b="0" l="0" r="0" t="0"/>
          <a:stretch/>
        </p:blipFill>
        <p:spPr>
          <a:xfrm>
            <a:off x="4160520" y="1097280"/>
            <a:ext cx="822960" cy="822960"/>
          </a:xfrm>
          <a:prstGeom prst="rect">
            <a:avLst/>
          </a:prstGeom>
          <a:noFill/>
          <a:ln>
            <a:noFill/>
          </a:ln>
        </p:spPr>
      </p:pic>
      <p:sp>
        <p:nvSpPr>
          <p:cNvPr id="761" name="Google Shape;761;p15"/>
          <p:cNvSpPr/>
          <p:nvPr/>
        </p:nvSpPr>
        <p:spPr>
          <a:xfrm>
            <a:off x="656850" y="1826250"/>
            <a:ext cx="7830300" cy="640200"/>
          </a:xfrm>
          <a:prstGeom prst="rect">
            <a:avLst/>
          </a:prstGeom>
          <a:noFill/>
          <a:ln>
            <a:noFill/>
          </a:ln>
        </p:spPr>
        <p:txBody>
          <a:bodyPr anchorCtr="0" anchor="ctr" bIns="0" lIns="0" spcFirstLastPara="1" rIns="0" wrap="square" tIns="0">
            <a:noAutofit/>
          </a:bodyPr>
          <a:lstStyle/>
          <a:p>
            <a:pPr indent="0" lvl="0" marL="2743200" marR="0" rtl="0" algn="l">
              <a:lnSpc>
                <a:spcPct val="100000"/>
              </a:lnSpc>
              <a:spcBef>
                <a:spcPts val="0"/>
              </a:spcBef>
              <a:spcAft>
                <a:spcPts val="0"/>
              </a:spcAft>
              <a:buClr>
                <a:srgbClr val="FFFFFF"/>
              </a:buClr>
              <a:buSzPts val="3400"/>
              <a:buFont typeface="Georgia"/>
              <a:buNone/>
            </a:pPr>
            <a:r>
              <a:rPr b="1" i="0" lang="en-US" sz="3200" u="none" cap="none" strike="noStrike">
                <a:solidFill>
                  <a:srgbClr val="CC0099"/>
                </a:solidFill>
                <a:latin typeface="Gill Sans"/>
                <a:ea typeface="Gill Sans"/>
                <a:cs typeface="Gill Sans"/>
                <a:sym typeface="Gill Sans"/>
              </a:rPr>
              <a:t> Thank You</a:t>
            </a:r>
            <a:endParaRPr b="0" i="0" sz="3200" u="none" cap="none" strike="noStrike">
              <a:solidFill>
                <a:srgbClr val="CC0099"/>
              </a:solidFill>
              <a:latin typeface="Gill Sans"/>
              <a:ea typeface="Gill Sans"/>
              <a:cs typeface="Gill Sans"/>
              <a:sym typeface="Gill Sans"/>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